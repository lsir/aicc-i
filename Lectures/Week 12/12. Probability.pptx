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8" r:id="rId2"/>
    <p:sldId id="377" r:id="rId3"/>
    <p:sldId id="259" r:id="rId4"/>
    <p:sldId id="365" r:id="rId5"/>
    <p:sldId id="282" r:id="rId6"/>
    <p:sldId id="284" r:id="rId7"/>
    <p:sldId id="331" r:id="rId8"/>
    <p:sldId id="381" r:id="rId9"/>
    <p:sldId id="376" r:id="rId10"/>
    <p:sldId id="260" r:id="rId11"/>
    <p:sldId id="383" r:id="rId12"/>
    <p:sldId id="285" r:id="rId13"/>
    <p:sldId id="261" r:id="rId14"/>
    <p:sldId id="286" r:id="rId15"/>
    <p:sldId id="384" r:id="rId16"/>
    <p:sldId id="385" r:id="rId17"/>
    <p:sldId id="262" r:id="rId18"/>
    <p:sldId id="388" r:id="rId19"/>
    <p:sldId id="386" r:id="rId20"/>
    <p:sldId id="334" r:id="rId21"/>
    <p:sldId id="387" r:id="rId22"/>
    <p:sldId id="287" r:id="rId23"/>
    <p:sldId id="270" r:id="rId24"/>
    <p:sldId id="271" r:id="rId25"/>
    <p:sldId id="288" r:id="rId26"/>
    <p:sldId id="335" r:id="rId27"/>
    <p:sldId id="272" r:id="rId28"/>
    <p:sldId id="378" r:id="rId29"/>
    <p:sldId id="389" r:id="rId30"/>
    <p:sldId id="366" r:id="rId31"/>
    <p:sldId id="273" r:id="rId32"/>
    <p:sldId id="390" r:id="rId33"/>
    <p:sldId id="369" r:id="rId34"/>
    <p:sldId id="274" r:id="rId35"/>
    <p:sldId id="292" r:id="rId36"/>
    <p:sldId id="370" r:id="rId37"/>
    <p:sldId id="336" r:id="rId38"/>
    <p:sldId id="391" r:id="rId39"/>
    <p:sldId id="379" r:id="rId40"/>
    <p:sldId id="392" r:id="rId41"/>
    <p:sldId id="371" r:id="rId42"/>
    <p:sldId id="337" r:id="rId43"/>
    <p:sldId id="339" r:id="rId44"/>
    <p:sldId id="372" r:id="rId45"/>
    <p:sldId id="396" r:id="rId46"/>
    <p:sldId id="297" r:id="rId47"/>
    <p:sldId id="343" r:id="rId48"/>
    <p:sldId id="344" r:id="rId49"/>
    <p:sldId id="346" r:id="rId50"/>
    <p:sldId id="375" r:id="rId51"/>
    <p:sldId id="399" r:id="rId52"/>
    <p:sldId id="298" r:id="rId53"/>
    <p:sldId id="303" r:id="rId54"/>
    <p:sldId id="304" r:id="rId55"/>
    <p:sldId id="305" r:id="rId56"/>
    <p:sldId id="400" r:id="rId57"/>
    <p:sldId id="308" r:id="rId58"/>
    <p:sldId id="394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5"/>
    <p:restoredTop sz="86551"/>
  </p:normalViewPr>
  <p:slideViewPr>
    <p:cSldViewPr snapToGrid="0" snapToObjects="1">
      <p:cViewPr varScale="1">
        <p:scale>
          <a:sx n="135" d="100"/>
          <a:sy n="135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4C2F9-3871-774B-ABA3-1726178C4883}" type="datetimeFigureOut">
              <a:t>11/5/20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5A80E-5C74-BA46-A23B-8256C066A94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78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the data from Corona:</a:t>
            </a:r>
          </a:p>
          <a:p>
            <a:r>
              <a:rPr lang="en-US"/>
              <a:t>2000 persons in 100’000 have the disease</a:t>
            </a:r>
          </a:p>
          <a:p>
            <a:r>
              <a:rPr lang="en-US"/>
              <a:t>95% positive result if you have the disease</a:t>
            </a:r>
          </a:p>
          <a:p>
            <a:r>
              <a:rPr lang="en-US"/>
              <a:t>96% negative result if you do nto have the disease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35A80E-5C74-BA46-A23B-8256C066A941}" type="slidenum"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78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51778-4292-8C41-85B3-D413F4F6F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75302A-9F6A-A341-B43A-E6EF34660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7F076-BEEB-8D48-84F3-D86E83D17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E03B-8C24-BD41-A48C-B23475D09813}" type="datetimeFigureOut">
              <a:t>11/5/20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D6304-7B3E-3B43-AB67-5D5D5B4AF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8450F-8FB1-F249-B070-DCF3BF4D5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0BBC-6771-684E-93AB-A6D0C9FC6D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8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02F3-1CC5-A246-88E1-22A49DBB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69395-4C74-B045-9EE3-9CABA24D1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14845-B102-E84A-8991-80F78B59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E03B-8C24-BD41-A48C-B23475D09813}" type="datetimeFigureOut">
              <a:t>11/5/20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7815B-F68E-FE4E-8137-C4FDF5FB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8DA28-EE58-D142-A6C9-25A81E9B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0BBC-6771-684E-93AB-A6D0C9FC6D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3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C22A-62FA-714C-8187-FD6F64B43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2390D-9109-794C-8490-BC91369FC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4C204-C3E8-0449-9A6E-CDF7F8DDB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E03B-8C24-BD41-A48C-B23475D09813}" type="datetimeFigureOut">
              <a:t>11/5/20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A16B4-4696-D547-A9A2-BB010C528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BC531-7D69-1D4E-B2CF-0D36A8D75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0BBC-6771-684E-93AB-A6D0C9FC6D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3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E8F9-B371-1443-A66F-BAA98CCE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D4576-D101-C046-ACD8-6FD7726D3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31D17-B6A5-8D4A-91DA-48E163F5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3FAB2-6269-374B-B101-6EFA9537A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E03B-8C24-BD41-A48C-B23475D09813}" type="datetimeFigureOut">
              <a:t>11/5/20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BAC10-000A-FA42-8636-A57CA842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B6EBF-133E-4C41-AF63-625578201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0BBC-6771-684E-93AB-A6D0C9FC6D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23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18DE6-89B0-B244-BEB7-032000660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A0904-6343-8445-835F-0FF9FDBF1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D7417-9C54-5F40-9666-9CAD0B3CB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14C91F-C880-3547-B9A0-52CC23C134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68F80-FC95-0644-A16E-2F2F4CD338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81F419-44D5-4842-8B1A-C14A38D8A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E03B-8C24-BD41-A48C-B23475D09813}" type="datetimeFigureOut">
              <a:t>11/5/20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D299D5-AA35-E048-9836-9B426B30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0D15AC-9A44-4E4A-95CE-B0A3862FD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0BBC-6771-684E-93AB-A6D0C9FC6D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17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54A75-A2BD-CF4B-ABE4-9666B9EBC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FB192-4D58-C942-8DEC-0AA53A6FF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E03B-8C24-BD41-A48C-B23475D09813}" type="datetimeFigureOut">
              <a:t>11/5/20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95D29-A92B-1843-9CC6-30EB18D8D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EC64E-FA4A-9B44-8899-D468220E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0BBC-6771-684E-93AB-A6D0C9FC6D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1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C8ED87-51CA-8C4F-BDA6-5F8658EFE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E03B-8C24-BD41-A48C-B23475D09813}" type="datetimeFigureOut">
              <a:t>11/5/20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56812F-AF7A-7148-BCD6-2760AD7FA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F5C7F-0239-1142-B79C-A8AE20C4D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0BBC-6771-684E-93AB-A6D0C9FC6D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0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EE0CD-5DF3-E044-AA21-99B0BCEFA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F5602-11F1-FC4C-AF58-C50A5D9D6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8BABE-6621-0A45-A7B5-601AF553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11705-707F-524E-9D69-AF7C5C491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E03B-8C24-BD41-A48C-B23475D09813}" type="datetimeFigureOut">
              <a:t>11/5/20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83E45-6D09-B848-87AC-1ACAB0B85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21B64-248C-3345-94BD-9AC4B35E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0BBC-6771-684E-93AB-A6D0C9FC6D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8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4D4A-F236-EB4E-9A54-44E223162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1D3668-F3C2-B74D-8F94-48063B5B2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20F7B-910F-C14A-96B9-2B63CA373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53491-A932-E841-8215-6C22C4E0F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E03B-8C24-BD41-A48C-B23475D09813}" type="datetimeFigureOut">
              <a:t>11/5/20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7932D-0822-A04B-B74A-0C9C40B9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DB3AF-C94A-0048-934F-BAE5EBA89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0BBC-6771-684E-93AB-A6D0C9FC6D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86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53693-6C31-F748-8166-A0F62E6C0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23817-35AE-DC4C-BA60-708F53E0A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3E31-7BB5-1249-BC75-1DA0CB158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E03B-8C24-BD41-A48C-B23475D09813}" type="datetimeFigureOut">
              <a:t>11/5/20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5A91D-E516-B54C-BE1A-A63CA5205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F8F75-2E27-FE42-A9CF-C010AD7A1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0BBC-6771-684E-93AB-A6D0C9FC6D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3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B8D341-638D-9942-97DD-27BDB6595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CF50A-0CC2-DD4F-8298-B9ECAE04E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2EC1-65D4-0641-836D-B1C4DD14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E03B-8C24-BD41-A48C-B23475D09813}" type="datetimeFigureOut">
              <a:t>11/5/20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2D826-1467-5344-AF4B-61D280018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CC2A-D97B-2A49-A174-4EC29D0B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0BBC-6771-684E-93AB-A6D0C9FC6D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36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EA640D-70FE-6645-8027-168AA74F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D048C-3C10-7944-8A76-486ECEBAD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093DF-011E-E549-8652-D8A974B57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CE03B-8C24-BD41-A48C-B23475D09813}" type="datetimeFigureOut">
              <a:t>11/5/20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DB001-60CE-1E40-8D79-2791CF815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C34FA-4A19-0C47-BAEC-DF32171BA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F0BBC-6771-684E-93AB-A6D0C9FC6D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61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6.xml"/><Relationship Id="rId7" Type="http://schemas.openxmlformats.org/officeDocument/2006/relationships/image" Target="../media/image10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.xml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Discrete Probability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dirty="0">
                <a:ea typeface="Cambria Math" pitchFamily="18" charset="0"/>
              </a:rPr>
              <a:t>7.1</a:t>
            </a:r>
          </a:p>
        </p:txBody>
      </p:sp>
    </p:spTree>
    <p:extLst>
      <p:ext uri="{BB962C8B-B14F-4D97-AF65-F5344CB8AC3E}">
        <p14:creationId xmlns:p14="http://schemas.microsoft.com/office/powerpoint/2010/main" val="271314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3B7F7-0A89-EB4F-B941-5173CB808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 73: Probability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D0048-D5B7-B449-A430-6CE673EBC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Finite probability</a:t>
            </a:r>
          </a:p>
          <a:p>
            <a:r>
              <a:rPr lang="en-US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025921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of an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Pierre-Simon Laplace’s classical theory of probability was introduced in the </a:t>
            </a:r>
            <a:r>
              <a:rPr lang="en-US" dirty="0">
                <a:ea typeface="Cambria Math" pitchFamily="18" charset="0"/>
              </a:rPr>
              <a:t>18</a:t>
            </a:r>
            <a:r>
              <a:rPr lang="en-US" baseline="30000" dirty="0"/>
              <a:t>th</a:t>
            </a:r>
            <a:r>
              <a:rPr lang="en-US" dirty="0"/>
              <a:t> century,  when he analyzed games of chance.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Definitions:</a:t>
            </a:r>
          </a:p>
          <a:p>
            <a:pPr lvl="1"/>
            <a:r>
              <a:rPr lang="en-US" dirty="0"/>
              <a:t>An </a:t>
            </a:r>
            <a:r>
              <a:rPr lang="en-US" b="1" dirty="0"/>
              <a:t>experiment</a:t>
            </a:r>
            <a:r>
              <a:rPr lang="en-US" i="1" dirty="0"/>
              <a:t> </a:t>
            </a:r>
            <a:r>
              <a:rPr lang="en-US" dirty="0"/>
              <a:t>is a procedure that yields one of a given set of possible </a:t>
            </a:r>
            <a:r>
              <a:rPr lang="en-US" b="1" dirty="0"/>
              <a:t>outcomes</a:t>
            </a:r>
            <a:r>
              <a:rPr lang="en-US" dirty="0"/>
              <a:t>: rolling the dice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sample space S </a:t>
            </a:r>
            <a:r>
              <a:rPr lang="en-US" dirty="0"/>
              <a:t>of the experiment is the set of possible outcomes: faces of the dice S = {1,2,3,4,5,6}</a:t>
            </a:r>
          </a:p>
          <a:p>
            <a:pPr lvl="1"/>
            <a:r>
              <a:rPr lang="en-US" dirty="0"/>
              <a:t>An </a:t>
            </a:r>
            <a:r>
              <a:rPr lang="en-US" b="1" dirty="0"/>
              <a:t>event</a:t>
            </a:r>
            <a:r>
              <a:rPr lang="en-US" dirty="0"/>
              <a:t> </a:t>
            </a:r>
            <a:r>
              <a:rPr lang="en-US" b="1" dirty="0"/>
              <a:t>E</a:t>
            </a:r>
            <a:r>
              <a:rPr lang="en-US" dirty="0"/>
              <a:t> is a subset of the sample space: e.g., E = {5,6}</a:t>
            </a:r>
          </a:p>
          <a:p>
            <a:pPr lvl="1"/>
            <a:r>
              <a:rPr lang="en-US" dirty="0"/>
              <a:t>An event </a:t>
            </a:r>
            <a:r>
              <a:rPr lang="en-US" b="1" dirty="0"/>
              <a:t>occurs</a:t>
            </a:r>
            <a:r>
              <a:rPr lang="en-US" dirty="0"/>
              <a:t>, if the outcome belongs to the sample space: E occurs when rolling a 6</a:t>
            </a:r>
          </a:p>
          <a:p>
            <a:pPr lvl="1">
              <a:buNone/>
            </a:pPr>
            <a:endParaRPr lang="en-US" dirty="0"/>
          </a:p>
          <a:p>
            <a:pPr>
              <a:buNone/>
            </a:pPr>
            <a:endParaRPr lang="en-US" i="1" dirty="0"/>
          </a:p>
          <a:p>
            <a:endParaRPr lang="en-US" i="1" dirty="0"/>
          </a:p>
        </p:txBody>
      </p:sp>
      <p:pic>
        <p:nvPicPr>
          <p:cNvPr id="4" name="Picture 3" descr="060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534400" y="304800"/>
            <a:ext cx="912114" cy="10469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46514" y="1163559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Pierre-Simon Laplace</a:t>
            </a:r>
          </a:p>
          <a:p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1749-1827</a:t>
            </a:r>
            <a:r>
              <a:rPr lang="en-US" dirty="0"/>
              <a:t>)</a:t>
            </a:r>
          </a:p>
        </p:txBody>
      </p:sp>
      <p:pic>
        <p:nvPicPr>
          <p:cNvPr id="1026" name="Picture 2" descr="C:\Documents and Settings\Richard Scherl\Local Settings\Temporary Internet Files\Content.IE5\AZ1PLTIO\MC900434806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43247" y="264389"/>
            <a:ext cx="990600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2756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AC67-C26E-7A45-9D32-F341113D0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of an Event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CB4D14-6AA4-844B-B150-2275741BAF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Definition</a:t>
                </a:r>
                <a:r>
                  <a:rPr lang="en-US" dirty="0"/>
                  <a:t>: If </a:t>
                </a:r>
                <a:r>
                  <a:rPr lang="en-US" i="1" dirty="0"/>
                  <a:t>S</a:t>
                </a:r>
                <a:r>
                  <a:rPr lang="en-US" dirty="0"/>
                  <a:t> is a finite sample space of equally likely outcomes, and </a:t>
                </a:r>
                <a:r>
                  <a:rPr lang="en-US" i="1" dirty="0"/>
                  <a:t>E</a:t>
                </a:r>
                <a:r>
                  <a:rPr lang="en-US" dirty="0"/>
                  <a:t> is an event, that is, a subset of </a:t>
                </a:r>
                <a:r>
                  <a:rPr lang="en-US" i="1" dirty="0"/>
                  <a:t>S</a:t>
                </a:r>
                <a:r>
                  <a:rPr lang="en-US" dirty="0"/>
                  <a:t>, then the </a:t>
                </a:r>
                <a:r>
                  <a:rPr lang="en-US" b="1" dirty="0"/>
                  <a:t>probability</a:t>
                </a:r>
                <a:r>
                  <a:rPr lang="en-US" dirty="0"/>
                  <a:t> of </a:t>
                </a:r>
                <a:r>
                  <a:rPr lang="en-US" i="1" dirty="0"/>
                  <a:t>E</a:t>
                </a:r>
                <a:r>
                  <a:rPr lang="en-US" dirty="0"/>
                  <a:t> is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b="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fr-CH" b="0" i="1" dirty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CH" b="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fr-CH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b="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fr-CH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b="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>
                  <a:ea typeface="Cambria Math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itchFamily="18" charset="0"/>
                  </a:rPr>
                  <a:t>For every event </a:t>
                </a:r>
                <a:r>
                  <a:rPr lang="en-US" i="1" dirty="0">
                    <a:ea typeface="Cambria Math" pitchFamily="18" charset="0"/>
                  </a:rPr>
                  <a:t>E</a:t>
                </a:r>
                <a:r>
                  <a:rPr lang="en-US" dirty="0">
                    <a:ea typeface="Cambria Math" pitchFamily="18" charset="0"/>
                  </a:rPr>
                  <a:t>, we have 0</a:t>
                </a:r>
                <a:r>
                  <a:rPr lang="en-US" dirty="0"/>
                  <a:t> </a:t>
                </a:r>
                <a:r>
                  <a:rPr lang="en-US" dirty="0">
                    <a:ea typeface="Cambria Math"/>
                  </a:rPr>
                  <a:t>≤</a:t>
                </a:r>
                <a:r>
                  <a:rPr lang="en-US" dirty="0"/>
                  <a:t> 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/>
                  <a:t>E</a:t>
                </a:r>
                <a:r>
                  <a:rPr lang="en-US" dirty="0"/>
                  <a:t>) </a:t>
                </a:r>
                <a:r>
                  <a:rPr lang="en-US" dirty="0">
                    <a:ea typeface="Cambria Math"/>
                  </a:rPr>
                  <a:t>≤</a:t>
                </a:r>
                <a:r>
                  <a:rPr lang="en-US" dirty="0"/>
                  <a:t> </a:t>
                </a:r>
                <a:r>
                  <a:rPr lang="en-US" dirty="0">
                    <a:ea typeface="Cambria Math" pitchFamily="18" charset="0"/>
                  </a:rPr>
                  <a:t>1. 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pitchFamily="18" charset="0"/>
                  </a:rPr>
                  <a:t>This follows directly from the definition </a:t>
                </a:r>
                <a:r>
                  <a:rPr lang="en-US" dirty="0"/>
                  <a:t>because </a:t>
                </a:r>
                <a:br>
                  <a:rPr lang="en-US" dirty="0"/>
                </a:br>
                <a:r>
                  <a:rPr lang="en-US" dirty="0"/>
                  <a:t>	</a:t>
                </a:r>
                <a:r>
                  <a:rPr lang="en-US" dirty="0">
                    <a:ea typeface="Cambria Math" pitchFamily="18" charset="0"/>
                  </a:rPr>
                  <a:t>0</a:t>
                </a:r>
                <a:r>
                  <a:rPr lang="en-US" dirty="0"/>
                  <a:t> </a:t>
                </a:r>
                <a:r>
                  <a:rPr lang="en-US" dirty="0">
                    <a:ea typeface="Cambria Math"/>
                  </a:rPr>
                  <a:t>≤</a:t>
                </a:r>
                <a:r>
                  <a:rPr lang="en-US" dirty="0"/>
                  <a:t> 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/>
                  <a:t>E</a:t>
                </a:r>
                <a:r>
                  <a:rPr lang="en-US" dirty="0"/>
                  <a:t>) </a:t>
                </a:r>
                <a:r>
                  <a:rPr lang="en-US" dirty="0">
                    <a:ea typeface="Cambria Math"/>
                  </a:rPr>
                  <a:t>=</a:t>
                </a:r>
                <a:r>
                  <a:rPr lang="en-US" dirty="0"/>
                  <a:t> |</a:t>
                </a:r>
                <a:r>
                  <a:rPr lang="en-US" i="1" dirty="0"/>
                  <a:t>E</a:t>
                </a:r>
                <a:r>
                  <a:rPr lang="en-US" dirty="0"/>
                  <a:t>|/|</a:t>
                </a:r>
                <a:r>
                  <a:rPr lang="en-US" i="1" dirty="0"/>
                  <a:t>S</a:t>
                </a:r>
                <a:r>
                  <a:rPr lang="en-US" dirty="0"/>
                  <a:t>| </a:t>
                </a:r>
                <a:r>
                  <a:rPr lang="en-US" dirty="0">
                    <a:ea typeface="Cambria Math"/>
                  </a:rPr>
                  <a:t>≤ </a:t>
                </a:r>
                <a:r>
                  <a:rPr lang="en-US" dirty="0"/>
                  <a:t>|</a:t>
                </a:r>
                <a:r>
                  <a:rPr lang="en-US" i="1" dirty="0"/>
                  <a:t>S</a:t>
                </a:r>
                <a:r>
                  <a:rPr lang="en-US" dirty="0"/>
                  <a:t>|/|</a:t>
                </a:r>
                <a:r>
                  <a:rPr lang="en-US" i="1" dirty="0"/>
                  <a:t>S</a:t>
                </a:r>
                <a:r>
                  <a:rPr lang="en-US" dirty="0"/>
                  <a:t>| </a:t>
                </a:r>
                <a:r>
                  <a:rPr lang="en-US" dirty="0">
                    <a:ea typeface="Cambria Math"/>
                  </a:rPr>
                  <a:t>≤</a:t>
                </a:r>
                <a:r>
                  <a:rPr lang="en-US" dirty="0"/>
                  <a:t> </a:t>
                </a:r>
                <a:r>
                  <a:rPr lang="en-US" dirty="0">
                    <a:ea typeface="Cambria Math" pitchFamily="18" charset="0"/>
                  </a:rPr>
                  <a:t>1, since 0 </a:t>
                </a:r>
                <a:r>
                  <a:rPr lang="en-US" dirty="0">
                    <a:ea typeface="Cambria Math"/>
                  </a:rPr>
                  <a:t>≤ </a:t>
                </a:r>
                <a:r>
                  <a:rPr lang="en-US" dirty="0"/>
                  <a:t>|</a:t>
                </a:r>
                <a:r>
                  <a:rPr lang="en-US" i="1" dirty="0"/>
                  <a:t>E</a:t>
                </a:r>
                <a:r>
                  <a:rPr lang="en-US" dirty="0"/>
                  <a:t>| </a:t>
                </a:r>
                <a:r>
                  <a:rPr lang="en-US" dirty="0">
                    <a:ea typeface="Cambria Math"/>
                  </a:rPr>
                  <a:t>≤</a:t>
                </a:r>
                <a:r>
                  <a:rPr lang="en-US" dirty="0"/>
                  <a:t> |</a:t>
                </a:r>
                <a:r>
                  <a:rPr lang="en-US" i="1" dirty="0"/>
                  <a:t>S</a:t>
                </a:r>
                <a:r>
                  <a:rPr lang="en-US" dirty="0"/>
                  <a:t>|.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CB4D14-6AA4-844B-B150-2275741BAF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871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What is the probability that when two dice are rolled, the sum of the numbers on the two dice is </a:t>
            </a:r>
            <a:r>
              <a:rPr lang="en-US" dirty="0">
                <a:ea typeface="Cambria Math" pitchFamily="18" charset="0"/>
              </a:rPr>
              <a:t>7</a:t>
            </a:r>
            <a:r>
              <a:rPr lang="en-US" dirty="0"/>
              <a:t>?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By the product rule there are </a:t>
            </a:r>
            <a:r>
              <a:rPr lang="en-US" dirty="0">
                <a:ea typeface="Cambria Math" pitchFamily="18" charset="0"/>
              </a:rPr>
              <a:t>6</a:t>
            </a:r>
            <a:r>
              <a:rPr lang="en-US" baseline="30000" dirty="0">
                <a:ea typeface="Cambria Math" pitchFamily="18" charset="0"/>
              </a:rPr>
              <a:t>2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36 </a:t>
            </a:r>
            <a:r>
              <a:rPr lang="en-US" dirty="0"/>
              <a:t>possible outcomes</a:t>
            </a:r>
          </a:p>
          <a:p>
            <a:r>
              <a:rPr lang="en-US" dirty="0"/>
              <a:t>6 of these sum up to </a:t>
            </a:r>
            <a:r>
              <a:rPr lang="en-US" dirty="0">
                <a:ea typeface="Cambria Math" pitchFamily="18" charset="0"/>
              </a:rPr>
              <a:t>7: 1+6, 2+5, 3+4, 4+3, 5+2, 6+1</a:t>
            </a:r>
            <a:endParaRPr lang="en-US" dirty="0"/>
          </a:p>
          <a:p>
            <a:r>
              <a:rPr lang="en-US" dirty="0"/>
              <a:t>Hence, the probability of obtaining a </a:t>
            </a:r>
            <a:r>
              <a:rPr lang="en-US" dirty="0">
                <a:ea typeface="Cambria Math" pitchFamily="18" charset="0"/>
              </a:rPr>
              <a:t>7</a:t>
            </a:r>
            <a:r>
              <a:rPr lang="en-US" dirty="0"/>
              <a:t> is </a:t>
            </a:r>
            <a:r>
              <a:rPr lang="en-US" dirty="0">
                <a:ea typeface="Cambria Math" pitchFamily="18" charset="0"/>
              </a:rPr>
              <a:t>6</a:t>
            </a:r>
            <a:r>
              <a:rPr lang="en-US" dirty="0"/>
              <a:t>/</a:t>
            </a:r>
            <a:r>
              <a:rPr lang="en-US" dirty="0">
                <a:ea typeface="Cambria Math" pitchFamily="18" charset="0"/>
              </a:rPr>
              <a:t>36 = 1</a:t>
            </a:r>
            <a:r>
              <a:rPr lang="en-US" dirty="0"/>
              <a:t>/</a:t>
            </a:r>
            <a:r>
              <a:rPr lang="en-US" dirty="0">
                <a:ea typeface="Cambria Math" pitchFamily="18" charset="0"/>
              </a:rPr>
              <a:t>6</a:t>
            </a:r>
          </a:p>
          <a:p>
            <a:pPr>
              <a:buNone/>
            </a:pP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6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There are many lotteries that award prizes to people who correctly choose </a:t>
            </a:r>
            <a:r>
              <a:rPr lang="en-US" u="sng" dirty="0"/>
              <a:t>a set of six numbers </a:t>
            </a:r>
            <a:r>
              <a:rPr lang="en-US" dirty="0"/>
              <a:t>out of the first </a:t>
            </a:r>
            <a:r>
              <a:rPr lang="en-US" i="1" dirty="0"/>
              <a:t>n</a:t>
            </a:r>
            <a:r>
              <a:rPr lang="en-US" dirty="0"/>
              <a:t> positive integers, where </a:t>
            </a:r>
            <a:r>
              <a:rPr lang="en-US" i="1" dirty="0"/>
              <a:t>n</a:t>
            </a:r>
            <a:r>
              <a:rPr lang="en-US" dirty="0"/>
              <a:t> is usually between </a:t>
            </a:r>
            <a:r>
              <a:rPr lang="en-US" dirty="0">
                <a:ea typeface="Cambria Math" pitchFamily="18" charset="0"/>
              </a:rPr>
              <a:t>30</a:t>
            </a:r>
            <a:r>
              <a:rPr lang="en-US" dirty="0"/>
              <a:t> and </a:t>
            </a:r>
            <a:r>
              <a:rPr lang="en-US" dirty="0">
                <a:ea typeface="Cambria Math" pitchFamily="18" charset="0"/>
              </a:rPr>
              <a:t>60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What is the probability that a person picks the correct six numbers out of </a:t>
            </a:r>
            <a:r>
              <a:rPr lang="en-US" dirty="0">
                <a:ea typeface="Cambria Math" pitchFamily="18" charset="0"/>
              </a:rPr>
              <a:t>40</a:t>
            </a:r>
            <a:r>
              <a:rPr lang="en-US" dirty="0"/>
              <a:t>?</a:t>
            </a:r>
          </a:p>
          <a:p>
            <a:r>
              <a:rPr lang="en-US" dirty="0"/>
              <a:t>The number of ways to choose six numbers out of </a:t>
            </a:r>
            <a:r>
              <a:rPr lang="en-US" dirty="0">
                <a:ea typeface="Cambria Math" pitchFamily="18" charset="0"/>
              </a:rPr>
              <a:t>40</a:t>
            </a:r>
            <a:r>
              <a:rPr lang="en-US" dirty="0"/>
              <a:t> is </a:t>
            </a:r>
          </a:p>
          <a:p>
            <a:pPr>
              <a:buNone/>
            </a:pPr>
            <a:r>
              <a:rPr lang="en-US" dirty="0"/>
              <a:t>          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40,6</a:t>
            </a:r>
            <a:r>
              <a:rPr lang="en-US" dirty="0"/>
              <a:t>) = </a:t>
            </a:r>
            <a:r>
              <a:rPr lang="en-US" dirty="0">
                <a:ea typeface="Cambria Math" pitchFamily="18" charset="0"/>
              </a:rPr>
              <a:t>40</a:t>
            </a:r>
            <a:r>
              <a:rPr lang="en-US" dirty="0"/>
              <a:t>!/(</a:t>
            </a:r>
            <a:r>
              <a:rPr lang="en-US" dirty="0">
                <a:ea typeface="Cambria Math" pitchFamily="18" charset="0"/>
              </a:rPr>
              <a:t>34</a:t>
            </a:r>
            <a:r>
              <a:rPr lang="en-US" dirty="0"/>
              <a:t>!</a:t>
            </a:r>
            <a:r>
              <a:rPr lang="en-US" dirty="0">
                <a:ea typeface="Cambria Math" pitchFamily="18" charset="0"/>
              </a:rPr>
              <a:t>6</a:t>
            </a:r>
            <a:r>
              <a:rPr lang="en-US" dirty="0"/>
              <a:t>!) = </a:t>
            </a:r>
            <a:r>
              <a:rPr lang="en-US" dirty="0">
                <a:ea typeface="Cambria Math" pitchFamily="18" charset="0"/>
              </a:rPr>
              <a:t>3,838,380</a:t>
            </a:r>
            <a:r>
              <a:rPr lang="en-US" dirty="0"/>
              <a:t>.</a:t>
            </a:r>
          </a:p>
          <a:p>
            <a:r>
              <a:rPr lang="en-US" dirty="0"/>
              <a:t>Hence, the probability of picking a winning combination is </a:t>
            </a:r>
            <a:br>
              <a:rPr lang="en-US" dirty="0"/>
            </a:b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/</a:t>
            </a:r>
            <a:r>
              <a:rPr lang="en-US" dirty="0">
                <a:ea typeface="Cambria Math" pitchFamily="18" charset="0"/>
              </a:rPr>
              <a:t>3,838,380 </a:t>
            </a:r>
            <a:r>
              <a:rPr lang="en-US" dirty="0">
                <a:ea typeface="Cambria Math"/>
              </a:rPr>
              <a:t>≈</a:t>
            </a:r>
            <a:r>
              <a:rPr lang="en-US" dirty="0">
                <a:ea typeface="Cambria Math" pitchFamily="18" charset="0"/>
              </a:rPr>
              <a:t> 0.00000026.</a:t>
            </a:r>
          </a:p>
        </p:txBody>
      </p:sp>
    </p:spTree>
    <p:extLst>
      <p:ext uri="{BB962C8B-B14F-4D97-AF65-F5344CB8AC3E}">
        <p14:creationId xmlns:p14="http://schemas.microsoft.com/office/powerpoint/2010/main" val="347067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What is the probability that the numbers </a:t>
            </a:r>
            <a:r>
              <a:rPr lang="en-US" dirty="0">
                <a:ea typeface="Cambria Math" pitchFamily="18" charset="0"/>
              </a:rPr>
              <a:t>11, 4, 17, 39,</a:t>
            </a:r>
            <a:r>
              <a:rPr lang="en-US" dirty="0"/>
              <a:t> and </a:t>
            </a:r>
            <a:r>
              <a:rPr lang="en-US" dirty="0">
                <a:ea typeface="Cambria Math" pitchFamily="18" charset="0"/>
              </a:rPr>
              <a:t>23 </a:t>
            </a:r>
            <a:r>
              <a:rPr lang="en-US" dirty="0"/>
              <a:t>are drawn </a:t>
            </a:r>
            <a:r>
              <a:rPr lang="en-US" u="sng" dirty="0"/>
              <a:t>in that order </a:t>
            </a:r>
            <a:r>
              <a:rPr lang="en-US" dirty="0"/>
              <a:t>from a bin with </a:t>
            </a:r>
            <a:r>
              <a:rPr lang="en-US" dirty="0">
                <a:ea typeface="Cambria Math" pitchFamily="18" charset="0"/>
              </a:rPr>
              <a:t>50</a:t>
            </a:r>
            <a:r>
              <a:rPr lang="en-US" dirty="0"/>
              <a:t> balls labeled with the numbers </a:t>
            </a:r>
            <a:r>
              <a:rPr lang="en-US" dirty="0">
                <a:ea typeface="Cambria Math" pitchFamily="18" charset="0"/>
              </a:rPr>
              <a:t>1,2, …, 50 </a:t>
            </a:r>
            <a:r>
              <a:rPr lang="en-US" dirty="0"/>
              <a:t>if 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The ball selected is not returned to the bin.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dirty="0"/>
              <a:t>The ball selected is returned to the bin before the next ball is selected.</a:t>
            </a:r>
          </a:p>
          <a:p>
            <a:pPr>
              <a:buNone/>
            </a:pPr>
            <a:r>
              <a:rPr lang="en-US" dirty="0"/>
              <a:t>Use the product rule in each case.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i="1" dirty="0"/>
              <a:t>Sampling without replacement</a:t>
            </a:r>
            <a:r>
              <a:rPr lang="en-US" dirty="0"/>
              <a:t>: The probability is </a:t>
            </a:r>
            <a:r>
              <a:rPr lang="en-US" dirty="0">
                <a:ea typeface="Cambria Math" pitchFamily="18" charset="0"/>
              </a:rPr>
              <a:t>1/254,251,200 </a:t>
            </a:r>
            <a:r>
              <a:rPr lang="en-US" dirty="0"/>
              <a:t>since </a:t>
            </a:r>
            <a:r>
              <a:rPr lang="en-US"/>
              <a:t>there are  </a:t>
            </a:r>
            <a:r>
              <a:rPr lang="en-US" dirty="0">
                <a:ea typeface="Cambria Math" pitchFamily="18" charset="0"/>
              </a:rPr>
              <a:t>50 </a:t>
            </a:r>
            <a:r>
              <a:rPr lang="en-US" dirty="0">
                <a:ea typeface="Cambria Math"/>
              </a:rPr>
              <a:t>∙ </a:t>
            </a:r>
            <a:r>
              <a:rPr lang="en-US" dirty="0">
                <a:ea typeface="Cambria Math" pitchFamily="18" charset="0"/>
              </a:rPr>
              <a:t>49 </a:t>
            </a:r>
            <a:r>
              <a:rPr lang="en-US" dirty="0">
                <a:ea typeface="Cambria Math"/>
              </a:rPr>
              <a:t>∙ </a:t>
            </a:r>
            <a:r>
              <a:rPr lang="en-US" dirty="0">
                <a:ea typeface="Cambria Math" pitchFamily="18" charset="0"/>
              </a:rPr>
              <a:t>48 </a:t>
            </a:r>
            <a:r>
              <a:rPr lang="en-US">
                <a:ea typeface="Cambria Math"/>
              </a:rPr>
              <a:t>∙ </a:t>
            </a:r>
            <a:r>
              <a:rPr lang="en-US">
                <a:ea typeface="Cambria Math" pitchFamily="18" charset="0"/>
              </a:rPr>
              <a:t>47</a:t>
            </a:r>
            <a:r>
              <a:rPr lang="en-US">
                <a:ea typeface="Cambria Math"/>
              </a:rPr>
              <a:t> ∙ </a:t>
            </a:r>
            <a:r>
              <a:rPr lang="en-US">
                <a:ea typeface="Cambria Math" pitchFamily="18" charset="0"/>
              </a:rPr>
              <a:t>46  </a:t>
            </a:r>
            <a:r>
              <a:rPr lang="en-US" dirty="0"/>
              <a:t>= </a:t>
            </a:r>
            <a:r>
              <a:rPr lang="en-US" dirty="0">
                <a:ea typeface="Cambria Math" pitchFamily="18" charset="0"/>
              </a:rPr>
              <a:t>254,251,200 </a:t>
            </a:r>
            <a:r>
              <a:rPr lang="en-US" dirty="0"/>
              <a:t>ways to choose the five balls.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i="1" dirty="0"/>
              <a:t>Sampling with replacement</a:t>
            </a:r>
            <a:r>
              <a:rPr lang="en-US" dirty="0"/>
              <a:t>: The probability is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/</a:t>
            </a:r>
            <a:r>
              <a:rPr lang="en-US" dirty="0">
                <a:ea typeface="Cambria Math" pitchFamily="18" charset="0"/>
              </a:rPr>
              <a:t>50</a:t>
            </a:r>
            <a:r>
              <a:rPr lang="en-US" baseline="30000" dirty="0">
                <a:ea typeface="Cambria Math" pitchFamily="18" charset="0"/>
              </a:rPr>
              <a:t>5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1/312,500,000 </a:t>
            </a:r>
            <a:r>
              <a:rPr lang="en-US" dirty="0"/>
              <a:t>since </a:t>
            </a:r>
            <a:r>
              <a:rPr lang="en-US" dirty="0">
                <a:ea typeface="Cambria Math" pitchFamily="18" charset="0"/>
              </a:rPr>
              <a:t>50</a:t>
            </a:r>
            <a:r>
              <a:rPr lang="en-US" baseline="30000" dirty="0">
                <a:ea typeface="Cambria Math" pitchFamily="18" charset="0"/>
              </a:rPr>
              <a:t>5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dirty="0"/>
              <a:t>= </a:t>
            </a:r>
            <a:r>
              <a:rPr lang="en-US" dirty="0">
                <a:ea typeface="Cambria Math" pitchFamily="18" charset="0"/>
              </a:rPr>
              <a:t>312,500,000.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035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FB30-2908-2143-B76D-019A2C7A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6D7E9-B04C-D84C-A956-8F9E7C42E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Finite probability</a:t>
            </a:r>
          </a:p>
          <a:p>
            <a:pPr lvl="1"/>
            <a:r>
              <a:rPr lang="en-US"/>
              <a:t>Sample Space, Event, Probability</a:t>
            </a:r>
          </a:p>
          <a:p>
            <a:r>
              <a:rPr lang="en-US"/>
              <a:t>Examples</a:t>
            </a:r>
          </a:p>
          <a:p>
            <a:pPr lvl="1"/>
            <a:r>
              <a:rPr lang="en-US"/>
              <a:t>Card Games, Lotteries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74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43D7F-4426-1A48-8D51-C4A521807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Video 74: </a:t>
            </a:r>
            <a:r>
              <a:rPr lang="en-US" dirty="0"/>
              <a:t>Complements and Unions of Events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4205-68D9-DE44-B244-9E9AA5FC1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Complements</a:t>
            </a:r>
          </a:p>
          <a:p>
            <a:r>
              <a:rPr lang="en-US"/>
              <a:t>Unions</a:t>
            </a:r>
          </a:p>
          <a:p>
            <a:r>
              <a:rPr lang="en-US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227300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Probability of Complements of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b="1" dirty="0"/>
                  <a:t>Theorem </a:t>
                </a:r>
                <a:r>
                  <a:rPr lang="en-US" b="1" dirty="0">
                    <a:ea typeface="Cambria Math" pitchFamily="18" charset="0"/>
                  </a:rPr>
                  <a:t>1</a:t>
                </a:r>
                <a:r>
                  <a:rPr lang="en-US" dirty="0"/>
                  <a:t>: Let </a:t>
                </a:r>
                <a:r>
                  <a:rPr lang="en-US" i="1" dirty="0"/>
                  <a:t>E</a:t>
                </a:r>
                <a:r>
                  <a:rPr lang="en-US" dirty="0"/>
                  <a:t> be an event in sample space </a:t>
                </a:r>
                <a:r>
                  <a:rPr lang="en-US" i="1" dirty="0"/>
                  <a:t>S</a:t>
                </a:r>
                <a:r>
                  <a:rPr lang="en-US" dirty="0"/>
                  <a:t>. The probability of the event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H" b="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fr-CH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, the complementary event of </a:t>
                </a:r>
                <a:r>
                  <a:rPr lang="en-US" i="1" dirty="0"/>
                  <a:t>E</a:t>
                </a:r>
                <a:r>
                  <a:rPr lang="en-US" dirty="0"/>
                  <a:t>, is given by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>
                  <a:buNone/>
                </a:pPr>
                <a:r>
                  <a:rPr lang="en-US" b="1" dirty="0"/>
                  <a:t>   Proof</a:t>
                </a:r>
                <a:r>
                  <a:rPr lang="en-US" dirty="0"/>
                  <a:t>: Using the fact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</m:d>
                    <m:r>
                      <a:rPr lang="fr-CH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fr-CH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fr-CH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fr-CH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i="1" dirty="0">
                    <a:ea typeface="Cambria Math"/>
                  </a:rPr>
                  <a:t>, 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86" t="-2632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4363946" y="2836999"/>
            <a:ext cx="2826068" cy="417195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944586" y="4830127"/>
            <a:ext cx="6129338" cy="580073"/>
          </a:xfrm>
          <a:prstGeom prst="rect">
            <a:avLst/>
          </a:prstGeom>
        </p:spPr>
      </p:pic>
      <p:sp>
        <p:nvSpPr>
          <p:cNvPr id="7" name="Isosceles Triangle 6"/>
          <p:cNvSpPr/>
          <p:nvPr/>
        </p:nvSpPr>
        <p:spPr>
          <a:xfrm rot="5400000" flipV="1">
            <a:off x="9505950" y="5043963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33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What is the probability that when two dice are rolled, the sum of the numbers on the two dice is not </a:t>
            </a:r>
            <a:r>
              <a:rPr lang="en-US" dirty="0">
                <a:ea typeface="Cambria Math" pitchFamily="18" charset="0"/>
              </a:rPr>
              <a:t>7</a:t>
            </a:r>
            <a:r>
              <a:rPr lang="en-US" dirty="0"/>
              <a:t>?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Let </a:t>
            </a:r>
            <a:r>
              <a:rPr lang="en-US" i="1" dirty="0"/>
              <a:t>E</a:t>
            </a:r>
            <a:r>
              <a:rPr lang="en-US" dirty="0"/>
              <a:t> be the event to roll a 7.</a:t>
            </a:r>
          </a:p>
          <a:p>
            <a:r>
              <a:rPr lang="en-US" dirty="0"/>
              <a:t>This probability is 1/6.</a:t>
            </a:r>
          </a:p>
          <a:p>
            <a:r>
              <a:rPr lang="en-US" dirty="0"/>
              <a:t>Thus the probability of not rolling a 7 is 1 – 1/6 = 5/6</a:t>
            </a:r>
          </a:p>
          <a:p>
            <a:pPr>
              <a:buNone/>
            </a:pP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8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dirty="0"/>
                  <a:t>A sequence of </a:t>
                </a:r>
                <a:r>
                  <a:rPr lang="en-US" dirty="0">
                    <a:ea typeface="Cambria Math" pitchFamily="18" charset="0"/>
                  </a:rPr>
                  <a:t>10</a:t>
                </a:r>
                <a:r>
                  <a:rPr lang="en-US" dirty="0"/>
                  <a:t> bits is chosen randomly. What is the probability that at least one of these bits is </a:t>
                </a:r>
                <a:r>
                  <a:rPr lang="en-US" dirty="0">
                    <a:ea typeface="Cambria Math" pitchFamily="18" charset="0"/>
                  </a:rPr>
                  <a:t>0</a:t>
                </a:r>
                <a:r>
                  <a:rPr lang="en-US" dirty="0"/>
                  <a:t>?</a:t>
                </a:r>
              </a:p>
              <a:p>
                <a:pPr>
                  <a:buNone/>
                </a:pPr>
                <a:endParaRPr lang="en-US" dirty="0"/>
              </a:p>
              <a:p>
                <a:r>
                  <a:rPr lang="en-US" dirty="0"/>
                  <a:t>Let </a:t>
                </a:r>
                <a:r>
                  <a:rPr lang="en-US" i="1" dirty="0"/>
                  <a:t>E</a:t>
                </a:r>
                <a:r>
                  <a:rPr lang="en-US" dirty="0"/>
                  <a:t> be the event that at least one of the 10 bits is </a:t>
                </a:r>
                <a:r>
                  <a:rPr lang="en-US" dirty="0">
                    <a:ea typeface="Cambria Math" pitchFamily="18" charset="0"/>
                  </a:rPr>
                  <a:t>0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Then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en-US" dirty="0">
                    <a:ea typeface="Cambria Math"/>
                  </a:rPr>
                  <a:t>is the event that all of the bits are </a:t>
                </a:r>
                <a:r>
                  <a:rPr lang="en-US" dirty="0">
                    <a:ea typeface="Cambria Math" pitchFamily="18" charset="0"/>
                  </a:rPr>
                  <a:t>1</a:t>
                </a:r>
                <a:r>
                  <a:rPr lang="en-US" dirty="0">
                    <a:ea typeface="Cambria Math"/>
                  </a:rPr>
                  <a:t>s. </a:t>
                </a:r>
              </a:p>
              <a:p>
                <a:r>
                  <a:rPr lang="en-US" dirty="0">
                    <a:ea typeface="Cambria Math"/>
                  </a:rPr>
                  <a:t>The size of the sample space </a:t>
                </a:r>
                <a:r>
                  <a:rPr lang="en-US" i="1" dirty="0">
                    <a:ea typeface="Cambria Math"/>
                  </a:rPr>
                  <a:t>S</a:t>
                </a:r>
                <a:r>
                  <a:rPr lang="en-US" dirty="0">
                    <a:ea typeface="Cambria Math"/>
                  </a:rPr>
                  <a:t> is </a:t>
                </a:r>
                <a:r>
                  <a:rPr lang="en-US" dirty="0">
                    <a:ea typeface="Cambria Math" pitchFamily="18" charset="0"/>
                  </a:rPr>
                  <a:t>2</a:t>
                </a:r>
                <a:r>
                  <a:rPr lang="en-US" baseline="30000" dirty="0">
                    <a:ea typeface="Cambria Math" pitchFamily="18" charset="0"/>
                  </a:rPr>
                  <a:t>10</a:t>
                </a:r>
                <a:r>
                  <a:rPr lang="en-US" dirty="0">
                    <a:ea typeface="Cambria Math"/>
                  </a:rPr>
                  <a:t>. Hence,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3017519" y="4933702"/>
            <a:ext cx="6681891" cy="44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18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Probability of Unions of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Theorem </a:t>
            </a:r>
            <a:r>
              <a:rPr lang="en-US" b="1" dirty="0">
                <a:ea typeface="Cambria Math" pitchFamily="18" charset="0"/>
              </a:rPr>
              <a:t>2</a:t>
            </a:r>
            <a:r>
              <a:rPr lang="en-US" dirty="0"/>
              <a:t>: Let </a:t>
            </a:r>
            <a:r>
              <a:rPr lang="en-US" i="1" dirty="0"/>
              <a:t>E</a:t>
            </a:r>
            <a:r>
              <a:rPr lang="en-US" baseline="-25000" dirty="0"/>
              <a:t>1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</a:t>
            </a:r>
            <a:r>
              <a:rPr lang="en-US" i="1" dirty="0"/>
              <a:t>E</a:t>
            </a:r>
            <a:r>
              <a:rPr lang="en-US" baseline="-25000" dirty="0"/>
              <a:t>2</a:t>
            </a:r>
            <a:r>
              <a:rPr lang="en-US" b="1" dirty="0"/>
              <a:t> </a:t>
            </a:r>
            <a:r>
              <a:rPr lang="en-US" dirty="0"/>
              <a:t> be events in the  sample space </a:t>
            </a:r>
            <a:r>
              <a:rPr lang="en-US" i="1" dirty="0"/>
              <a:t>S</a:t>
            </a:r>
            <a:r>
              <a:rPr lang="en-US" dirty="0"/>
              <a:t>. Then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   </a:t>
            </a:r>
          </a:p>
          <a:p>
            <a:pPr>
              <a:buNone/>
            </a:pPr>
            <a:r>
              <a:rPr lang="en-US" b="1" dirty="0"/>
              <a:t>Proof</a:t>
            </a:r>
            <a:r>
              <a:rPr lang="en-US" dirty="0"/>
              <a:t>: Given the inclusion-exclusion formula </a:t>
            </a:r>
            <a:br>
              <a:rPr lang="en-US" dirty="0"/>
            </a:br>
            <a:r>
              <a:rPr lang="en-US" dirty="0">
                <a:latin typeface="Cambria Math" pitchFamily="18" charset="0"/>
                <a:ea typeface="Cambria Math" pitchFamily="18" charset="0"/>
              </a:rPr>
              <a:t>|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∪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| = |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| + |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| − |</a:t>
            </a:r>
            <a:r>
              <a:rPr lang="en-US" i="1" dirty="0">
                <a:ea typeface="Cambria Math" pitchFamily="18" charset="0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∩ </a:t>
            </a:r>
            <a:r>
              <a:rPr lang="en-US" i="1" dirty="0">
                <a:ea typeface="Cambria Math" pitchFamily="18" charset="0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|</a:t>
            </a:r>
            <a:r>
              <a:rPr lang="en-US" dirty="0"/>
              <a:t>,  it follows that</a:t>
            </a:r>
          </a:p>
        </p:txBody>
      </p:sp>
      <p:pic>
        <p:nvPicPr>
          <p:cNvPr id="11" name="Picture 10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705101" y="2426187"/>
            <a:ext cx="5755481" cy="319088"/>
          </a:xfrm>
          <a:prstGeom prst="rect">
            <a:avLst/>
          </a:prstGeom>
        </p:spPr>
      </p:pic>
      <p:pic>
        <p:nvPicPr>
          <p:cNvPr id="15" name="Picture 14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705101" y="4454831"/>
            <a:ext cx="5669756" cy="483394"/>
          </a:xfrm>
          <a:prstGeom prst="rect">
            <a:avLst/>
          </a:prstGeom>
        </p:spPr>
      </p:pic>
      <p:pic>
        <p:nvPicPr>
          <p:cNvPr id="16" name="Picture 15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4312229" y="5149254"/>
            <a:ext cx="3140869" cy="483394"/>
          </a:xfrm>
          <a:prstGeom prst="rect">
            <a:avLst/>
          </a:prstGeom>
        </p:spPr>
      </p:pic>
      <p:pic>
        <p:nvPicPr>
          <p:cNvPr id="17" name="Picture 16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4312229" y="5992812"/>
            <a:ext cx="4224338" cy="319088"/>
          </a:xfrm>
          <a:prstGeom prst="rect">
            <a:avLst/>
          </a:prstGeom>
        </p:spPr>
      </p:pic>
      <p:sp>
        <p:nvSpPr>
          <p:cNvPr id="18" name="Isosceles Triangle 17"/>
          <p:cNvSpPr/>
          <p:nvPr/>
        </p:nvSpPr>
        <p:spPr>
          <a:xfrm rot="5400000" flipV="1">
            <a:off x="8850828" y="6076156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65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What is the probability that a positive integer selected at random from the set of positive integers not exceeding </a:t>
            </a:r>
            <a:r>
              <a:rPr lang="en-US" dirty="0">
                <a:ea typeface="Cambria Math" pitchFamily="18" charset="0"/>
              </a:rPr>
              <a:t>100</a:t>
            </a:r>
            <a:r>
              <a:rPr lang="en-US" dirty="0"/>
              <a:t> is divisible by either </a:t>
            </a:r>
            <a:r>
              <a:rPr lang="en-US" dirty="0">
                <a:ea typeface="Cambria Math" pitchFamily="18" charset="0"/>
              </a:rPr>
              <a:t>2 </a:t>
            </a:r>
            <a:r>
              <a:rPr lang="en-US" dirty="0"/>
              <a:t>or </a:t>
            </a:r>
            <a:r>
              <a:rPr lang="en-US" dirty="0">
                <a:ea typeface="Cambria Math" pitchFamily="18" charset="0"/>
              </a:rPr>
              <a:t>5</a:t>
            </a:r>
            <a:r>
              <a:rPr lang="en-US" dirty="0"/>
              <a:t>?</a:t>
            </a:r>
          </a:p>
          <a:p>
            <a:r>
              <a:rPr lang="en-US" dirty="0"/>
              <a:t>Let </a:t>
            </a:r>
            <a:r>
              <a:rPr lang="en-US" i="1" dirty="0"/>
              <a:t>E</a:t>
            </a:r>
            <a:r>
              <a:rPr lang="en-US" baseline="-25000" dirty="0"/>
              <a:t>1</a:t>
            </a:r>
            <a:r>
              <a:rPr lang="en-US" b="1" dirty="0"/>
              <a:t> </a:t>
            </a:r>
            <a:r>
              <a:rPr lang="en-US" dirty="0"/>
              <a:t>be the event that  the integer is divisible by </a:t>
            </a:r>
            <a:r>
              <a:rPr lang="en-US" dirty="0">
                <a:ea typeface="Cambria Math" pitchFamily="18" charset="0"/>
              </a:rPr>
              <a:t>2 </a:t>
            </a:r>
            <a:r>
              <a:rPr lang="en-US" dirty="0"/>
              <a:t>and</a:t>
            </a:r>
            <a:r>
              <a:rPr lang="en-US" b="1" dirty="0"/>
              <a:t> </a:t>
            </a:r>
            <a:r>
              <a:rPr lang="en-US" i="1" dirty="0"/>
              <a:t>E</a:t>
            </a:r>
            <a:r>
              <a:rPr lang="en-US" baseline="-25000" dirty="0"/>
              <a:t>2</a:t>
            </a:r>
            <a:r>
              <a:rPr lang="en-US" b="1" dirty="0"/>
              <a:t> </a:t>
            </a:r>
            <a:r>
              <a:rPr lang="en-US" dirty="0"/>
              <a:t>be the event that it is divisible </a:t>
            </a:r>
            <a:r>
              <a:rPr lang="en-US" dirty="0">
                <a:ea typeface="Cambria Math" pitchFamily="18" charset="0"/>
              </a:rPr>
              <a:t>5</a:t>
            </a:r>
            <a:r>
              <a:rPr lang="en-US" dirty="0"/>
              <a:t>.</a:t>
            </a:r>
          </a:p>
          <a:p>
            <a:r>
              <a:rPr lang="en-US" dirty="0"/>
              <a:t>Then the event that the integer is divisible by </a:t>
            </a:r>
            <a:r>
              <a:rPr lang="en-US" dirty="0">
                <a:ea typeface="Cambria Math" pitchFamily="18" charset="0"/>
              </a:rPr>
              <a:t>2 </a:t>
            </a:r>
            <a:r>
              <a:rPr lang="en-US" b="1" dirty="0"/>
              <a:t>or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5 is </a:t>
            </a:r>
            <a:r>
              <a:rPr lang="en-US" i="1" dirty="0"/>
              <a:t>E</a:t>
            </a:r>
            <a:r>
              <a:rPr lang="en-US" baseline="-25000" dirty="0"/>
              <a:t>1 </a:t>
            </a:r>
            <a:r>
              <a:rPr lang="en-US" dirty="0">
                <a:ea typeface="Cambria Math"/>
              </a:rPr>
              <a:t>∪ </a:t>
            </a:r>
            <a:r>
              <a:rPr lang="en-US" i="1" dirty="0"/>
              <a:t>E</a:t>
            </a:r>
            <a:r>
              <a:rPr lang="en-US" baseline="-25000" dirty="0"/>
              <a:t>2 </a:t>
            </a:r>
          </a:p>
          <a:p>
            <a:r>
              <a:rPr lang="en-US" dirty="0"/>
              <a:t>The event that the integer is divisible by </a:t>
            </a:r>
            <a:r>
              <a:rPr lang="en-US" dirty="0">
                <a:ea typeface="Cambria Math" pitchFamily="18" charset="0"/>
              </a:rPr>
              <a:t>2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5 is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baseline="-25000" dirty="0"/>
              <a:t>1 </a:t>
            </a:r>
            <a:r>
              <a:rPr lang="en-US" dirty="0">
                <a:ea typeface="Cambria Math"/>
              </a:rPr>
              <a:t>∩ </a:t>
            </a:r>
            <a:r>
              <a:rPr lang="en-US" i="1" dirty="0"/>
              <a:t>E</a:t>
            </a:r>
            <a:r>
              <a:rPr lang="en-US" baseline="-25000" dirty="0"/>
              <a:t>2</a:t>
            </a:r>
            <a:endParaRPr lang="en-US" dirty="0"/>
          </a:p>
          <a:p>
            <a:r>
              <a:rPr lang="en-US" dirty="0"/>
              <a:t>It follows that: </a:t>
            </a:r>
          </a:p>
          <a:p>
            <a:pPr>
              <a:buNone/>
            </a:pPr>
            <a:r>
              <a:rPr lang="en-US" dirty="0"/>
              <a:t>           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E</a:t>
            </a:r>
            <a:r>
              <a:rPr lang="en-US" baseline="-25000" dirty="0"/>
              <a:t>1 </a:t>
            </a:r>
            <a:r>
              <a:rPr lang="en-US" dirty="0">
                <a:ea typeface="Cambria Math"/>
              </a:rPr>
              <a:t>∪ </a:t>
            </a:r>
            <a:r>
              <a:rPr lang="en-US" i="1" dirty="0"/>
              <a:t>E</a:t>
            </a:r>
            <a:r>
              <a:rPr lang="en-US" baseline="-25000" dirty="0"/>
              <a:t>2</a:t>
            </a:r>
            <a:r>
              <a:rPr lang="en-US" dirty="0"/>
              <a:t>) =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E</a:t>
            </a:r>
            <a:r>
              <a:rPr lang="en-US" baseline="-25000" dirty="0"/>
              <a:t>1</a:t>
            </a:r>
            <a:r>
              <a:rPr lang="en-US" dirty="0"/>
              <a:t>) +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E</a:t>
            </a:r>
            <a:r>
              <a:rPr lang="en-US" baseline="-25000" dirty="0"/>
              <a:t>2</a:t>
            </a:r>
            <a:r>
              <a:rPr lang="en-US" dirty="0"/>
              <a:t>) –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E</a:t>
            </a:r>
            <a:r>
              <a:rPr lang="en-US" baseline="-25000" dirty="0"/>
              <a:t>1 </a:t>
            </a:r>
            <a:r>
              <a:rPr lang="en-US" dirty="0">
                <a:ea typeface="Cambria Math"/>
              </a:rPr>
              <a:t>∩ </a:t>
            </a:r>
            <a:r>
              <a:rPr lang="en-US" i="1" dirty="0"/>
              <a:t>E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/>
              <a:t>                             = </a:t>
            </a:r>
            <a:r>
              <a:rPr lang="en-US" dirty="0">
                <a:ea typeface="Cambria Math" pitchFamily="18" charset="0"/>
              </a:rPr>
              <a:t>50/100</a:t>
            </a:r>
            <a:r>
              <a:rPr lang="en-US" dirty="0"/>
              <a:t> + </a:t>
            </a:r>
            <a:r>
              <a:rPr lang="en-US" dirty="0">
                <a:ea typeface="Cambria Math" pitchFamily="18" charset="0"/>
              </a:rPr>
              <a:t>20/100 </a:t>
            </a:r>
            <a:r>
              <a:rPr lang="en-US" dirty="0"/>
              <a:t>− </a:t>
            </a:r>
            <a:r>
              <a:rPr lang="en-US" dirty="0">
                <a:ea typeface="Cambria Math" pitchFamily="18" charset="0"/>
              </a:rPr>
              <a:t>10/100 = 3/5.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80916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B6933-8977-0F4C-AE48-61D96F59F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09AA8-454F-4D4D-89B1-58AC09011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When rolling two dices, what is the probability to roll a 6?</a:t>
            </a:r>
          </a:p>
          <a:p>
            <a:r>
              <a:rPr lang="en-US" dirty="0"/>
              <a:t>Let </a:t>
            </a:r>
            <a:r>
              <a:rPr lang="en-US" i="1" dirty="0"/>
              <a:t>E</a:t>
            </a:r>
            <a:r>
              <a:rPr lang="en-US" baseline="-25000" dirty="0"/>
              <a:t>1</a:t>
            </a:r>
            <a:r>
              <a:rPr lang="en-US" b="1" dirty="0"/>
              <a:t> </a:t>
            </a:r>
            <a:r>
              <a:rPr lang="en-US" dirty="0"/>
              <a:t>be the event that  the first dice is a 6 and </a:t>
            </a:r>
            <a:r>
              <a:rPr lang="en-US" i="1" dirty="0"/>
              <a:t>E</a:t>
            </a:r>
            <a:r>
              <a:rPr lang="en-US" baseline="-25000" dirty="0"/>
              <a:t>2</a:t>
            </a:r>
            <a:r>
              <a:rPr lang="en-US" b="1" dirty="0"/>
              <a:t> </a:t>
            </a:r>
            <a:r>
              <a:rPr lang="en-US" dirty="0"/>
              <a:t>be the event that the second dice is a 6.</a:t>
            </a:r>
          </a:p>
          <a:p>
            <a:r>
              <a:rPr lang="en-US" dirty="0"/>
              <a:t>Then the event that one dice is a 6 </a:t>
            </a:r>
            <a:r>
              <a:rPr lang="en-US" dirty="0">
                <a:ea typeface="Cambria Math" pitchFamily="18" charset="0"/>
              </a:rPr>
              <a:t>is </a:t>
            </a:r>
            <a:r>
              <a:rPr lang="en-US" i="1" dirty="0"/>
              <a:t>E</a:t>
            </a:r>
            <a:r>
              <a:rPr lang="en-US" baseline="-25000" dirty="0"/>
              <a:t>1 </a:t>
            </a:r>
            <a:r>
              <a:rPr lang="en-US" dirty="0">
                <a:ea typeface="Cambria Math"/>
              </a:rPr>
              <a:t>∪ </a:t>
            </a:r>
            <a:r>
              <a:rPr lang="en-US" i="1" dirty="0"/>
              <a:t>E</a:t>
            </a:r>
            <a:r>
              <a:rPr lang="en-US" baseline="-25000" dirty="0"/>
              <a:t>2 </a:t>
            </a:r>
          </a:p>
          <a:p>
            <a:r>
              <a:rPr lang="en-US" dirty="0"/>
              <a:t>The event that both dices are a 6 </a:t>
            </a:r>
            <a:r>
              <a:rPr lang="en-US" dirty="0">
                <a:ea typeface="Cambria Math" pitchFamily="18" charset="0"/>
              </a:rPr>
              <a:t>is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baseline="-25000" dirty="0"/>
              <a:t>1 </a:t>
            </a:r>
            <a:r>
              <a:rPr lang="en-US" dirty="0">
                <a:ea typeface="Cambria Math"/>
              </a:rPr>
              <a:t>∩ </a:t>
            </a:r>
            <a:r>
              <a:rPr lang="en-US" i="1" dirty="0"/>
              <a:t>E</a:t>
            </a:r>
            <a:r>
              <a:rPr lang="en-US" baseline="-25000" dirty="0"/>
              <a:t>2</a:t>
            </a:r>
          </a:p>
          <a:p>
            <a:r>
              <a:rPr lang="en-US" dirty="0"/>
              <a:t>It follows that: </a:t>
            </a:r>
          </a:p>
          <a:p>
            <a:pPr marL="0" indent="0">
              <a:buNone/>
            </a:pPr>
            <a:r>
              <a:rPr lang="en-US" i="1" dirty="0"/>
              <a:t>	p</a:t>
            </a:r>
            <a:r>
              <a:rPr lang="en-US" dirty="0"/>
              <a:t>(</a:t>
            </a:r>
            <a:r>
              <a:rPr lang="en-US" i="1" dirty="0"/>
              <a:t>E</a:t>
            </a:r>
            <a:r>
              <a:rPr lang="en-US" baseline="-25000" dirty="0"/>
              <a:t>1 </a:t>
            </a:r>
            <a:r>
              <a:rPr lang="en-US" dirty="0">
                <a:ea typeface="Cambria Math"/>
              </a:rPr>
              <a:t>∪ </a:t>
            </a:r>
            <a:r>
              <a:rPr lang="en-US" i="1" dirty="0"/>
              <a:t>E</a:t>
            </a:r>
            <a:r>
              <a:rPr lang="en-US" baseline="-25000" dirty="0"/>
              <a:t>2</a:t>
            </a:r>
            <a:r>
              <a:rPr lang="en-US" dirty="0"/>
              <a:t>) =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E</a:t>
            </a:r>
            <a:r>
              <a:rPr lang="en-US" baseline="-25000" dirty="0"/>
              <a:t>1</a:t>
            </a:r>
            <a:r>
              <a:rPr lang="en-US" dirty="0"/>
              <a:t>) +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E</a:t>
            </a:r>
            <a:r>
              <a:rPr lang="en-US" baseline="-25000" dirty="0"/>
              <a:t>2</a:t>
            </a:r>
            <a:r>
              <a:rPr lang="en-US" dirty="0"/>
              <a:t>) –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E</a:t>
            </a:r>
            <a:r>
              <a:rPr lang="en-US" baseline="-25000" dirty="0"/>
              <a:t>1 </a:t>
            </a:r>
            <a:r>
              <a:rPr lang="en-US" dirty="0">
                <a:ea typeface="Cambria Math"/>
              </a:rPr>
              <a:t>∩ </a:t>
            </a:r>
            <a:r>
              <a:rPr lang="en-US" i="1" dirty="0"/>
              <a:t>E</a:t>
            </a:r>
            <a:r>
              <a:rPr lang="en-US" baseline="-25000" dirty="0"/>
              <a:t>2</a:t>
            </a:r>
            <a:r>
              <a:rPr lang="en-US" dirty="0"/>
              <a:t>) = 1/6 + 1/6 – 1/36 = 11/36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05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C8EE9-E489-F646-B15E-ADE9E638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AF18-8F47-DA4D-BB98-DADF7B571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Complements</a:t>
            </a:r>
          </a:p>
          <a:p>
            <a:r>
              <a:rPr lang="en-US"/>
              <a:t>Unions</a:t>
            </a:r>
          </a:p>
          <a:p>
            <a:r>
              <a:rPr lang="en-US"/>
              <a:t>Examples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00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Probability Theory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7.2</a:t>
            </a:r>
          </a:p>
        </p:txBody>
      </p:sp>
    </p:spTree>
    <p:extLst>
      <p:ext uri="{BB962C8B-B14F-4D97-AF65-F5344CB8AC3E}">
        <p14:creationId xmlns:p14="http://schemas.microsoft.com/office/powerpoint/2010/main" val="2266182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9E17-66A3-4949-9551-91F25DF35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 75: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E3403-22F2-8D49-BB80-5BA548BBE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Limitations of Laplace’s Probability</a:t>
            </a:r>
          </a:p>
          <a:p>
            <a:r>
              <a:rPr lang="en-US"/>
              <a:t>Probability Distribution</a:t>
            </a:r>
          </a:p>
          <a:p>
            <a:r>
              <a:rPr lang="en-US"/>
              <a:t>Laws on Probability Distributions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19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1D60-A120-9242-BD7A-28EC8AEAD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 of Laplace’s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AE547-7E90-C447-AD18-10FE2DB31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Laplace’s definition from the previous section, assumes that all outcomes are equally likely. This is not always the case.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The sum of rolling two dices.</a:t>
            </a:r>
          </a:p>
          <a:p>
            <a:pPr marL="0" indent="0">
              <a:buNone/>
            </a:pPr>
            <a:r>
              <a:rPr lang="en-US" dirty="0"/>
              <a:t>Set of possible outcomes: S = {2,3,4,5,6,7,8,9,10,11,12}</a:t>
            </a:r>
          </a:p>
          <a:p>
            <a:pPr marL="0" indent="0">
              <a:buNone/>
            </a:pPr>
            <a:r>
              <a:rPr lang="en-US" dirty="0"/>
              <a:t>Probability of sum 2: need to roll (1,1), thus 1/36</a:t>
            </a:r>
          </a:p>
          <a:p>
            <a:pPr marL="0" indent="0">
              <a:buNone/>
            </a:pPr>
            <a:r>
              <a:rPr lang="en-US" dirty="0"/>
              <a:t>Probability of sum 3: need to roll (1,2) or (2,1), thus 1/18</a:t>
            </a:r>
          </a:p>
          <a:p>
            <a:pPr marL="0" indent="0">
              <a:buNone/>
            </a:pPr>
            <a:r>
              <a:rPr lang="en-US" dirty="0"/>
              <a:t>Probability of sum 4: need to roll (1,3), (2,2) or (3,1), thus 1/12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76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Definition</a:t>
                </a:r>
                <a:r>
                  <a:rPr lang="en-US" dirty="0"/>
                  <a:t>: Let </a:t>
                </a:r>
                <a14:m>
                  <m:oMath xmlns:m="http://schemas.openxmlformats.org/officeDocument/2006/math">
                    <m:r>
                      <a:rPr lang="fr-CH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be a sample space of an experiment with a finite or countable number of outcomes. We assign a probability 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/>
                  <a:t>s</a:t>
                </a:r>
                <a:r>
                  <a:rPr lang="en-US" dirty="0"/>
                  <a:t>) to each outcome </a:t>
                </a:r>
                <a:r>
                  <a:rPr lang="en-US" i="1" dirty="0"/>
                  <a:t>s</a:t>
                </a:r>
                <a:r>
                  <a:rPr lang="en-US" dirty="0"/>
                  <a:t>, so that:</a:t>
                </a:r>
              </a:p>
              <a:p>
                <a:pPr marL="1062990" lvl="3" indent="-514350">
                  <a:buSzPct val="95000"/>
                  <a:buFont typeface="+mj-lt"/>
                  <a:buAutoNum type="arabicPeriod"/>
                </a:pPr>
                <a:r>
                  <a:rPr lang="en-US" sz="2800" dirty="0">
                    <a:ea typeface="Cambria Math" pitchFamily="18" charset="0"/>
                  </a:rPr>
                  <a:t> 0</a:t>
                </a:r>
                <a:r>
                  <a:rPr lang="en-US" sz="2800" dirty="0"/>
                  <a:t> ≤ </a:t>
                </a:r>
                <a14:m>
                  <m:oMath xmlns:m="http://schemas.openxmlformats.org/officeDocument/2006/math">
                    <m:r>
                      <a:rPr lang="fr-CH" sz="28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sz="28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800" dirty="0"/>
                  <a:t> ≤ </a:t>
                </a:r>
                <a:r>
                  <a:rPr lang="en-US" sz="2800" dirty="0">
                    <a:ea typeface="Cambria Math" pitchFamily="18" charset="0"/>
                  </a:rPr>
                  <a:t>1 </a:t>
                </a:r>
                <a:r>
                  <a:rPr lang="en-US" sz="2800" dirty="0"/>
                  <a:t>for each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fr-CH" sz="28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CH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fr-CH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2800" dirty="0"/>
              </a:p>
              <a:p>
                <a:pPr marL="1062990" lvl="3" indent="-514350">
                  <a:buSzPct val="95000"/>
                  <a:buFont typeface="+mj-lt"/>
                  <a:buAutoNum type="arabicPeriod"/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CH" sz="2800" b="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CH" sz="2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fr-CH" sz="2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fr-CH" sz="2800" b="0" i="1" dirty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fr-CH" sz="2800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H" sz="2800" b="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fr-CH" sz="2800" b="0" i="1" dirty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sz="2800" dirty="0"/>
              </a:p>
              <a:p>
                <a:pPr marL="1062990" lvl="3" indent="-514350">
                  <a:buSzPct val="95000"/>
                  <a:buNone/>
                </a:pPr>
                <a:endParaRPr lang="en-US" i="1" dirty="0">
                  <a:solidFill>
                    <a:schemeClr val="accent3"/>
                  </a:solidFill>
                </a:endParaRPr>
              </a:p>
              <a:p>
                <a:pPr marL="548640" lvl="2" indent="-274320">
                  <a:buClr>
                    <a:schemeClr val="accent3"/>
                  </a:buClr>
                  <a:buSzPct val="95000"/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function </a:t>
                </a:r>
                <a14:m>
                  <m:oMath xmlns:m="http://schemas.openxmlformats.org/officeDocument/2006/math">
                    <m:r>
                      <a:rPr lang="fr-CH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from the set of all outcomes of the sample space </a:t>
                </a:r>
                <a14:m>
                  <m:oMath xmlns:m="http://schemas.openxmlformats.org/officeDocument/2006/math">
                    <m:r>
                      <a:rPr lang="fr-CH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called a </a:t>
                </a:r>
                <a:r>
                  <a:rPr lang="en-US" b="1" dirty="0"/>
                  <a:t>probability distribution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7579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85935-4FF9-0E45-8D30-CA91024DA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0D3C68-10A4-A642-8DD8-D09CF08292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sum of rolling two dices.</a:t>
                </a:r>
              </a:p>
              <a:p>
                <a:pPr marL="0" indent="0">
                  <a:buNone/>
                </a:pPr>
                <a:r>
                  <a:rPr lang="en-US" dirty="0"/>
                  <a:t>Set of possible outcomes: S = {2,3,4,5,6,7,8,9,10,11,12}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Probability Distribution is given by: </a:t>
                </a:r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r>
                      <a:rPr lang="fr-CH" b="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b="0" i="1">
                            <a:latin typeface="Cambria Math" panose="02040503050406030204" pitchFamily="18" charset="0"/>
                          </a:rPr>
                          <m:t>7−</m:t>
                        </m:r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fr-CH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H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b="0" i="1">
                            <a:latin typeface="Cambria Math" panose="02040503050406030204" pitchFamily="18" charset="0"/>
                          </a:rPr>
                          <m:t>6−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fr-CH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H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num>
                      <m:den>
                        <m:r>
                          <a:rPr lang="fr-CH" b="0" i="1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US"/>
                  <a:t>   for -5 </a:t>
                </a:r>
                <a:r>
                  <a:rPr lang="en-US" dirty="0"/>
                  <a:t>≤ 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≤  5</a:t>
                </a:r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0D3C68-10A4-A642-8DD8-D09CF08292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2073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What probabilities should we assign to the outcomes </a:t>
            </a:r>
            <a:r>
              <a:rPr lang="en-US" i="1" dirty="0"/>
              <a:t>H</a:t>
            </a:r>
            <a:r>
              <a:rPr lang="en-US" dirty="0"/>
              <a:t>(heads) and </a:t>
            </a:r>
            <a:r>
              <a:rPr lang="en-US" i="1" dirty="0"/>
              <a:t>T</a:t>
            </a:r>
            <a:r>
              <a:rPr lang="en-US" dirty="0"/>
              <a:t> (tails) when the coin is biased so that heads come up twice as often as tails?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ea typeface="Cambria Math" pitchFamily="18" charset="0"/>
              </a:rPr>
              <a:t>	</a:t>
            </a:r>
            <a:r>
              <a:rPr lang="en-US" dirty="0"/>
              <a:t>For a biased coin, we have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dirty="0"/>
              <a:t>) =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).</a:t>
            </a:r>
          </a:p>
          <a:p>
            <a:pPr>
              <a:buNone/>
            </a:pPr>
            <a:r>
              <a:rPr lang="en-US" dirty="0"/>
              <a:t>   Because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dirty="0"/>
              <a:t>) +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, it follows that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+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</a:t>
            </a:r>
            <a:r>
              <a:rPr lang="en-US" dirty="0">
                <a:ea typeface="Cambria Math" pitchFamily="18" charset="0"/>
              </a:rPr>
              <a:t> 3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	Hence,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dirty="0">
                <a:ea typeface="Cambria Math" pitchFamily="18" charset="0"/>
              </a:rPr>
              <a:t>1/3 and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dirty="0"/>
              <a:t>) = </a:t>
            </a:r>
            <a:r>
              <a:rPr lang="en-US" dirty="0">
                <a:ea typeface="Cambria Math" pitchFamily="18" charset="0"/>
              </a:rPr>
              <a:t>2/3</a:t>
            </a:r>
            <a:r>
              <a:rPr lang="en-US" dirty="0"/>
              <a:t>.</a:t>
            </a:r>
            <a:r>
              <a:rPr lang="en-US" dirty="0">
                <a:ea typeface="Cambria Math" pitchFamily="18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255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Definition</a:t>
            </a:r>
            <a:r>
              <a:rPr lang="en-US" dirty="0"/>
              <a:t>: Suppose that </a:t>
            </a:r>
            <a:r>
              <a:rPr lang="en-US" i="1" dirty="0"/>
              <a:t>S</a:t>
            </a:r>
            <a:r>
              <a:rPr lang="en-US" dirty="0"/>
              <a:t> is a set with </a:t>
            </a:r>
            <a:r>
              <a:rPr lang="en-US" i="1" dirty="0"/>
              <a:t>n</a:t>
            </a:r>
            <a:r>
              <a:rPr lang="en-US" dirty="0"/>
              <a:t> elements. The </a:t>
            </a:r>
            <a:r>
              <a:rPr lang="en-US" b="1" dirty="0"/>
              <a:t>uniform distribution </a:t>
            </a:r>
            <a:r>
              <a:rPr lang="en-US" dirty="0"/>
              <a:t>assigns the probability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i="1" dirty="0"/>
              <a:t>/n</a:t>
            </a:r>
            <a:r>
              <a:rPr lang="en-US" dirty="0"/>
              <a:t> to each element of </a:t>
            </a:r>
            <a:r>
              <a:rPr lang="en-US" i="1" dirty="0"/>
              <a:t>S.</a:t>
            </a:r>
            <a:endParaRPr lang="en-US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Example</a:t>
            </a:r>
            <a:r>
              <a:rPr lang="en-US" dirty="0"/>
              <a:t>: Consider again the coin flipping example, but with a fair coin. </a:t>
            </a:r>
          </a:p>
          <a:p>
            <a:pPr>
              <a:buNone/>
            </a:pPr>
            <a:r>
              <a:rPr lang="en-US" dirty="0"/>
              <a:t>Then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dirty="0"/>
              <a:t>) =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dirty="0">
                <a:ea typeface="Cambria Math" pitchFamily="18" charset="0"/>
              </a:rPr>
              <a:t>1/2</a:t>
            </a:r>
            <a:r>
              <a:rPr lang="en-US" dirty="0"/>
              <a:t>.</a:t>
            </a:r>
            <a:r>
              <a:rPr lang="en-US" dirty="0">
                <a:ea typeface="Cambria Math" pitchFamily="18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85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of an Event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b="1" dirty="0"/>
                  <a:t>Definition</a:t>
                </a:r>
                <a:r>
                  <a:rPr lang="en-US" dirty="0"/>
                  <a:t>: The </a:t>
                </a:r>
                <a:r>
                  <a:rPr lang="en-US" b="1" dirty="0"/>
                  <a:t>probability</a:t>
                </a:r>
                <a:r>
                  <a:rPr lang="en-US" dirty="0"/>
                  <a:t> of the event </a:t>
                </a:r>
                <a:r>
                  <a:rPr lang="en-US" i="1" dirty="0"/>
                  <a:t>E</a:t>
                </a:r>
                <a:r>
                  <a:rPr lang="en-US" dirty="0"/>
                  <a:t> is the sum of the probabilities of the outcomes in </a:t>
                </a:r>
                <a:r>
                  <a:rPr lang="en-US" i="1" dirty="0"/>
                  <a:t>E.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b="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fr-CH" b="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CH" b="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CH" b="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Note: no assumption is being made about the distribution. 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7018" b="-3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190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Suppose that a dice is biased so that </a:t>
            </a:r>
            <a:r>
              <a:rPr lang="en-US" dirty="0">
                <a:ea typeface="Cambria Math" pitchFamily="18" charset="0"/>
              </a:rPr>
              <a:t>3 </a:t>
            </a:r>
            <a:r>
              <a:rPr lang="en-US" dirty="0"/>
              <a:t>appears twice as often as each other number, but that the other five outcomes are equally likely.</a:t>
            </a:r>
          </a:p>
          <a:p>
            <a:pPr>
              <a:buNone/>
            </a:pPr>
            <a:r>
              <a:rPr lang="en-US" dirty="0"/>
              <a:t>What is the probability that an odd number appears when we roll this die?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We want the probability of the event </a:t>
            </a:r>
            <a:r>
              <a:rPr lang="en-US" i="1" dirty="0"/>
              <a:t>E</a:t>
            </a:r>
            <a:r>
              <a:rPr lang="en-US" dirty="0"/>
              <a:t> = {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,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dirty="0"/>
              <a:t>,</a:t>
            </a:r>
            <a:r>
              <a:rPr lang="en-US" dirty="0">
                <a:ea typeface="Cambria Math" pitchFamily="18" charset="0"/>
              </a:rPr>
              <a:t>5</a:t>
            </a:r>
            <a:r>
              <a:rPr lang="en-US" dirty="0"/>
              <a:t>}. </a:t>
            </a:r>
          </a:p>
          <a:p>
            <a:r>
              <a:rPr lang="en-US" dirty="0"/>
              <a:t>We have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3) =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2/7 and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1) =</a:t>
            </a: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2) =</a:t>
            </a: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4) =</a:t>
            </a: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5) =</a:t>
            </a: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6) =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1/7</a:t>
            </a:r>
          </a:p>
          <a:p>
            <a:r>
              <a:rPr lang="en-US" dirty="0">
                <a:ea typeface="Cambria Math" pitchFamily="18" charset="0"/>
              </a:rPr>
              <a:t>Hence, </a:t>
            </a:r>
            <a:r>
              <a:rPr lang="en-US" i="1" dirty="0">
                <a:ea typeface="Cambria Math" pitchFamily="18" charset="0"/>
              </a:rPr>
              <a:t>p</a:t>
            </a:r>
            <a:r>
              <a:rPr lang="en-US" dirty="0">
                <a:ea typeface="Cambria Math" pitchFamily="18" charset="0"/>
              </a:rPr>
              <a:t>(</a:t>
            </a:r>
            <a:r>
              <a:rPr lang="en-US" i="1" dirty="0">
                <a:ea typeface="Cambria Math" pitchFamily="18" charset="0"/>
              </a:rPr>
              <a:t>E</a:t>
            </a:r>
            <a:r>
              <a:rPr lang="en-US" dirty="0">
                <a:ea typeface="Cambria Math" pitchFamily="18" charset="0"/>
              </a:rPr>
              <a:t>) = </a:t>
            </a: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1) +</a:t>
            </a: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3) +</a:t>
            </a: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5) =</a:t>
            </a:r>
            <a:r>
              <a:rPr lang="en-US" dirty="0"/>
              <a:t> </a:t>
            </a:r>
            <a:r>
              <a:rPr lang="en-US" dirty="0">
                <a:ea typeface="Cambria Math" pitchFamily="18" charset="0"/>
              </a:rPr>
              <a:t>1/7 + 2/7 + 1/7 = 4/7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708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Probabilities of Complements and Unions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5104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Complements: </a:t>
                </a:r>
                <a14:m>
                  <m:oMath xmlns:m="http://schemas.openxmlformats.org/officeDocument/2006/math">
                    <m:r>
                      <a:rPr lang="fr-CH" b="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fr-CH" b="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b="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</m:d>
                    <m:r>
                      <a:rPr lang="fr-CH" b="0" i="1" dirty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still holds. 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Proof</a:t>
                </a:r>
                <a:r>
                  <a:rPr lang="en-US" dirty="0"/>
                  <a:t>: </a:t>
                </a:r>
                <a:endParaRPr lang="fr-CH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fr-CH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</m:d>
                    <m:r>
                      <a:rPr lang="fr-CH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CH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CH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acc>
                          <m:accPr>
                            <m:chr m:val="̅"/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sub>
                      <m:sup/>
                      <m:e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  <m:r>
                      <a:rPr lang="fr-CH" b="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CH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CH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fr-CH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fr-CH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CH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b>
                      <m:sup/>
                      <m:e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  <m:r>
                      <a:rPr lang="fr-CH" b="0" i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CH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CH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fr-CH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  <m:r>
                      <a:rPr lang="fr-CH" b="0" i="0" dirty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CH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CH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fr-CH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b>
                      <m:sup/>
                      <m:e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fr-CH" b="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Union: </a:t>
                </a:r>
                <a14:m>
                  <m:oMath xmlns:m="http://schemas.openxmlformats.org/officeDocument/2006/math">
                    <m:r>
                      <a:rPr lang="fr-CH" b="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CH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H" b="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fr-CH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CH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fr-CH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CH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CH" b="0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CH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fr-CH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CH" b="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CH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CH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still holds.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51049" cy="4351338"/>
              </a:xfrm>
              <a:blipFill>
                <a:blip r:embed="rId2"/>
                <a:stretch>
                  <a:fillRect l="-1061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6879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Combinations of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Theorem 3</a:t>
            </a:r>
            <a:r>
              <a:rPr lang="en-US" dirty="0"/>
              <a:t>: If </a:t>
            </a:r>
            <a:r>
              <a:rPr lang="en-US" i="1" dirty="0"/>
              <a:t>E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baseline="-25000" dirty="0"/>
              <a:t>2</a:t>
            </a:r>
            <a:r>
              <a:rPr lang="en-US" dirty="0"/>
              <a:t>, … is a sequence of </a:t>
            </a:r>
            <a:r>
              <a:rPr lang="en-US" dirty="0" err="1"/>
              <a:t>pairwise</a:t>
            </a:r>
            <a:r>
              <a:rPr lang="en-US" dirty="0"/>
              <a:t> disjoint events in a sample space </a:t>
            </a:r>
            <a:r>
              <a:rPr lang="en-US" i="1" dirty="0"/>
              <a:t>S</a:t>
            </a:r>
            <a:r>
              <a:rPr lang="en-US" dirty="0"/>
              <a:t>, then</a:t>
            </a:r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038600" y="3429001"/>
            <a:ext cx="3737610" cy="114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012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3BB41-2464-B942-9594-461E0609A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D5FF3-6C5D-CE48-9EC7-883490203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Limitations of Laplace’s Probability</a:t>
            </a:r>
          </a:p>
          <a:p>
            <a:r>
              <a:rPr lang="en-US"/>
              <a:t>Probability Distribution</a:t>
            </a:r>
          </a:p>
          <a:p>
            <a:pPr lvl="1"/>
            <a:r>
              <a:rPr lang="en-US"/>
              <a:t>Uniform distribution</a:t>
            </a:r>
          </a:p>
          <a:p>
            <a:pPr lvl="1"/>
            <a:r>
              <a:rPr lang="en-US"/>
              <a:t>Probability of events</a:t>
            </a:r>
          </a:p>
          <a:p>
            <a:r>
              <a:rPr lang="en-US"/>
              <a:t>Laws on Probability Distributions</a:t>
            </a:r>
          </a:p>
          <a:p>
            <a:pPr lvl="1"/>
            <a:r>
              <a:rPr lang="en-US"/>
              <a:t>Complement and Union</a:t>
            </a:r>
          </a:p>
          <a:p>
            <a:pPr lvl="1"/>
            <a:r>
              <a:rPr lang="en-US"/>
              <a:t>Disjoint events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26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04663-6C10-F84E-8FC5-5A1C065A5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 76: Conditional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BC5C0-F809-034A-A3AE-AE86891E5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Conditional Probability</a:t>
            </a:r>
          </a:p>
          <a:p>
            <a:r>
              <a:rPr lang="en-US"/>
              <a:t>Independence</a:t>
            </a:r>
          </a:p>
        </p:txBody>
      </p:sp>
    </p:spTree>
    <p:extLst>
      <p:ext uri="{BB962C8B-B14F-4D97-AF65-F5344CB8AC3E}">
        <p14:creationId xmlns:p14="http://schemas.microsoft.com/office/powerpoint/2010/main" val="2223127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6D474-7408-D34F-8491-9C20D81F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Conditional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8B572-5DCE-094F-B2D5-AE8C8A34E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Often probabilities exist in some context, or when a certain condition is satisfied: </a:t>
            </a:r>
          </a:p>
          <a:p>
            <a:r>
              <a:rPr lang="en-GB"/>
              <a:t>what’s chance to test positive on Corona?</a:t>
            </a:r>
          </a:p>
          <a:p>
            <a:r>
              <a:rPr lang="en-GB"/>
              <a:t>what’s chance to test positive on Corona if I feel sick? </a:t>
            </a:r>
          </a:p>
          <a:p>
            <a:r>
              <a:rPr lang="en-GB"/>
              <a:t>what’s the chance of having heads if the last 5 tosses were tails?</a:t>
            </a:r>
          </a:p>
          <a:p>
            <a:endParaRPr lang="en-GB"/>
          </a:p>
          <a:p>
            <a:pPr marL="0" indent="0">
              <a:buNone/>
            </a:pPr>
            <a:r>
              <a:rPr lang="en-GB"/>
              <a:t>Generally speaking: intuition cannot be trusted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35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b="1" dirty="0"/>
                  <a:t>Definition</a:t>
                </a:r>
                <a:r>
                  <a:rPr lang="en-US" dirty="0"/>
                  <a:t>: Let </a:t>
                </a:r>
                <a:r>
                  <a:rPr lang="en-US" i="1" dirty="0"/>
                  <a:t>E</a:t>
                </a:r>
                <a:r>
                  <a:rPr lang="en-US" dirty="0"/>
                  <a:t> and </a:t>
                </a:r>
                <a:r>
                  <a:rPr lang="en-US" i="1" dirty="0"/>
                  <a:t>F</a:t>
                </a:r>
                <a:r>
                  <a:rPr lang="en-US" dirty="0"/>
                  <a:t> be events with </a:t>
                </a:r>
                <a:r>
                  <a:rPr lang="en-US" i="1" dirty="0"/>
                  <a:t>p(F) &gt; </a:t>
                </a:r>
                <a:r>
                  <a:rPr lang="en-US" dirty="0">
                    <a:ea typeface="Cambria Math" pitchFamily="18" charset="0"/>
                  </a:rPr>
                  <a:t>0</a:t>
                </a:r>
                <a:r>
                  <a:rPr lang="en-US" dirty="0"/>
                  <a:t>. The </a:t>
                </a:r>
                <a:r>
                  <a:rPr lang="en-US" b="1" dirty="0"/>
                  <a:t>conditional probability</a:t>
                </a:r>
                <a:r>
                  <a:rPr lang="en-US" dirty="0"/>
                  <a:t> of </a:t>
                </a:r>
                <a:r>
                  <a:rPr lang="en-US" i="1" dirty="0"/>
                  <a:t>E</a:t>
                </a:r>
                <a:r>
                  <a:rPr lang="en-US" dirty="0"/>
                  <a:t> given </a:t>
                </a:r>
                <a:r>
                  <a:rPr lang="en-US" i="1" dirty="0"/>
                  <a:t>F</a:t>
                </a:r>
                <a:r>
                  <a:rPr lang="en-US" dirty="0"/>
                  <a:t>, denoted by 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/>
                  <a:t>E</a:t>
                </a:r>
                <a:r>
                  <a:rPr lang="en-US" dirty="0"/>
                  <a:t>|</a:t>
                </a:r>
                <a:r>
                  <a:rPr lang="en-US" i="1" dirty="0"/>
                  <a:t>F</a:t>
                </a:r>
                <a:r>
                  <a:rPr lang="en-US" dirty="0"/>
                  <a:t>), is defined as: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b="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e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fr-CH" b="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b="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It can be interpreted as the probability that </a:t>
                </a:r>
                <a:r>
                  <a:rPr lang="en-US" i="1" dirty="0"/>
                  <a:t>E</a:t>
                </a:r>
                <a:r>
                  <a:rPr lang="en-US" dirty="0"/>
                  <a:t> occurs </a:t>
                </a:r>
                <a:r>
                  <a:rPr lang="en-US" b="1" dirty="0"/>
                  <a:t>given the fact (or knowing) </a:t>
                </a:r>
                <a:r>
                  <a:rPr lang="en-US" dirty="0"/>
                  <a:t>that </a:t>
                </a:r>
                <a:r>
                  <a:rPr lang="en-US" i="1" dirty="0"/>
                  <a:t>F</a:t>
                </a:r>
                <a:r>
                  <a:rPr lang="en-US" dirty="0"/>
                  <a:t> occurs.</a:t>
                </a:r>
              </a:p>
              <a:p>
                <a:endParaRPr lang="en-US" dirty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6863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CA5D-809A-B147-8500-58640054B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4A9B24-372F-2540-B9EB-A1061E9D2E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/>
                  <a:t>When you roll a dice, what’s probability outcome is even? </a:t>
                </a:r>
              </a:p>
              <a:p>
                <a:r>
                  <a:rPr lang="en-GB"/>
                  <a:t>Without any additional knowledge: 3/6 = 1/2</a:t>
                </a:r>
              </a:p>
              <a:p>
                <a:r>
                  <a:rPr lang="en-GB"/>
                  <a:t>If we know that the dice is ≤3 the probability becomes 1/3</a:t>
                </a:r>
              </a:p>
              <a:p>
                <a:pPr marL="0" indent="0">
                  <a:buNone/>
                </a:pPr>
                <a:r>
                  <a:rPr lang="en-GB"/>
                  <a:t>	since </a:t>
                </a:r>
                <a:r>
                  <a:rPr lang="en-GB" i="1"/>
                  <a:t>F </a:t>
                </a:r>
                <a:r>
                  <a:rPr lang="en-GB"/>
                  <a:t>= {1,2,3}</a:t>
                </a:r>
              </a:p>
              <a:p>
                <a:pPr marL="0" indent="0">
                  <a:buNone/>
                </a:pPr>
                <a:r>
                  <a:rPr lang="en-GB" i="1"/>
                  <a:t>	p</a:t>
                </a:r>
                <a:r>
                  <a:rPr lang="en-GB"/>
                  <a:t>(</a:t>
                </a:r>
                <a:r>
                  <a:rPr lang="en-GB" i="1"/>
                  <a:t>F</a:t>
                </a:r>
                <a:r>
                  <a:rPr lang="en-GB"/>
                  <a:t>) = 1/2</a:t>
                </a:r>
              </a:p>
              <a:p>
                <a:pPr marL="0" indent="0">
                  <a:buNone/>
                </a:pPr>
                <a:r>
                  <a:rPr lang="en-GB"/>
                  <a:t>	</a:t>
                </a:r>
                <a:r>
                  <a:rPr lang="en-GB" i="1"/>
                  <a:t>E </a:t>
                </a:r>
                <a:r>
                  <a:rPr lang="en-GB"/>
                  <a:t>= {2,4,6}</a:t>
                </a:r>
              </a:p>
              <a:p>
                <a:pPr marL="0" indent="0">
                  <a:buNone/>
                </a:pPr>
                <a:r>
                  <a:rPr lang="fr-CH"/>
                  <a:t>	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C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GB"/>
              </a:p>
              <a:p>
                <a:pPr marL="0" indent="0">
                  <a:buNone/>
                </a:pPr>
                <a:r>
                  <a:rPr lang="en-GB"/>
                  <a:t>	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/>
                  <a:t>) = 1/6</a:t>
                </a:r>
              </a:p>
              <a:p>
                <a:pPr marL="0" indent="0">
                  <a:buNone/>
                </a:pPr>
                <a:r>
                  <a:rPr lang="en-GB"/>
                  <a:t>	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:r>
                  <a:rPr lang="en-GB" i="1"/>
                  <a:t>E</a:t>
                </a:r>
                <a:r>
                  <a:rPr lang="en-GB"/>
                  <a:t>|</a:t>
                </a:r>
                <a:r>
                  <a:rPr lang="en-GB" i="1"/>
                  <a:t>F</a:t>
                </a:r>
                <a:r>
                  <a:rPr lang="en-GB"/>
                  <a:t>) = 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/>
                  <a:t>)/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:r>
                  <a:rPr lang="en-GB" i="1"/>
                  <a:t>F</a:t>
                </a:r>
                <a:r>
                  <a:rPr lang="en-GB"/>
                  <a:t>) = (1/6)/(1/2) = 1/3 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4A9B24-372F-2540-B9EB-A1061E9D2E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8221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4AE1D-7F55-FC4F-8812-A603C4EE0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98A859-5568-3C45-B332-ADEFB9BBE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/>
                  <a:t>Tossing a coin 6 times. What is probability that the last toss is heads? </a:t>
                </a:r>
              </a:p>
              <a:p>
                <a:r>
                  <a:rPr lang="en-GB"/>
                  <a:t>Without any additional knowledge: 1⁄2 </a:t>
                </a:r>
                <a:endParaRPr lang="en-GB">
                  <a:effectLst/>
                </a:endParaRPr>
              </a:p>
              <a:p>
                <a:r>
                  <a:rPr lang="en-GB"/>
                  <a:t>But given that first five tosses are tails? </a:t>
                </a:r>
              </a:p>
              <a:p>
                <a:pPr marL="0" indent="0">
                  <a:buNone/>
                </a:pPr>
                <a:r>
                  <a:rPr lang="en-GB"/>
                  <a:t>	</a:t>
                </a:r>
                <a:r>
                  <a:rPr lang="en-GB" i="1"/>
                  <a:t>F </a:t>
                </a:r>
                <a:r>
                  <a:rPr lang="en-GB"/>
                  <a:t>= {tttttt,ttttth}</a:t>
                </a:r>
              </a:p>
              <a:p>
                <a:pPr marL="0" indent="0">
                  <a:buNone/>
                </a:pPr>
                <a:r>
                  <a:rPr lang="en-GB"/>
                  <a:t>	</a:t>
                </a:r>
                <a:r>
                  <a:rPr lang="en-GB" i="1"/>
                  <a:t>p(F)</a:t>
                </a:r>
                <a:r>
                  <a:rPr lang="en-GB"/>
                  <a:t> = 2/2^6 = 1/2^5</a:t>
                </a:r>
              </a:p>
              <a:p>
                <a:pPr marL="0" indent="0">
                  <a:buNone/>
                </a:pPr>
                <a:r>
                  <a:rPr lang="en-GB" i="1"/>
                  <a:t>	</a:t>
                </a:r>
                <a14:m>
                  <m:oMath xmlns:m="http://schemas.openxmlformats.org/officeDocument/2006/math">
                    <m:r>
                      <a:rPr lang="fr-CH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CH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H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fr-CH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/>
                  <a:t>= {ttttth}</a:t>
                </a:r>
              </a:p>
              <a:p>
                <a:pPr marL="0" indent="0">
                  <a:buNone/>
                </a:pPr>
                <a:r>
                  <a:rPr lang="en-GB"/>
                  <a:t>	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/>
                  <a:t>) = 1/2^6</a:t>
                </a:r>
              </a:p>
              <a:p>
                <a:pPr marL="0" indent="0">
                  <a:buNone/>
                </a:pPr>
                <a:r>
                  <a:rPr lang="en-GB" i="1"/>
                  <a:t>	p</a:t>
                </a:r>
                <a:r>
                  <a:rPr lang="en-GB"/>
                  <a:t>(</a:t>
                </a:r>
                <a:r>
                  <a:rPr lang="en-GB" i="1"/>
                  <a:t>E</a:t>
                </a:r>
                <a:r>
                  <a:rPr lang="en-GB"/>
                  <a:t>|</a:t>
                </a:r>
                <a:r>
                  <a:rPr lang="en-GB" i="1"/>
                  <a:t>F</a:t>
                </a:r>
                <a:r>
                  <a:rPr lang="en-GB"/>
                  <a:t>) = 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/>
                  <a:t>)/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:r>
                  <a:rPr lang="en-GB" i="1"/>
                  <a:t>F</a:t>
                </a:r>
                <a:r>
                  <a:rPr lang="en-GB"/>
                  <a:t>) =(1/2^6)/ (1/2^5) = 1⁄2 </a:t>
                </a:r>
              </a:p>
              <a:p>
                <a:pPr marL="0" indent="0">
                  <a:buNone/>
                </a:pPr>
                <a:r>
                  <a:rPr lang="en-GB">
                    <a:effectLst/>
                  </a:rPr>
                  <a:t>	</a:t>
                </a:r>
                <a:r>
                  <a:rPr lang="en-GB"/>
                  <a:t>probability remains 1⁄2</a:t>
                </a:r>
                <a:br>
                  <a:rPr lang="en-GB"/>
                </a:br>
                <a:endParaRPr lang="en-GB"/>
              </a:p>
              <a:p>
                <a:pPr marL="0" indent="0">
                  <a:buNone/>
                </a:pPr>
                <a:r>
                  <a:rPr lang="en-GB"/>
                  <a:t>An additional condition </a:t>
                </a:r>
                <a:r>
                  <a:rPr lang="en-GB" b="1"/>
                  <a:t>may or may no</a:t>
                </a:r>
                <a:r>
                  <a:rPr lang="en-GB"/>
                  <a:t>t affect probability!</a:t>
                </a:r>
                <a:endParaRPr lang="en-GB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98A859-5568-3C45-B332-ADEFB9BBE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995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b="1" dirty="0"/>
                  <a:t>Definition</a:t>
                </a:r>
                <a:r>
                  <a:rPr lang="en-US" dirty="0"/>
                  <a:t>: The events </a:t>
                </a:r>
                <a:r>
                  <a:rPr lang="en-US" i="1" dirty="0"/>
                  <a:t>E</a:t>
                </a:r>
                <a:r>
                  <a:rPr lang="en-US" dirty="0"/>
                  <a:t> and </a:t>
                </a:r>
                <a:r>
                  <a:rPr lang="en-US" i="1" dirty="0"/>
                  <a:t>F</a:t>
                </a:r>
                <a:r>
                  <a:rPr lang="en-US" dirty="0"/>
                  <a:t> are </a:t>
                </a:r>
                <a:r>
                  <a:rPr lang="en-US" b="1" dirty="0"/>
                  <a:t>independent</a:t>
                </a:r>
                <a:r>
                  <a:rPr lang="en-US" dirty="0"/>
                  <a:t> if and only if  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b="1" dirty="0"/>
                  <a:t>Theorem 4</a:t>
                </a:r>
                <a:r>
                  <a:rPr lang="en-US" dirty="0"/>
                  <a:t>: If E and F are independent, then 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:r>
                  <a:rPr lang="en-GB" i="1"/>
                  <a:t>E</a:t>
                </a:r>
                <a:r>
                  <a:rPr lang="en-GB"/>
                  <a:t>|</a:t>
                </a:r>
                <a:r>
                  <a:rPr lang="en-GB" i="1"/>
                  <a:t>F</a:t>
                </a:r>
                <a:r>
                  <a:rPr lang="en-GB"/>
                  <a:t>) = 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:r>
                  <a:rPr lang="en-GB" i="1"/>
                  <a:t>E</a:t>
                </a:r>
                <a:r>
                  <a:rPr lang="en-GB"/>
                  <a:t>) </a:t>
                </a:r>
              </a:p>
              <a:p>
                <a:pPr>
                  <a:buNone/>
                </a:pPr>
                <a:endParaRPr lang="en-US" b="1" dirty="0"/>
              </a:p>
              <a:p>
                <a:pPr>
                  <a:buNone/>
                </a:pPr>
                <a:r>
                  <a:rPr lang="en-US" b="1" dirty="0"/>
                  <a:t>Proof</a:t>
                </a:r>
                <a:r>
                  <a:rPr lang="en-US" dirty="0"/>
                  <a:t>:  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:r>
                  <a:rPr lang="en-GB" i="1"/>
                  <a:t>E</a:t>
                </a:r>
                <a:r>
                  <a:rPr lang="en-GB"/>
                  <a:t>|</a:t>
                </a:r>
                <a:r>
                  <a:rPr lang="en-GB" i="1"/>
                  <a:t>F</a:t>
                </a:r>
                <a:r>
                  <a:rPr lang="en-GB"/>
                  <a:t>) = 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14:m>
                  <m:oMath xmlns:m="http://schemas.openxmlformats.org/officeDocument/2006/math">
                    <m:r>
                      <a:rPr lang="fr-CH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H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/>
                  <a:t>)/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:r>
                  <a:rPr lang="en-GB" i="1"/>
                  <a:t>F</a:t>
                </a:r>
                <a:r>
                  <a:rPr lang="en-GB"/>
                  <a:t>) = 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:r>
                  <a:rPr lang="en-GB" i="1"/>
                  <a:t>E</a:t>
                </a:r>
                <a:r>
                  <a:rPr lang="en-GB"/>
                  <a:t>) 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:r>
                  <a:rPr lang="en-GB" i="1"/>
                  <a:t>F</a:t>
                </a:r>
                <a:r>
                  <a:rPr lang="en-GB"/>
                  <a:t>)/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:r>
                  <a:rPr lang="en-GB" i="1"/>
                  <a:t>F</a:t>
                </a:r>
                <a:r>
                  <a:rPr lang="en-GB"/>
                  <a:t>) = 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:r>
                  <a:rPr lang="en-GB" i="1"/>
                  <a:t>E</a:t>
                </a:r>
                <a:r>
                  <a:rPr lang="en-GB"/>
                  <a:t>) </a:t>
                </a:r>
              </a:p>
              <a:p>
                <a:endParaRPr lang="en-US" i="1" dirty="0">
                  <a:latin typeface="Symbol" pitchFamily="18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142509" y="2473037"/>
                <a:ext cx="33909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i="1"/>
                  <a:t>p</a:t>
                </a:r>
                <a:r>
                  <a:rPr lang="en-GB" sz="2800"/>
                  <a:t>(</a:t>
                </a:r>
                <a14:m>
                  <m:oMath xmlns:m="http://schemas.openxmlformats.org/officeDocument/2006/math">
                    <m:r>
                      <a:rPr lang="fr-CH" sz="2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H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 sz="2800"/>
                  <a:t>)</a:t>
                </a:r>
                <a:r>
                  <a:rPr lang="en-US" sz="2800" i="1" dirty="0"/>
                  <a:t> = p(E) p(F)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509" y="2473037"/>
                <a:ext cx="3390900" cy="523220"/>
              </a:xfrm>
              <a:prstGeom prst="rect">
                <a:avLst/>
              </a:prstGeom>
              <a:blipFill>
                <a:blip r:embed="rId3"/>
                <a:stretch>
                  <a:fillRect l="-3358" t="-11905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834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buNone/>
                </a:pPr>
                <a:r>
                  <a:rPr lang="en-US" dirty="0"/>
                  <a:t>Assume that each of the four ways a family can have two children {BB, GG, BG, GB} is equally likely. </a:t>
                </a:r>
              </a:p>
              <a:p>
                <a:pPr>
                  <a:buNone/>
                </a:pPr>
                <a:r>
                  <a:rPr lang="en-US" dirty="0"/>
                  <a:t>Are the events </a:t>
                </a:r>
                <a:r>
                  <a:rPr lang="en-US" i="1" dirty="0"/>
                  <a:t>E</a:t>
                </a:r>
                <a:r>
                  <a:rPr lang="en-US" dirty="0"/>
                  <a:t>, that a family with two children has both girls and boys, and </a:t>
                </a:r>
                <a:r>
                  <a:rPr lang="en-US" i="1" dirty="0"/>
                  <a:t>F</a:t>
                </a:r>
                <a:r>
                  <a:rPr lang="en-US" dirty="0"/>
                  <a:t>, that a family with two children has at most one boy, independent?</a:t>
                </a:r>
              </a:p>
              <a:p>
                <a:r>
                  <a:rPr lang="en-US" i="1" dirty="0"/>
                  <a:t>E</a:t>
                </a:r>
                <a:r>
                  <a:rPr lang="en-US" dirty="0"/>
                  <a:t> = {BG, GB} thus 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/>
                  <a:t>E</a:t>
                </a:r>
                <a:r>
                  <a:rPr lang="en-US" dirty="0"/>
                  <a:t>) = </a:t>
                </a:r>
                <a:r>
                  <a:rPr lang="en-US" dirty="0">
                    <a:ea typeface="Cambria Math" pitchFamily="18" charset="0"/>
                  </a:rPr>
                  <a:t>1/2</a:t>
                </a:r>
                <a:r>
                  <a:rPr lang="en-US" dirty="0"/>
                  <a:t>.</a:t>
                </a:r>
              </a:p>
              <a:p>
                <a:r>
                  <a:rPr lang="en-US" i="1" dirty="0"/>
                  <a:t>F</a:t>
                </a:r>
                <a:r>
                  <a:rPr lang="en-US" dirty="0"/>
                  <a:t> = {GG, BG, GB}, 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/>
                  <a:t>F</a:t>
                </a:r>
                <a:r>
                  <a:rPr lang="en-US" dirty="0"/>
                  <a:t>) = </a:t>
                </a:r>
                <a:r>
                  <a:rPr lang="en-US" dirty="0">
                    <a:ea typeface="Cambria Math" pitchFamily="18" charset="0"/>
                  </a:rPr>
                  <a:t>3/4 </a:t>
                </a:r>
                <a:r>
                  <a:rPr lang="en-US" dirty="0"/>
                  <a:t>and 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/>
                  <a:t>)</a:t>
                </a:r>
                <a:r>
                  <a:rPr lang="en-US" dirty="0">
                    <a:ea typeface="Cambria Math"/>
                  </a:rPr>
                  <a:t> </a:t>
                </a:r>
                <a:r>
                  <a:rPr lang="en-US" dirty="0"/>
                  <a:t>= </a:t>
                </a:r>
                <a:r>
                  <a:rPr lang="en-US" dirty="0">
                    <a:ea typeface="Cambria Math" pitchFamily="18" charset="0"/>
                  </a:rPr>
                  <a:t>1/2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Since 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/>
                  <a:t>E</a:t>
                </a:r>
                <a:r>
                  <a:rPr lang="en-US" dirty="0"/>
                  <a:t>) 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/>
                  <a:t>F</a:t>
                </a:r>
                <a:r>
                  <a:rPr lang="en-US" dirty="0"/>
                  <a:t>) = </a:t>
                </a:r>
                <a:r>
                  <a:rPr lang="en-US" dirty="0">
                    <a:ea typeface="Cambria Math" pitchFamily="18" charset="0"/>
                  </a:rPr>
                  <a:t>3</a:t>
                </a:r>
                <a:r>
                  <a:rPr lang="en-US" dirty="0"/>
                  <a:t>/</a:t>
                </a:r>
                <a:r>
                  <a:rPr lang="en-US" dirty="0">
                    <a:ea typeface="Cambria Math" pitchFamily="18" charset="0"/>
                  </a:rPr>
                  <a:t>8</a:t>
                </a:r>
                <a:r>
                  <a:rPr lang="en-US" dirty="0">
                    <a:ea typeface="Cambria Math"/>
                  </a:rPr>
                  <a:t> ≠</a:t>
                </a:r>
                <a:r>
                  <a:rPr lang="en-US" i="1" dirty="0"/>
                  <a:t> </a:t>
                </a:r>
                <a:r>
                  <a:rPr lang="en-US" dirty="0">
                    <a:ea typeface="Cambria Math" pitchFamily="18" charset="0"/>
                  </a:rPr>
                  <a:t>1/2 </a:t>
                </a:r>
                <a:r>
                  <a:rPr lang="en-US" dirty="0"/>
                  <a:t>=</a:t>
                </a:r>
                <a:r>
                  <a:rPr lang="en-US" i="1" dirty="0"/>
                  <a:t> 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/>
                  <a:t>)</a:t>
                </a:r>
                <a:r>
                  <a:rPr lang="en-US" dirty="0">
                    <a:ea typeface="Cambria Math"/>
                  </a:rPr>
                  <a:t>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the events </a:t>
                </a:r>
                <a:r>
                  <a:rPr lang="en-US" i="1" dirty="0"/>
                  <a:t>E</a:t>
                </a:r>
                <a:r>
                  <a:rPr lang="en-US" dirty="0"/>
                  <a:t> and </a:t>
                </a:r>
                <a:r>
                  <a:rPr lang="en-US" i="1" dirty="0"/>
                  <a:t>F</a:t>
                </a:r>
                <a:r>
                  <a:rPr lang="en-US" dirty="0"/>
                  <a:t> are </a:t>
                </a:r>
                <a:r>
                  <a:rPr lang="en-US" b="1" dirty="0"/>
                  <a:t>not independent</a:t>
                </a:r>
                <a:endParaRPr lang="en-US" dirty="0"/>
              </a:p>
              <a:p>
                <a:pPr>
                  <a:buNone/>
                </a:pPr>
                <a:r>
                  <a:rPr lang="en-US" dirty="0">
                    <a:ea typeface="Cambria Math"/>
                  </a:rPr>
                  <a:t>             </a:t>
                </a:r>
                <a:r>
                  <a:rPr lang="en-US" i="1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023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1D70-E6B1-4A49-B5BA-F40BDE2A9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AE186D-AB76-5643-8AEB-ED38A579FD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buNone/>
                </a:pPr>
                <a:r>
                  <a:rPr lang="en-US" dirty="0"/>
                  <a:t>Assume that each of the 8 ways a family can have three children {BBB, BBG, GGG, GGB, BGB, BGG, GBB, GBG} is equally likely. </a:t>
                </a:r>
              </a:p>
              <a:p>
                <a:pPr>
                  <a:buNone/>
                </a:pPr>
                <a:r>
                  <a:rPr lang="en-US" dirty="0"/>
                  <a:t>Are the events </a:t>
                </a:r>
                <a:r>
                  <a:rPr lang="en-US" i="1" dirty="0"/>
                  <a:t>E</a:t>
                </a:r>
                <a:r>
                  <a:rPr lang="en-US" dirty="0"/>
                  <a:t>, that a family with three children has both girls and boys, and </a:t>
                </a:r>
                <a:r>
                  <a:rPr lang="en-US" i="1" dirty="0"/>
                  <a:t>F</a:t>
                </a:r>
                <a:r>
                  <a:rPr lang="en-US" dirty="0"/>
                  <a:t>, that a family with three children has at most one boy, independent?</a:t>
                </a:r>
              </a:p>
              <a:p>
                <a:r>
                  <a:rPr lang="en-US" i="1" dirty="0"/>
                  <a:t>E</a:t>
                </a:r>
                <a:r>
                  <a:rPr lang="en-US" dirty="0"/>
                  <a:t> = {BBG, GGB, BGB, BGG, GBB, GBG}, 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/>
                  <a:t>E</a:t>
                </a:r>
                <a:r>
                  <a:rPr lang="en-US" dirty="0"/>
                  <a:t>) = </a:t>
                </a:r>
                <a:r>
                  <a:rPr lang="en-US" dirty="0">
                    <a:ea typeface="Cambria Math" pitchFamily="18" charset="0"/>
                  </a:rPr>
                  <a:t>6/8</a:t>
                </a:r>
                <a:r>
                  <a:rPr lang="en-US" dirty="0"/>
                  <a:t>. </a:t>
                </a:r>
              </a:p>
              <a:p>
                <a:r>
                  <a:rPr lang="en-US" i="1" dirty="0"/>
                  <a:t>F</a:t>
                </a:r>
                <a:r>
                  <a:rPr lang="en-US" dirty="0"/>
                  <a:t> = {GGB, BGG, GBG, GGG}, 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/>
                  <a:t>F</a:t>
                </a:r>
                <a:r>
                  <a:rPr lang="en-US" dirty="0"/>
                  <a:t>) = </a:t>
                </a:r>
                <a:r>
                  <a:rPr lang="en-US" dirty="0">
                    <a:ea typeface="Cambria Math" pitchFamily="18" charset="0"/>
                  </a:rPr>
                  <a:t>4/8 </a:t>
                </a:r>
                <a:r>
                  <a:rPr lang="en-US" dirty="0"/>
                  <a:t>and 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/>
                  <a:t>)</a:t>
                </a:r>
                <a:r>
                  <a:rPr lang="en-US" dirty="0"/>
                  <a:t> = </a:t>
                </a:r>
                <a:r>
                  <a:rPr lang="en-US" dirty="0">
                    <a:ea typeface="Cambria Math" pitchFamily="18" charset="0"/>
                  </a:rPr>
                  <a:t>3/8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Since 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/>
                  <a:t>E</a:t>
                </a:r>
                <a:r>
                  <a:rPr lang="en-US" dirty="0"/>
                  <a:t>) 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/>
                  <a:t>F</a:t>
                </a:r>
                <a:r>
                  <a:rPr lang="en-US" dirty="0"/>
                  <a:t>) = </a:t>
                </a:r>
                <a:r>
                  <a:rPr lang="en-US" dirty="0">
                    <a:ea typeface="Cambria Math" pitchFamily="18" charset="0"/>
                  </a:rPr>
                  <a:t>24/64 = 3/8</a:t>
                </a:r>
                <a:r>
                  <a:rPr lang="en-US" dirty="0">
                    <a:ea typeface="Cambria Math"/>
                  </a:rPr>
                  <a:t> </a:t>
                </a:r>
                <a:r>
                  <a:rPr lang="en-US" dirty="0"/>
                  <a:t>=</a:t>
                </a:r>
                <a:r>
                  <a:rPr lang="en-US" i="1" dirty="0"/>
                  <a:t> </a:t>
                </a:r>
                <a:r>
                  <a:rPr lang="en-GB" i="1"/>
                  <a:t>p</a:t>
                </a:r>
                <a:r>
                  <a:rPr lang="en-GB"/>
                  <a:t>(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GB"/>
                  <a:t>)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	the events </a:t>
                </a:r>
                <a:r>
                  <a:rPr lang="en-US" i="1" dirty="0"/>
                  <a:t>E</a:t>
                </a:r>
                <a:r>
                  <a:rPr lang="en-US" dirty="0"/>
                  <a:t> and </a:t>
                </a:r>
                <a:r>
                  <a:rPr lang="en-US" i="1" dirty="0"/>
                  <a:t>F</a:t>
                </a:r>
                <a:r>
                  <a:rPr lang="en-US" dirty="0"/>
                  <a:t> are </a:t>
                </a:r>
                <a:r>
                  <a:rPr lang="en-US" b="1" dirty="0"/>
                  <a:t>independent.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/>
                  <a:t>Intuition on independence of events can be deceiving!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AE186D-AB76-5643-8AEB-ED38A579FD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509" b="-2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2116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Pairwise</a:t>
            </a:r>
            <a:r>
              <a:rPr lang="en-US" dirty="0"/>
              <a:t> and Mutual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Definition</a:t>
            </a:r>
            <a:r>
              <a:rPr lang="en-US" dirty="0"/>
              <a:t>: The events </a:t>
            </a:r>
            <a:r>
              <a:rPr lang="en-US" i="1" dirty="0"/>
              <a:t>E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, …, </a:t>
            </a:r>
            <a:r>
              <a:rPr lang="en-US" i="1" dirty="0"/>
              <a:t>E</a:t>
            </a:r>
            <a:r>
              <a:rPr lang="en-US" i="1" baseline="-25000" dirty="0"/>
              <a:t>n</a:t>
            </a:r>
            <a:r>
              <a:rPr lang="en-US" dirty="0"/>
              <a:t> are </a:t>
            </a:r>
            <a:r>
              <a:rPr lang="en-US" b="1" dirty="0" err="1"/>
              <a:t>pairwise</a:t>
            </a:r>
            <a:r>
              <a:rPr lang="en-US" b="1" dirty="0"/>
              <a:t> independent </a:t>
            </a:r>
            <a:r>
              <a:rPr lang="en-US" dirty="0"/>
              <a:t>if and only if </a:t>
            </a:r>
            <a:r>
              <a:rPr lang="en-US" i="1" dirty="0">
                <a:ea typeface="Cambria Math" pitchFamily="18" charset="0"/>
              </a:rPr>
              <a:t>p</a:t>
            </a:r>
            <a:r>
              <a:rPr lang="en-US" dirty="0">
                <a:ea typeface="Cambria Math" pitchFamily="18" charset="0"/>
              </a:rPr>
              <a:t>(</a:t>
            </a:r>
            <a:r>
              <a:rPr lang="en-US" i="1" dirty="0" err="1"/>
              <a:t>E</a:t>
            </a:r>
            <a:r>
              <a:rPr lang="en-US" i="1" baseline="-25000" dirty="0" err="1"/>
              <a:t>i </a:t>
            </a:r>
            <a:r>
              <a:rPr lang="en-US" dirty="0" err="1">
                <a:ea typeface="Cambria Math"/>
              </a:rPr>
              <a:t>⋂ </a:t>
            </a:r>
            <a:r>
              <a:rPr lang="en-US" i="1" dirty="0" err="1"/>
              <a:t>E</a:t>
            </a:r>
            <a:r>
              <a:rPr lang="en-US" i="1" baseline="-25000" dirty="0" err="1"/>
              <a:t>j</a:t>
            </a:r>
            <a:r>
              <a:rPr lang="en-US" dirty="0">
                <a:ea typeface="Cambria Math" pitchFamily="18" charset="0"/>
              </a:rPr>
              <a:t>) =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 err="1"/>
              <a:t>E</a:t>
            </a:r>
            <a:r>
              <a:rPr lang="en-US" i="1" baseline="-25000" dirty="0" err="1"/>
              <a:t>i</a:t>
            </a:r>
            <a:r>
              <a:rPr lang="en-US" dirty="0"/>
              <a:t>) </a:t>
            </a:r>
            <a:r>
              <a:rPr lang="en-US" i="1" dirty="0"/>
              <a:t>p</a:t>
            </a:r>
            <a:r>
              <a:rPr lang="en-US" dirty="0"/>
              <a:t>(</a:t>
            </a:r>
            <a:r>
              <a:rPr lang="en-US" i="1" dirty="0" err="1"/>
              <a:t>E</a:t>
            </a:r>
            <a:r>
              <a:rPr lang="en-US" i="1" baseline="-25000" dirty="0" err="1"/>
              <a:t>j</a:t>
            </a:r>
            <a:r>
              <a:rPr lang="en-US" dirty="0"/>
              <a:t>) for all pairs </a:t>
            </a:r>
            <a:r>
              <a:rPr lang="en-US" i="1" dirty="0" err="1"/>
              <a:t>i</a:t>
            </a:r>
            <a:r>
              <a:rPr lang="en-US" dirty="0"/>
              <a:t> and </a:t>
            </a:r>
            <a:r>
              <a:rPr lang="en-US" i="1" dirty="0"/>
              <a:t>j</a:t>
            </a:r>
            <a:r>
              <a:rPr lang="en-US" dirty="0"/>
              <a:t> with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>
                <a:ea typeface="Cambria Math"/>
              </a:rPr>
              <a:t>≤</a:t>
            </a:r>
            <a:r>
              <a:rPr lang="en-US" i="1" dirty="0"/>
              <a:t> j </a:t>
            </a:r>
            <a:r>
              <a:rPr lang="en-US" dirty="0">
                <a:ea typeface="Cambria Math"/>
              </a:rPr>
              <a:t>≤ </a:t>
            </a:r>
            <a:r>
              <a:rPr lang="en-US" i="1" dirty="0"/>
              <a:t>n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The events are </a:t>
            </a:r>
            <a:r>
              <a:rPr lang="en-US" b="1" dirty="0"/>
              <a:t>mutually independent </a:t>
            </a:r>
            <a:r>
              <a:rPr lang="en-US" dirty="0"/>
              <a:t>if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    whenever </a:t>
            </a:r>
            <a:r>
              <a:rPr lang="en-US" i="1" dirty="0" err="1"/>
              <a:t>i</a:t>
            </a:r>
            <a:r>
              <a:rPr lang="en-US" i="1" baseline="-25000" dirty="0" err="1"/>
              <a:t>j</a:t>
            </a:r>
            <a:r>
              <a:rPr lang="en-US" dirty="0"/>
              <a:t>, </a:t>
            </a:r>
            <a:r>
              <a:rPr lang="en-US" i="1" dirty="0"/>
              <a:t>j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,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dirty="0"/>
              <a:t>,…., </a:t>
            </a:r>
            <a:r>
              <a:rPr lang="en-US" i="1" dirty="0"/>
              <a:t>m</a:t>
            </a:r>
            <a:r>
              <a:rPr lang="en-US" dirty="0"/>
              <a:t>, are integers with </a:t>
            </a:r>
          </a:p>
          <a:p>
            <a:pPr>
              <a:buNone/>
            </a:pPr>
            <a:r>
              <a:rPr lang="en-US" dirty="0"/>
              <a:t>            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>
                <a:ea typeface="Cambria Math"/>
              </a:rPr>
              <a:t> ≤ </a:t>
            </a:r>
            <a:r>
              <a:rPr lang="en-US" i="1" dirty="0"/>
              <a:t>i</a:t>
            </a:r>
            <a:r>
              <a:rPr lang="en-US" baseline="-25000" dirty="0">
                <a:ea typeface="Cambria Math" pitchFamily="18" charset="0"/>
              </a:rPr>
              <a:t>1 </a:t>
            </a:r>
            <a:r>
              <a:rPr lang="en-US" dirty="0">
                <a:ea typeface="Cambria Math" pitchFamily="18" charset="0"/>
              </a:rPr>
              <a:t> &lt; </a:t>
            </a:r>
            <a:r>
              <a:rPr lang="en-US" i="1" dirty="0"/>
              <a:t>i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>
                <a:ea typeface="Cambria Math" pitchFamily="18" charset="0"/>
              </a:rPr>
              <a:t> &lt;</a:t>
            </a:r>
            <a:r>
              <a:rPr lang="en-US" dirty="0">
                <a:ea typeface="Cambria Math"/>
              </a:rPr>
              <a:t>∙∙∙</a:t>
            </a:r>
            <a:r>
              <a:rPr lang="en-US" dirty="0">
                <a:ea typeface="Cambria Math" pitchFamily="18" charset="0"/>
              </a:rPr>
              <a:t> &lt;</a:t>
            </a:r>
            <a:r>
              <a:rPr lang="en-US" i="1" dirty="0"/>
              <a:t> </a:t>
            </a:r>
            <a:r>
              <a:rPr lang="en-US" i="1" dirty="0" err="1"/>
              <a:t>i</a:t>
            </a:r>
            <a:r>
              <a:rPr lang="en-US" i="1" baseline="-25000" dirty="0" err="1"/>
              <a:t>m</a:t>
            </a:r>
            <a:r>
              <a:rPr lang="en-US" i="1" dirty="0"/>
              <a:t> </a:t>
            </a:r>
            <a:r>
              <a:rPr lang="en-US" dirty="0">
                <a:ea typeface="Cambria Math"/>
              </a:rPr>
              <a:t>≤ </a:t>
            </a:r>
            <a:r>
              <a:rPr lang="en-US" i="1" dirty="0"/>
              <a:t>n</a:t>
            </a:r>
            <a:r>
              <a:rPr lang="en-US" baseline="-25000" dirty="0"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aseline="-25000" dirty="0">
                <a:ea typeface="Cambria Math" pitchFamily="18" charset="0"/>
              </a:rPr>
              <a:t> </a:t>
            </a:r>
            <a:r>
              <a:rPr lang="en-US" dirty="0">
                <a:ea typeface="Cambria Math" pitchFamily="18" charset="0"/>
              </a:rPr>
              <a:t> and </a:t>
            </a:r>
            <a:r>
              <a:rPr lang="en-US" i="1" dirty="0">
                <a:ea typeface="Cambria Math" pitchFamily="18" charset="0"/>
              </a:rPr>
              <a:t>m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dirty="0">
                <a:ea typeface="Cambria Math"/>
              </a:rPr>
              <a:t>≥ 2.</a:t>
            </a:r>
          </a:p>
          <a:p>
            <a:pPr>
              <a:buNone/>
            </a:pPr>
            <a:endParaRPr lang="en-US" baseline="-25000" dirty="0">
              <a:ea typeface="Cambria Math"/>
            </a:endParaRPr>
          </a:p>
          <a:p>
            <a:r>
              <a:rPr lang="en-US" dirty="0"/>
              <a:t>Mutual Independence implies pairwise independence</a:t>
            </a:r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071255" y="3840559"/>
            <a:ext cx="6872288" cy="32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4173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CE375-CC00-1342-933A-A260642B2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EAF83-8BA1-AD40-9251-A3BA7DB9E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Toss a fair coin twice.</a:t>
            </a:r>
          </a:p>
          <a:p>
            <a:pPr marL="457200" lvl="1" indent="0">
              <a:buNone/>
            </a:pPr>
            <a:r>
              <a:rPr lang="en-US"/>
              <a:t>E</a:t>
            </a:r>
            <a:r>
              <a:rPr lang="en-US" baseline="-25000"/>
              <a:t>1</a:t>
            </a:r>
            <a:r>
              <a:rPr lang="en-US"/>
              <a:t> = first toss is 1, p(E</a:t>
            </a:r>
            <a:r>
              <a:rPr lang="en-US" baseline="-25000"/>
              <a:t>1</a:t>
            </a:r>
            <a:r>
              <a:rPr lang="en-US"/>
              <a:t>) = ½ </a:t>
            </a:r>
          </a:p>
          <a:p>
            <a:pPr marL="457200" lvl="1" indent="0">
              <a:buNone/>
            </a:pPr>
            <a:r>
              <a:rPr lang="en-US"/>
              <a:t>E</a:t>
            </a:r>
            <a:r>
              <a:rPr lang="en-US" baseline="-25000"/>
              <a:t>2</a:t>
            </a:r>
            <a:r>
              <a:rPr lang="en-US"/>
              <a:t> = second toss is 1, p(E</a:t>
            </a:r>
            <a:r>
              <a:rPr lang="en-US" baseline="-25000"/>
              <a:t>2</a:t>
            </a:r>
            <a:r>
              <a:rPr lang="en-US"/>
              <a:t>) = ½ </a:t>
            </a:r>
          </a:p>
          <a:p>
            <a:pPr marL="457200" lvl="1" indent="0">
              <a:buNone/>
            </a:pPr>
            <a:r>
              <a:rPr lang="en-US"/>
              <a:t>E</a:t>
            </a:r>
            <a:r>
              <a:rPr lang="en-US" baseline="-25000"/>
              <a:t>3</a:t>
            </a:r>
            <a:r>
              <a:rPr lang="en-US"/>
              <a:t> = the two outcomes are different, p(E</a:t>
            </a:r>
            <a:r>
              <a:rPr lang="en-US" baseline="-25000"/>
              <a:t>3</a:t>
            </a:r>
            <a:r>
              <a:rPr lang="en-US"/>
              <a:t>) = ½</a:t>
            </a:r>
          </a:p>
          <a:p>
            <a:pPr marL="0" indent="0">
              <a:buNone/>
            </a:pPr>
            <a:r>
              <a:rPr lang="en-US"/>
              <a:t>E</a:t>
            </a:r>
            <a:r>
              <a:rPr lang="en-US" baseline="-25000"/>
              <a:t>1</a:t>
            </a:r>
            <a:r>
              <a:rPr lang="en-US"/>
              <a:t>,</a:t>
            </a:r>
            <a:r>
              <a:rPr lang="en-US" dirty="0" err="1">
                <a:ea typeface="Cambria Math"/>
              </a:rPr>
              <a:t> E</a:t>
            </a:r>
            <a:r>
              <a:rPr lang="en-US" baseline="-25000" dirty="0" err="1">
                <a:ea typeface="Cambria Math"/>
              </a:rPr>
              <a:t>2</a:t>
            </a:r>
            <a:r>
              <a:rPr lang="en-US" dirty="0" err="1">
                <a:ea typeface="Cambria Math"/>
              </a:rPr>
              <a:t>, E</a:t>
            </a:r>
            <a:r>
              <a:rPr lang="en-US" baseline="-25000" dirty="0" err="1">
                <a:ea typeface="Cambria Math"/>
              </a:rPr>
              <a:t>3</a:t>
            </a:r>
            <a:r>
              <a:rPr lang="en-US" dirty="0" err="1">
                <a:ea typeface="Cambria Math"/>
              </a:rPr>
              <a:t> are pairwise independent, e.g. p(</a:t>
            </a:r>
            <a:r>
              <a:rPr lang="en-US"/>
              <a:t>E</a:t>
            </a:r>
            <a:r>
              <a:rPr lang="en-US" baseline="-25000"/>
              <a:t>1</a:t>
            </a:r>
            <a:r>
              <a:rPr lang="en-US"/>
              <a:t> </a:t>
            </a:r>
            <a:r>
              <a:rPr lang="en-US" dirty="0" err="1">
                <a:ea typeface="Cambria Math"/>
              </a:rPr>
              <a:t>⋂ E</a:t>
            </a:r>
            <a:r>
              <a:rPr lang="en-US" baseline="-25000" dirty="0" err="1">
                <a:ea typeface="Cambria Math"/>
              </a:rPr>
              <a:t>3</a:t>
            </a:r>
            <a:r>
              <a:rPr lang="en-US" dirty="0" err="1">
                <a:ea typeface="Cambria Math"/>
              </a:rPr>
              <a:t>) = ¼ = p(E</a:t>
            </a:r>
            <a:r>
              <a:rPr lang="en-US" baseline="-25000" dirty="0" err="1">
                <a:ea typeface="Cambria Math"/>
              </a:rPr>
              <a:t>1</a:t>
            </a:r>
            <a:r>
              <a:rPr lang="en-US" dirty="0" err="1">
                <a:ea typeface="Cambria Math"/>
              </a:rPr>
              <a:t>) p(E</a:t>
            </a:r>
            <a:r>
              <a:rPr lang="en-US" baseline="-25000" dirty="0" err="1">
                <a:ea typeface="Cambria Math"/>
              </a:rPr>
              <a:t>3</a:t>
            </a:r>
            <a:r>
              <a:rPr lang="en-US" dirty="0" err="1">
                <a:ea typeface="Cambria Math"/>
              </a:rPr>
              <a:t>) </a:t>
            </a:r>
            <a:endParaRPr lang="en-US"/>
          </a:p>
          <a:p>
            <a:pPr marL="0" indent="0">
              <a:buNone/>
            </a:pPr>
            <a:r>
              <a:rPr lang="en-US"/>
              <a:t>But p(E</a:t>
            </a:r>
            <a:r>
              <a:rPr lang="en-US" baseline="-25000"/>
              <a:t>1</a:t>
            </a:r>
            <a:r>
              <a:rPr lang="en-US"/>
              <a:t> </a:t>
            </a:r>
            <a:r>
              <a:rPr lang="en-US" dirty="0" err="1">
                <a:ea typeface="Cambria Math"/>
              </a:rPr>
              <a:t>⋂ E</a:t>
            </a:r>
            <a:r>
              <a:rPr lang="en-US" baseline="-25000" dirty="0" err="1">
                <a:ea typeface="Cambria Math"/>
              </a:rPr>
              <a:t>2</a:t>
            </a:r>
            <a:r>
              <a:rPr lang="en-US" dirty="0" err="1">
                <a:ea typeface="Cambria Math"/>
              </a:rPr>
              <a:t> ⋂ E</a:t>
            </a:r>
            <a:r>
              <a:rPr lang="en-US" baseline="-25000" dirty="0" err="1">
                <a:ea typeface="Cambria Math"/>
              </a:rPr>
              <a:t>3</a:t>
            </a:r>
            <a:r>
              <a:rPr lang="en-US" dirty="0" err="1">
                <a:ea typeface="Cambria Math"/>
              </a:rPr>
              <a:t>) = 0 ≠ p(E</a:t>
            </a:r>
            <a:r>
              <a:rPr lang="en-US" baseline="-25000" dirty="0" err="1">
                <a:ea typeface="Cambria Math"/>
              </a:rPr>
              <a:t>1</a:t>
            </a:r>
            <a:r>
              <a:rPr lang="en-US" dirty="0" err="1">
                <a:ea typeface="Cambria Math"/>
              </a:rPr>
              <a:t>) p(E</a:t>
            </a:r>
            <a:r>
              <a:rPr lang="en-US" baseline="-25000" dirty="0" err="1">
                <a:ea typeface="Cambria Math"/>
              </a:rPr>
              <a:t>2</a:t>
            </a:r>
            <a:r>
              <a:rPr lang="en-US" dirty="0" err="1">
                <a:ea typeface="Cambria Math"/>
              </a:rPr>
              <a:t>) p(E</a:t>
            </a:r>
            <a:r>
              <a:rPr lang="en-US" baseline="-25000" dirty="0" err="1">
                <a:ea typeface="Cambria Math"/>
              </a:rPr>
              <a:t>3</a:t>
            </a:r>
            <a:r>
              <a:rPr lang="en-US" dirty="0" err="1">
                <a:ea typeface="Cambria Math"/>
              </a:rPr>
              <a:t>) = 1/8</a:t>
            </a:r>
            <a:endParaRPr lang="en-US"/>
          </a:p>
          <a:p>
            <a:endParaRPr lang="en-US"/>
          </a:p>
          <a:p>
            <a:r>
              <a:rPr lang="en-US"/>
              <a:t>Pairwise independence does not imply mutual independence!</a:t>
            </a:r>
          </a:p>
        </p:txBody>
      </p:sp>
    </p:spTree>
    <p:extLst>
      <p:ext uri="{BB962C8B-B14F-4D97-AF65-F5344CB8AC3E}">
        <p14:creationId xmlns:p14="http://schemas.microsoft.com/office/powerpoint/2010/main" val="2412200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DA6B-A147-7C48-9449-17ADC27B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5EC00-B003-464E-909C-5E8445B13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Conditional Probability</a:t>
            </a:r>
          </a:p>
          <a:p>
            <a:r>
              <a:rPr lang="en-US"/>
              <a:t>Independence</a:t>
            </a:r>
          </a:p>
          <a:p>
            <a:pPr lvl="1"/>
            <a:r>
              <a:rPr lang="en-US"/>
              <a:t>Independence of two events</a:t>
            </a:r>
          </a:p>
          <a:p>
            <a:pPr lvl="1"/>
            <a:r>
              <a:rPr lang="en-US"/>
              <a:t>Independence of multiple events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477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0DD48-5C3E-3E4F-B23E-24006DCDE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 77: Bernoulli Trials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9A107-720A-FA43-AC50-8B3980C11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Bernoulli trials</a:t>
            </a:r>
          </a:p>
          <a:p>
            <a:r>
              <a:rPr lang="en-US"/>
              <a:t>Binomial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38374075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B913C-B81D-6840-9C46-6CA31E552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227E-6DF8-C349-88DD-255699FD9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 coin is biased so that the probability of heads is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dirty="0"/>
              <a:t>/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What is the probability that exactly four heads occur when the coin is flipped seven times?</a:t>
            </a:r>
          </a:p>
          <a:p>
            <a:r>
              <a:rPr lang="en-US" dirty="0"/>
              <a:t>There are </a:t>
            </a:r>
            <a:r>
              <a:rPr lang="en-US" dirty="0">
                <a:ea typeface="Cambria Math" pitchFamily="18" charset="0"/>
              </a:rPr>
              <a:t>2</a:t>
            </a:r>
            <a:r>
              <a:rPr lang="en-US" baseline="30000" dirty="0">
                <a:ea typeface="Cambria Math" pitchFamily="18" charset="0"/>
              </a:rPr>
              <a:t>7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dirty="0"/>
              <a:t>= </a:t>
            </a:r>
            <a:r>
              <a:rPr lang="en-US" dirty="0">
                <a:ea typeface="Cambria Math" pitchFamily="18" charset="0"/>
              </a:rPr>
              <a:t>128</a:t>
            </a:r>
            <a:r>
              <a:rPr lang="en-US" dirty="0"/>
              <a:t> possible outcomes. </a:t>
            </a:r>
          </a:p>
          <a:p>
            <a:r>
              <a:rPr lang="en-US" dirty="0"/>
              <a:t>The number of ways four of the seven flips can be heads is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7</a:t>
            </a:r>
            <a:r>
              <a:rPr lang="en-US" dirty="0"/>
              <a:t>, </a:t>
            </a:r>
            <a:r>
              <a:rPr lang="en-US" dirty="0">
                <a:ea typeface="Cambria Math" pitchFamily="18" charset="0"/>
              </a:rPr>
              <a:t>4</a:t>
            </a:r>
            <a:r>
              <a:rPr lang="en-US" dirty="0"/>
              <a:t>). </a:t>
            </a:r>
          </a:p>
          <a:p>
            <a:r>
              <a:rPr lang="en-US" dirty="0"/>
              <a:t>The probability of each of the outcomes is (2/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dirty="0"/>
              <a:t>)</a:t>
            </a:r>
            <a:r>
              <a:rPr lang="en-US" baseline="30000" dirty="0">
                <a:ea typeface="Cambria Math" pitchFamily="18" charset="0"/>
              </a:rPr>
              <a:t>4 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/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dirty="0"/>
              <a:t>)</a:t>
            </a:r>
            <a:r>
              <a:rPr lang="en-US" baseline="30000" dirty="0">
                <a:ea typeface="Cambria Math" pitchFamily="18" charset="0"/>
              </a:rPr>
              <a:t>3</a:t>
            </a:r>
            <a:r>
              <a:rPr lang="en-US" dirty="0"/>
              <a:t> since the seven flips are independent. </a:t>
            </a:r>
          </a:p>
          <a:p>
            <a:r>
              <a:rPr lang="en-US" dirty="0"/>
              <a:t>Hence, the probability that exactly four heads occur is   </a:t>
            </a:r>
          </a:p>
          <a:p>
            <a:pPr>
              <a:buNone/>
            </a:pPr>
            <a:r>
              <a:rPr lang="en-US" dirty="0"/>
              <a:t>             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7</a:t>
            </a:r>
            <a:r>
              <a:rPr lang="en-US" dirty="0"/>
              <a:t>,</a:t>
            </a:r>
            <a:r>
              <a:rPr lang="en-US" dirty="0">
                <a:ea typeface="Cambria Math" pitchFamily="18" charset="0"/>
              </a:rPr>
              <a:t>4</a:t>
            </a:r>
            <a:r>
              <a:rPr lang="en-US" dirty="0"/>
              <a:t>) (2/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dirty="0"/>
              <a:t>)</a:t>
            </a:r>
            <a:r>
              <a:rPr lang="en-US" baseline="30000" dirty="0">
                <a:ea typeface="Cambria Math" pitchFamily="18" charset="0"/>
              </a:rPr>
              <a:t>4 </a:t>
            </a:r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/</a:t>
            </a:r>
            <a:r>
              <a:rPr lang="en-US" dirty="0">
                <a:ea typeface="Cambria Math" pitchFamily="18" charset="0"/>
              </a:rPr>
              <a:t>3</a:t>
            </a:r>
            <a:r>
              <a:rPr lang="en-US" dirty="0"/>
              <a:t>)</a:t>
            </a:r>
            <a:r>
              <a:rPr lang="en-US" baseline="30000" dirty="0">
                <a:ea typeface="Cambria Math" pitchFamily="18" charset="0"/>
              </a:rPr>
              <a:t>3</a:t>
            </a:r>
            <a:r>
              <a:rPr lang="en-US" dirty="0"/>
              <a:t> =  (</a:t>
            </a:r>
            <a:r>
              <a:rPr lang="en-US" dirty="0">
                <a:ea typeface="Cambria Math" pitchFamily="18" charset="0"/>
              </a:rPr>
              <a:t>35</a:t>
            </a:r>
            <a:r>
              <a:rPr lang="en-US" dirty="0">
                <a:ea typeface="Cambria Math"/>
              </a:rPr>
              <a:t>∙</a:t>
            </a:r>
            <a:r>
              <a:rPr lang="en-US" dirty="0">
                <a:ea typeface="Cambria Math" pitchFamily="18" charset="0"/>
              </a:rPr>
              <a:t> 16)/2</a:t>
            </a:r>
            <a:r>
              <a:rPr lang="en-US" baseline="30000" dirty="0">
                <a:ea typeface="Cambria Math" pitchFamily="18" charset="0"/>
              </a:rPr>
              <a:t>7</a:t>
            </a:r>
            <a:r>
              <a:rPr lang="en-US" dirty="0"/>
              <a:t> =  </a:t>
            </a:r>
            <a:r>
              <a:rPr lang="en-US" dirty="0">
                <a:ea typeface="Cambria Math" pitchFamily="18" charset="0"/>
              </a:rPr>
              <a:t>560/2187</a:t>
            </a:r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835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Bernoulli Trials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23782" y="517526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James Bernoulli</a:t>
            </a:r>
          </a:p>
          <a:p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1854 </a:t>
            </a:r>
            <a:r>
              <a:rPr lang="en-US" dirty="0"/>
              <a:t>– </a:t>
            </a:r>
            <a:r>
              <a:rPr lang="en-US" dirty="0">
                <a:ea typeface="Cambria Math" pitchFamily="18" charset="0"/>
              </a:rPr>
              <a:t>1705</a:t>
            </a:r>
            <a:r>
              <a:rPr lang="en-US" dirty="0"/>
              <a:t>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Definition</a:t>
            </a:r>
            <a:r>
              <a:rPr lang="en-US" dirty="0"/>
              <a:t>: Given an experiment that can have only two possible outcomes.</a:t>
            </a:r>
          </a:p>
          <a:p>
            <a:pPr lvl="1"/>
            <a:r>
              <a:rPr lang="en-US" sz="2800" dirty="0"/>
              <a:t>Each performance of the experiment is called a </a:t>
            </a:r>
            <a:r>
              <a:rPr lang="en-US" sz="2800" b="1" dirty="0"/>
              <a:t>Bernoulli trial</a:t>
            </a:r>
            <a:r>
              <a:rPr lang="en-US" sz="2800" dirty="0"/>
              <a:t>. </a:t>
            </a:r>
          </a:p>
          <a:p>
            <a:pPr lvl="1"/>
            <a:r>
              <a:rPr lang="en-US" sz="2800" dirty="0"/>
              <a:t>One outcome is called a </a:t>
            </a:r>
            <a:r>
              <a:rPr lang="en-US" sz="2800" b="1" dirty="0"/>
              <a:t>success</a:t>
            </a:r>
            <a:r>
              <a:rPr lang="en-US" sz="2800" dirty="0"/>
              <a:t> and the other a </a:t>
            </a:r>
            <a:r>
              <a:rPr lang="en-US" sz="2800" b="1" dirty="0"/>
              <a:t>failure</a:t>
            </a:r>
            <a:r>
              <a:rPr lang="en-US" sz="2800" dirty="0"/>
              <a:t>. </a:t>
            </a:r>
          </a:p>
          <a:p>
            <a:pPr lvl="1"/>
            <a:r>
              <a:rPr lang="en-US" sz="2800" dirty="0"/>
              <a:t>If </a:t>
            </a:r>
            <a:r>
              <a:rPr lang="en-US" sz="2800" i="1" dirty="0"/>
              <a:t>p</a:t>
            </a:r>
            <a:r>
              <a:rPr lang="en-US" sz="2800" dirty="0"/>
              <a:t> is the probability of success and </a:t>
            </a:r>
            <a:r>
              <a:rPr lang="en-US" sz="2800" i="1" dirty="0"/>
              <a:t>q </a:t>
            </a:r>
            <a:r>
              <a:rPr lang="en-US" sz="2800" dirty="0"/>
              <a:t>the probability of failure, then </a:t>
            </a:r>
            <a:r>
              <a:rPr lang="en-US" sz="2800" i="1" dirty="0"/>
              <a:t>p</a:t>
            </a:r>
            <a:r>
              <a:rPr lang="en-US" sz="2800" dirty="0"/>
              <a:t> + </a:t>
            </a:r>
            <a:r>
              <a:rPr lang="en-US" sz="2800" i="1" dirty="0"/>
              <a:t>q</a:t>
            </a:r>
            <a:r>
              <a:rPr lang="en-US" sz="2800" dirty="0"/>
              <a:t> = </a:t>
            </a:r>
            <a:r>
              <a:rPr lang="en-US" sz="28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800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Frequent question</a:t>
            </a:r>
            <a:r>
              <a:rPr lang="en-US" dirty="0"/>
              <a:t>: determine the probability of </a:t>
            </a:r>
            <a:r>
              <a:rPr lang="en-US" i="1" dirty="0"/>
              <a:t>k</a:t>
            </a:r>
            <a:r>
              <a:rPr lang="en-US" dirty="0"/>
              <a:t> successes when an experiment consists of </a:t>
            </a:r>
            <a:r>
              <a:rPr lang="en-US" i="1" dirty="0"/>
              <a:t>n</a:t>
            </a:r>
            <a:r>
              <a:rPr lang="en-US" dirty="0"/>
              <a:t> mutually independent Bernoulli trials.</a:t>
            </a:r>
          </a:p>
        </p:txBody>
      </p:sp>
      <p:pic>
        <p:nvPicPr>
          <p:cNvPr id="7" name="Content Placeholder 3" descr="06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04982" y="365125"/>
            <a:ext cx="897636" cy="103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393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Independent Bernoulli Trials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Theorem 5</a:t>
            </a:r>
            <a:r>
              <a:rPr lang="en-US" dirty="0"/>
              <a:t>: The probability of exactly </a:t>
            </a:r>
            <a:r>
              <a:rPr lang="en-US" i="1" dirty="0"/>
              <a:t>k</a:t>
            </a:r>
            <a:r>
              <a:rPr lang="en-US" dirty="0"/>
              <a:t> successes in </a:t>
            </a:r>
            <a:r>
              <a:rPr lang="en-US" i="1" dirty="0"/>
              <a:t>n</a:t>
            </a:r>
            <a:r>
              <a:rPr lang="en-US" dirty="0"/>
              <a:t> independent Bernoulli trials, with probability of success </a:t>
            </a:r>
            <a:r>
              <a:rPr lang="en-US" i="1" dirty="0"/>
              <a:t>p</a:t>
            </a:r>
            <a:r>
              <a:rPr lang="en-US" dirty="0"/>
              <a:t> and probability of failure </a:t>
            </a:r>
            <a:r>
              <a:rPr lang="en-US" i="1" dirty="0"/>
              <a:t>q</a:t>
            </a:r>
            <a:r>
              <a:rPr lang="en-US" dirty="0"/>
              <a:t> = </a:t>
            </a:r>
            <a:r>
              <a:rPr lang="en-US" dirty="0">
                <a:ea typeface="Cambria Math" pitchFamily="18" charset="0"/>
              </a:rPr>
              <a:t>1</a:t>
            </a:r>
            <a:r>
              <a:rPr lang="en-US" dirty="0"/>
              <a:t> </a:t>
            </a:r>
            <a:r>
              <a:rPr lang="en-US" dirty="0">
                <a:ea typeface="Cambria Math"/>
              </a:rPr>
              <a:t>− </a:t>
            </a:r>
            <a:r>
              <a:rPr lang="en-US" i="1" dirty="0"/>
              <a:t>p</a:t>
            </a:r>
            <a:r>
              <a:rPr lang="en-US" dirty="0"/>
              <a:t>, is</a:t>
            </a:r>
          </a:p>
          <a:p>
            <a:pPr>
              <a:buNone/>
            </a:pPr>
            <a:r>
              <a:rPr lang="en-US" dirty="0"/>
              <a:t>                       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 err="1"/>
              <a:t>n</a:t>
            </a:r>
            <a:r>
              <a:rPr lang="en-US" dirty="0" err="1"/>
              <a:t>,</a:t>
            </a:r>
            <a:r>
              <a:rPr lang="en-US" i="1" dirty="0" err="1"/>
              <a:t>k</a:t>
            </a:r>
            <a:r>
              <a:rPr lang="en-US" dirty="0"/>
              <a:t>) </a:t>
            </a:r>
            <a:r>
              <a:rPr lang="en-US" i="1" dirty="0" err="1"/>
              <a:t>p</a:t>
            </a:r>
            <a:r>
              <a:rPr lang="en-US" i="1" baseline="30000" dirty="0" err="1"/>
              <a:t>k </a:t>
            </a:r>
            <a:r>
              <a:rPr lang="en-US" i="1" dirty="0" err="1"/>
              <a:t>q</a:t>
            </a:r>
            <a:r>
              <a:rPr lang="en-US" i="1" baseline="30000" dirty="0" err="1"/>
              <a:t>n</a:t>
            </a:r>
            <a:r>
              <a:rPr lang="en-US" baseline="30000" dirty="0">
                <a:ea typeface="Cambria Math"/>
              </a:rPr>
              <a:t>−</a:t>
            </a:r>
            <a:r>
              <a:rPr lang="en-US" i="1" baseline="30000" dirty="0">
                <a:ea typeface="Cambria Math"/>
              </a:rPr>
              <a:t>k</a:t>
            </a:r>
            <a:r>
              <a:rPr lang="en-US" i="1" dirty="0">
                <a:ea typeface="Cambria Math"/>
              </a:rPr>
              <a:t>.</a:t>
            </a:r>
            <a:endParaRPr lang="en-US" i="1" dirty="0"/>
          </a:p>
          <a:p>
            <a:pPr>
              <a:buNone/>
            </a:pPr>
            <a:r>
              <a:rPr lang="en-US" b="1" dirty="0"/>
              <a:t>Proof</a:t>
            </a:r>
            <a:r>
              <a:rPr lang="en-US" dirty="0"/>
              <a:t>: The outcome of </a:t>
            </a:r>
            <a:r>
              <a:rPr lang="en-US" i="1" dirty="0"/>
              <a:t>n</a:t>
            </a:r>
            <a:r>
              <a:rPr lang="en-US" dirty="0"/>
              <a:t> Bernoulli trials is an </a:t>
            </a:r>
            <a:r>
              <a:rPr lang="en-US" i="1" dirty="0"/>
              <a:t>n</a:t>
            </a:r>
            <a:r>
              <a:rPr lang="en-US" dirty="0"/>
              <a:t>-</a:t>
            </a:r>
            <a:r>
              <a:rPr lang="en-US" dirty="0" err="1"/>
              <a:t>tuple</a:t>
            </a:r>
            <a:r>
              <a:rPr lang="en-US" dirty="0"/>
              <a:t> (</a:t>
            </a:r>
            <a:r>
              <a:rPr lang="en-US" i="1" dirty="0"/>
              <a:t>t</a:t>
            </a:r>
            <a:r>
              <a:rPr lang="en-US" baseline="-25000" dirty="0">
                <a:ea typeface="Cambria Math" pitchFamily="18" charset="0"/>
              </a:rPr>
              <a:t>1</a:t>
            </a:r>
            <a:r>
              <a:rPr lang="en-US" dirty="0"/>
              <a:t>,</a:t>
            </a:r>
            <a:r>
              <a:rPr lang="en-US" i="1" dirty="0"/>
              <a:t>t</a:t>
            </a:r>
            <a:r>
              <a:rPr lang="en-US" baseline="-25000" dirty="0">
                <a:ea typeface="Cambria Math" pitchFamily="18" charset="0"/>
              </a:rPr>
              <a:t>2</a:t>
            </a:r>
            <a:r>
              <a:rPr lang="en-US" dirty="0"/>
              <a:t>,…,</a:t>
            </a:r>
            <a:r>
              <a:rPr lang="en-US" i="1" dirty="0" err="1"/>
              <a:t>t</a:t>
            </a:r>
            <a:r>
              <a:rPr lang="en-US" i="1" baseline="-25000" dirty="0" err="1"/>
              <a:t>n</a:t>
            </a:r>
            <a:r>
              <a:rPr lang="en-US" dirty="0"/>
              <a:t>), where each is</a:t>
            </a:r>
            <a:r>
              <a:rPr lang="en-US" i="1" dirty="0"/>
              <a:t> </a:t>
            </a:r>
            <a:r>
              <a:rPr lang="en-US" i="1" dirty="0" err="1"/>
              <a:t>t</a:t>
            </a:r>
            <a:r>
              <a:rPr lang="en-US" i="1" baseline="-25000" dirty="0" err="1"/>
              <a:t>i</a:t>
            </a:r>
            <a:r>
              <a:rPr lang="en-US" dirty="0"/>
              <a:t> either </a:t>
            </a:r>
            <a:r>
              <a:rPr lang="en-US" i="1" dirty="0"/>
              <a:t>S</a:t>
            </a:r>
            <a:r>
              <a:rPr lang="en-US" dirty="0"/>
              <a:t> (success) or </a:t>
            </a:r>
            <a:r>
              <a:rPr lang="en-US" i="1" dirty="0"/>
              <a:t>F</a:t>
            </a:r>
            <a:r>
              <a:rPr lang="en-US" dirty="0"/>
              <a:t> (failure). </a:t>
            </a:r>
          </a:p>
          <a:p>
            <a:pPr>
              <a:buNone/>
            </a:pPr>
            <a:r>
              <a:rPr lang="en-US" dirty="0"/>
              <a:t>The probability of each outcome of </a:t>
            </a:r>
            <a:r>
              <a:rPr lang="en-US" i="1" dirty="0"/>
              <a:t>n </a:t>
            </a:r>
            <a:r>
              <a:rPr lang="en-US" dirty="0"/>
              <a:t>trials consisting of </a:t>
            </a:r>
            <a:r>
              <a:rPr lang="en-US" i="1" dirty="0"/>
              <a:t>k</a:t>
            </a:r>
            <a:r>
              <a:rPr lang="en-US" dirty="0"/>
              <a:t> successes and </a:t>
            </a:r>
            <a:r>
              <a:rPr lang="en-US" i="1" dirty="0"/>
              <a:t>n - k</a:t>
            </a:r>
            <a:r>
              <a:rPr lang="en-US" dirty="0"/>
              <a:t> failures (in any order) is </a:t>
            </a:r>
            <a:r>
              <a:rPr lang="en-US" i="1" dirty="0" err="1"/>
              <a:t>p</a:t>
            </a:r>
            <a:r>
              <a:rPr lang="en-US" i="1" baseline="30000" dirty="0" err="1"/>
              <a:t>k </a:t>
            </a:r>
            <a:r>
              <a:rPr lang="en-US" i="1" dirty="0" err="1"/>
              <a:t>q</a:t>
            </a:r>
            <a:r>
              <a:rPr lang="en-US" i="1" baseline="30000" dirty="0" err="1"/>
              <a:t>n</a:t>
            </a:r>
            <a:r>
              <a:rPr lang="en-US" baseline="30000" dirty="0">
                <a:ea typeface="Cambria Math"/>
              </a:rPr>
              <a:t>−</a:t>
            </a:r>
            <a:r>
              <a:rPr lang="en-US" i="1" baseline="30000" dirty="0">
                <a:ea typeface="Cambria Math"/>
              </a:rPr>
              <a:t>k</a:t>
            </a:r>
            <a:r>
              <a:rPr lang="en-US" i="1" dirty="0">
                <a:ea typeface="Cambria Math"/>
              </a:rPr>
              <a:t>. </a:t>
            </a:r>
          </a:p>
          <a:p>
            <a:pPr>
              <a:buNone/>
            </a:pPr>
            <a:r>
              <a:rPr lang="en-US" dirty="0">
                <a:ea typeface="Cambria Math"/>
              </a:rPr>
              <a:t>Because there are </a:t>
            </a:r>
            <a:r>
              <a:rPr lang="en-US" i="1" dirty="0">
                <a:ea typeface="Cambria Math"/>
              </a:rPr>
              <a:t>C</a:t>
            </a:r>
            <a:r>
              <a:rPr lang="en-US" dirty="0">
                <a:ea typeface="Cambria Math"/>
              </a:rPr>
              <a:t>(</a:t>
            </a:r>
            <a:r>
              <a:rPr lang="en-US" i="1" dirty="0" err="1">
                <a:ea typeface="Cambria Math"/>
              </a:rPr>
              <a:t>n</a:t>
            </a:r>
            <a:r>
              <a:rPr lang="en-US" dirty="0" err="1">
                <a:ea typeface="Cambria Math"/>
              </a:rPr>
              <a:t>,</a:t>
            </a:r>
            <a:r>
              <a:rPr lang="en-US" i="1" dirty="0" err="1">
                <a:ea typeface="Cambria Math"/>
              </a:rPr>
              <a:t>k</a:t>
            </a:r>
            <a:r>
              <a:rPr lang="en-US" dirty="0">
                <a:ea typeface="Cambria Math"/>
              </a:rPr>
              <a:t>) </a:t>
            </a:r>
            <a:r>
              <a:rPr lang="en-US" i="1" dirty="0">
                <a:ea typeface="Cambria Math"/>
              </a:rPr>
              <a:t>n</a:t>
            </a:r>
            <a:r>
              <a:rPr lang="en-US" dirty="0">
                <a:ea typeface="Cambria Math"/>
              </a:rPr>
              <a:t>-</a:t>
            </a:r>
            <a:r>
              <a:rPr lang="en-US" dirty="0" err="1">
                <a:ea typeface="Cambria Math"/>
              </a:rPr>
              <a:t>tuples</a:t>
            </a:r>
            <a:r>
              <a:rPr lang="en-US" dirty="0">
                <a:ea typeface="Cambria Math"/>
              </a:rPr>
              <a:t> of </a:t>
            </a:r>
            <a:r>
              <a:rPr lang="en-US" i="1" dirty="0">
                <a:ea typeface="Cambria Math"/>
              </a:rPr>
              <a:t>S</a:t>
            </a:r>
            <a:r>
              <a:rPr lang="en-US" dirty="0">
                <a:ea typeface="Cambria Math"/>
              </a:rPr>
              <a:t>s and </a:t>
            </a:r>
            <a:r>
              <a:rPr lang="en-US" i="1" dirty="0">
                <a:ea typeface="Cambria Math"/>
              </a:rPr>
              <a:t>F</a:t>
            </a:r>
            <a:r>
              <a:rPr lang="en-US" dirty="0">
                <a:ea typeface="Cambria Math"/>
              </a:rPr>
              <a:t>s that contain exactly </a:t>
            </a:r>
            <a:r>
              <a:rPr lang="en-US" i="1" dirty="0">
                <a:ea typeface="Cambria Math"/>
              </a:rPr>
              <a:t>k S</a:t>
            </a:r>
            <a:r>
              <a:rPr lang="en-US" dirty="0">
                <a:ea typeface="Cambria Math"/>
              </a:rPr>
              <a:t>s, the probability of </a:t>
            </a:r>
            <a:r>
              <a:rPr lang="en-US" i="1" dirty="0">
                <a:ea typeface="Cambria Math"/>
              </a:rPr>
              <a:t>k</a:t>
            </a:r>
            <a:r>
              <a:rPr lang="en-US" dirty="0">
                <a:ea typeface="Cambria Math"/>
              </a:rPr>
              <a:t> successes is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 err="1"/>
              <a:t>n</a:t>
            </a:r>
            <a:r>
              <a:rPr lang="en-US" dirty="0" err="1"/>
              <a:t>,</a:t>
            </a:r>
            <a:r>
              <a:rPr lang="en-US" i="1" dirty="0" err="1"/>
              <a:t>k</a:t>
            </a:r>
            <a:r>
              <a:rPr lang="en-US" dirty="0"/>
              <a:t>) </a:t>
            </a:r>
            <a:r>
              <a:rPr lang="en-US" i="1" dirty="0" err="1"/>
              <a:t>p</a:t>
            </a:r>
            <a:r>
              <a:rPr lang="en-US" i="1" baseline="30000" dirty="0" err="1"/>
              <a:t>k </a:t>
            </a:r>
            <a:r>
              <a:rPr lang="en-US" i="1" dirty="0" err="1"/>
              <a:t>q</a:t>
            </a:r>
            <a:r>
              <a:rPr lang="en-US" i="1" baseline="30000" dirty="0" err="1"/>
              <a:t>n</a:t>
            </a:r>
            <a:r>
              <a:rPr lang="en-US" baseline="30000" dirty="0">
                <a:ea typeface="Cambria Math"/>
              </a:rPr>
              <a:t>−</a:t>
            </a:r>
            <a:r>
              <a:rPr lang="en-US" i="1" baseline="30000" dirty="0">
                <a:ea typeface="Cambria Math"/>
              </a:rPr>
              <a:t>k</a:t>
            </a:r>
            <a:r>
              <a:rPr lang="en-US" i="1" dirty="0">
                <a:ea typeface="Cambria Math"/>
              </a:rPr>
              <a:t>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Isosceles Triangle 3"/>
          <p:cNvSpPr/>
          <p:nvPr/>
        </p:nvSpPr>
        <p:spPr>
          <a:xfrm rot="5400000" flipV="1">
            <a:off x="10920845" y="5725391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308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2DB1-4065-EC4D-8FA3-0BA731EE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Binomial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7AB98-F41B-7C45-A35A-57C24695B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denote by </a:t>
            </a:r>
            <a:r>
              <a:rPr lang="en-US" i="1" dirty="0"/>
              <a:t>b</a:t>
            </a:r>
            <a:r>
              <a:rPr lang="en-US" dirty="0"/>
              <a:t>(</a:t>
            </a:r>
            <a:r>
              <a:rPr lang="en-US" i="1" dirty="0"/>
              <a:t>k</a:t>
            </a:r>
            <a:r>
              <a:rPr lang="en-US" dirty="0"/>
              <a:t>: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p</a:t>
            </a:r>
            <a:r>
              <a:rPr lang="en-US" dirty="0"/>
              <a:t>) the probability of </a:t>
            </a:r>
            <a:r>
              <a:rPr lang="en-US" i="1" dirty="0"/>
              <a:t>k</a:t>
            </a:r>
            <a:r>
              <a:rPr lang="en-US" dirty="0"/>
              <a:t> successes in </a:t>
            </a:r>
            <a:r>
              <a:rPr lang="en-US" i="1" dirty="0"/>
              <a:t>n</a:t>
            </a:r>
            <a:r>
              <a:rPr lang="en-US" dirty="0"/>
              <a:t>  independent Bernoulli trials with </a:t>
            </a:r>
            <a:r>
              <a:rPr lang="en-US" i="1" dirty="0"/>
              <a:t>p</a:t>
            </a:r>
            <a:r>
              <a:rPr lang="en-US" dirty="0"/>
              <a:t> the probability of success. </a:t>
            </a:r>
          </a:p>
          <a:p>
            <a:pPr marL="0" indent="0">
              <a:buNone/>
            </a:pPr>
            <a:r>
              <a:rPr lang="en-US" dirty="0"/>
              <a:t>Viewed as a function of </a:t>
            </a:r>
            <a:r>
              <a:rPr lang="en-US" i="1" dirty="0"/>
              <a:t>k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(</a:t>
            </a:r>
            <a:r>
              <a:rPr lang="en-US" i="1" dirty="0"/>
              <a:t>k</a:t>
            </a:r>
            <a:r>
              <a:rPr lang="en-US" dirty="0"/>
              <a:t>:</a:t>
            </a:r>
            <a:r>
              <a:rPr lang="en-US" i="1" dirty="0"/>
              <a:t>n</a:t>
            </a:r>
            <a:r>
              <a:rPr lang="en-US" dirty="0"/>
              <a:t>,</a:t>
            </a:r>
            <a:r>
              <a:rPr lang="en-US" i="1" dirty="0"/>
              <a:t>p</a:t>
            </a:r>
            <a:r>
              <a:rPr lang="en-US" dirty="0"/>
              <a:t>) is the </a:t>
            </a:r>
            <a:r>
              <a:rPr lang="en-US" b="1" dirty="0"/>
              <a:t>binomial distribution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By the previous Theorem 5,</a:t>
            </a:r>
          </a:p>
          <a:p>
            <a:pPr>
              <a:buNone/>
            </a:pPr>
            <a:r>
              <a:rPr lang="en-US" dirty="0"/>
              <a:t>                                  </a:t>
            </a:r>
            <a:r>
              <a:rPr lang="en-US" i="1" dirty="0"/>
              <a:t>b</a:t>
            </a:r>
            <a:r>
              <a:rPr lang="en-US" dirty="0"/>
              <a:t>(</a:t>
            </a:r>
            <a:r>
              <a:rPr lang="en-US" i="1" dirty="0"/>
              <a:t>k</a:t>
            </a:r>
            <a:r>
              <a:rPr lang="en-US" dirty="0"/>
              <a:t>: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p</a:t>
            </a:r>
            <a:r>
              <a:rPr lang="en-US" dirty="0"/>
              <a:t>) =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 err="1"/>
              <a:t>n</a:t>
            </a:r>
            <a:r>
              <a:rPr lang="en-US" dirty="0" err="1"/>
              <a:t>,</a:t>
            </a:r>
            <a:r>
              <a:rPr lang="en-US" i="1" dirty="0" err="1"/>
              <a:t>k</a:t>
            </a:r>
            <a:r>
              <a:rPr lang="en-US" dirty="0"/>
              <a:t>) </a:t>
            </a:r>
            <a:r>
              <a:rPr lang="en-US" i="1" dirty="0" err="1"/>
              <a:t>p</a:t>
            </a:r>
            <a:r>
              <a:rPr lang="en-US" i="1" baseline="30000" dirty="0" err="1"/>
              <a:t>k </a:t>
            </a:r>
            <a:r>
              <a:rPr lang="en-US" i="1" dirty="0" err="1"/>
              <a:t>q</a:t>
            </a:r>
            <a:r>
              <a:rPr lang="en-US" i="1" baseline="30000" dirty="0" err="1"/>
              <a:t>n</a:t>
            </a:r>
            <a:r>
              <a:rPr lang="en-US" baseline="30000" dirty="0">
                <a:ea typeface="Cambria Math"/>
              </a:rPr>
              <a:t>−</a:t>
            </a:r>
            <a:r>
              <a:rPr lang="en-US" i="1" baseline="30000" dirty="0">
                <a:ea typeface="Cambria Math"/>
              </a:rPr>
              <a:t>k</a:t>
            </a:r>
            <a:r>
              <a:rPr lang="en-US" i="1" dirty="0">
                <a:ea typeface="Cambria Math"/>
              </a:rPr>
              <a:t>.</a:t>
            </a:r>
          </a:p>
          <a:p>
            <a:pPr>
              <a:buNone/>
            </a:pPr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875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A4D58-7B04-6B46-B8F9-E1E171BA9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AF777-36C4-5343-B528-17E5FB91F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Bernoulli trials</a:t>
            </a:r>
          </a:p>
          <a:p>
            <a:r>
              <a:rPr lang="en-US"/>
              <a:t>Binomial distribution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592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Bayes</a:t>
            </a:r>
            <a:r>
              <a:rPr lang="en-US" dirty="0"/>
              <a:t>’ Theorem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7.3</a:t>
            </a:r>
          </a:p>
        </p:txBody>
      </p:sp>
    </p:spTree>
    <p:extLst>
      <p:ext uri="{BB962C8B-B14F-4D97-AF65-F5344CB8AC3E}">
        <p14:creationId xmlns:p14="http://schemas.microsoft.com/office/powerpoint/2010/main" val="10425689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78: Bayes’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Bayes</a:t>
            </a:r>
            <a:r>
              <a:rPr lang="en-US" dirty="0"/>
              <a:t>’ Theorem</a:t>
            </a:r>
          </a:p>
          <a:p>
            <a:r>
              <a:rPr lang="en-US" dirty="0"/>
              <a:t>Generalized </a:t>
            </a:r>
            <a:r>
              <a:rPr lang="en-US" dirty="0" err="1"/>
              <a:t>Bayes</a:t>
            </a:r>
            <a:r>
              <a:rPr lang="en-US" dirty="0"/>
              <a:t>’ Theorem</a:t>
            </a:r>
          </a:p>
        </p:txBody>
      </p:sp>
    </p:spTree>
    <p:extLst>
      <p:ext uri="{BB962C8B-B14F-4D97-AF65-F5344CB8AC3E}">
        <p14:creationId xmlns:p14="http://schemas.microsoft.com/office/powerpoint/2010/main" val="2260096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</a:t>
            </a:r>
            <a:r>
              <a:rPr lang="en-US" dirty="0" err="1"/>
              <a:t>Bayes</a:t>
            </a:r>
            <a:r>
              <a:rPr lang="en-US" dirty="0"/>
              <a:t>’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Bayes</a:t>
            </a:r>
            <a:r>
              <a:rPr lang="en-US" dirty="0"/>
              <a:t>’ theorem allows us to use probability to answer questions such as the following:</a:t>
            </a:r>
          </a:p>
          <a:p>
            <a:pPr lvl="1"/>
            <a:r>
              <a:rPr lang="en-US" dirty="0"/>
              <a:t>Given that someone tests positive for having Corona, what is the probability that they actually do have Corona?</a:t>
            </a:r>
          </a:p>
          <a:p>
            <a:pPr lvl="1"/>
            <a:r>
              <a:rPr lang="en-US" dirty="0"/>
              <a:t>Given that someone tests negative for Corona, what is the probability, that in fact they do have Corona?</a:t>
            </a:r>
          </a:p>
          <a:p>
            <a:r>
              <a:rPr lang="en-US" dirty="0" err="1"/>
              <a:t>Bayes</a:t>
            </a:r>
            <a:r>
              <a:rPr lang="en-US" dirty="0"/>
              <a:t>’ theorem has applications to medicine, law, artificial intelligence, engineering, and many diverse other areas.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1342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Bayes</a:t>
            </a:r>
            <a:r>
              <a:rPr lang="en-US" dirty="0"/>
              <a:t>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buNone/>
                </a:pPr>
                <a:r>
                  <a:rPr lang="en-US" b="1" dirty="0" err="1"/>
                  <a:t>Bayes</a:t>
                </a:r>
                <a:r>
                  <a:rPr lang="en-US" b="1" dirty="0"/>
                  <a:t>’ Theorem</a:t>
                </a:r>
                <a:r>
                  <a:rPr lang="en-US" dirty="0"/>
                  <a:t>: Suppose that </a:t>
                </a:r>
                <a:r>
                  <a:rPr lang="en-US" i="1" dirty="0"/>
                  <a:t>E</a:t>
                </a:r>
                <a:r>
                  <a:rPr lang="en-US" dirty="0"/>
                  <a:t> and </a:t>
                </a:r>
                <a:r>
                  <a:rPr lang="en-US" i="1" dirty="0"/>
                  <a:t>F</a:t>
                </a:r>
                <a:r>
                  <a:rPr lang="en-US" dirty="0"/>
                  <a:t> are events from a sample space S such that 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/>
                  <a:t>E</a:t>
                </a:r>
                <a:r>
                  <a:rPr lang="en-US" dirty="0"/>
                  <a:t>) </a:t>
                </a:r>
                <a:r>
                  <a:rPr lang="en-US" dirty="0">
                    <a:ea typeface="Cambria Math"/>
                  </a:rPr>
                  <a:t>≠</a:t>
                </a:r>
                <a:r>
                  <a:rPr lang="en-US" dirty="0"/>
                  <a:t> </a:t>
                </a:r>
                <a:r>
                  <a:rPr lang="en-US" dirty="0">
                    <a:ea typeface="Cambria Math" pitchFamily="18" charset="0"/>
                  </a:rPr>
                  <a:t>0</a:t>
                </a:r>
                <a:r>
                  <a:rPr lang="en-US" dirty="0"/>
                  <a:t> and </a:t>
                </a:r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/>
                  <a:t>F</a:t>
                </a:r>
                <a:r>
                  <a:rPr lang="en-US" dirty="0"/>
                  <a:t>) </a:t>
                </a:r>
                <a:r>
                  <a:rPr lang="en-US" dirty="0">
                    <a:ea typeface="Cambria Math"/>
                  </a:rPr>
                  <a:t>≠</a:t>
                </a:r>
                <a:r>
                  <a:rPr lang="en-US" dirty="0"/>
                  <a:t> </a:t>
                </a:r>
                <a:r>
                  <a:rPr lang="en-US" dirty="0">
                    <a:ea typeface="Cambria Math" pitchFamily="18" charset="0"/>
                  </a:rPr>
                  <a:t>0</a:t>
                </a:r>
                <a:r>
                  <a:rPr lang="en-US" dirty="0"/>
                  <a:t>. Then: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e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fr-CH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num>
                        <m:den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̅"/>
                              <m:ctrlPr>
                                <a:rPr lang="fr-CH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fr-CH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fr-CH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CH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r>
                            <a:rPr lang="fr-CH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or alternatively (a more common formulation)</a:t>
                </a:r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e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fr-CH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num>
                        <m:den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509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060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10636" y="228601"/>
            <a:ext cx="910590" cy="9669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91427" y="228601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Thomas </a:t>
            </a:r>
            <a:r>
              <a:rPr lang="en-US" dirty="0" err="1"/>
              <a:t>Bayes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>
                <a:ea typeface="Cambria Math" pitchFamily="18" charset="0"/>
              </a:rPr>
              <a:t>1702-1761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55650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0759-1C60-C140-AF4C-A62D2DD2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F5476-D239-2446-A547-EC493AD97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We have two boxes. The first box contains two green balls and seven red balls. The second contains four green balls and three red balls.</a:t>
            </a:r>
          </a:p>
          <a:p>
            <a:pPr>
              <a:buNone/>
            </a:pPr>
            <a:r>
              <a:rPr lang="en-US" dirty="0"/>
              <a:t>Bob selects one of the boxes at random. </a:t>
            </a:r>
          </a:p>
          <a:p>
            <a:pPr>
              <a:buNone/>
            </a:pPr>
            <a:r>
              <a:rPr lang="en-US" dirty="0"/>
              <a:t>Then he selects a ball from that box at random.  </a:t>
            </a:r>
          </a:p>
          <a:p>
            <a:pPr>
              <a:buNone/>
            </a:pPr>
            <a:r>
              <a:rPr lang="en-US" dirty="0"/>
              <a:t>If he has a red ball, what is the probability that he selected a ball from the first box?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827BC8-2083-DC4E-9C2D-BE6EF8FA3736}"/>
              </a:ext>
            </a:extLst>
          </p:cNvPr>
          <p:cNvSpPr/>
          <p:nvPr/>
        </p:nvSpPr>
        <p:spPr>
          <a:xfrm>
            <a:off x="2506894" y="4736387"/>
            <a:ext cx="2527443" cy="19418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51E242-D3BE-3B45-A63E-6DE1E27CF4FD}"/>
              </a:ext>
            </a:extLst>
          </p:cNvPr>
          <p:cNvSpPr/>
          <p:nvPr/>
        </p:nvSpPr>
        <p:spPr>
          <a:xfrm>
            <a:off x="6429910" y="4736387"/>
            <a:ext cx="2527443" cy="19418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1B90BE-3B03-4F48-8659-92CECF1EE099}"/>
              </a:ext>
            </a:extLst>
          </p:cNvPr>
          <p:cNvSpPr/>
          <p:nvPr/>
        </p:nvSpPr>
        <p:spPr>
          <a:xfrm>
            <a:off x="3215811" y="4921321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DAD631-E824-784F-9AF6-9AD12192B8F7}"/>
              </a:ext>
            </a:extLst>
          </p:cNvPr>
          <p:cNvSpPr/>
          <p:nvPr/>
        </p:nvSpPr>
        <p:spPr>
          <a:xfrm>
            <a:off x="3858802" y="4921321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26B312-ADE7-7D46-947F-1A3100A8288B}"/>
              </a:ext>
            </a:extLst>
          </p:cNvPr>
          <p:cNvSpPr/>
          <p:nvPr/>
        </p:nvSpPr>
        <p:spPr>
          <a:xfrm>
            <a:off x="2772310" y="5368246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446364A-3305-FA43-BC7B-7CBD969AB1AF}"/>
              </a:ext>
            </a:extLst>
          </p:cNvPr>
          <p:cNvSpPr/>
          <p:nvPr/>
        </p:nvSpPr>
        <p:spPr>
          <a:xfrm>
            <a:off x="3565133" y="5368246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3ED9F9F-F9FD-EF43-89B5-95C1A9D755F1}"/>
              </a:ext>
            </a:extLst>
          </p:cNvPr>
          <p:cNvSpPr/>
          <p:nvPr/>
        </p:nvSpPr>
        <p:spPr>
          <a:xfrm>
            <a:off x="4342544" y="5368246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F5C996-C719-2D49-9197-139C05E28FC0}"/>
              </a:ext>
            </a:extLst>
          </p:cNvPr>
          <p:cNvSpPr/>
          <p:nvPr/>
        </p:nvSpPr>
        <p:spPr>
          <a:xfrm>
            <a:off x="6871699" y="5029198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100C09-9262-7F48-B0F4-D839F5EF559C}"/>
              </a:ext>
            </a:extLst>
          </p:cNvPr>
          <p:cNvSpPr/>
          <p:nvPr/>
        </p:nvSpPr>
        <p:spPr>
          <a:xfrm>
            <a:off x="7565204" y="5029198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C7AB4C-C5F9-5C4E-9E4F-80EEECCDC577}"/>
              </a:ext>
            </a:extLst>
          </p:cNvPr>
          <p:cNvSpPr/>
          <p:nvPr/>
        </p:nvSpPr>
        <p:spPr>
          <a:xfrm>
            <a:off x="8244583" y="5029196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93DF865-9002-DE44-AD95-B91BB0EE790B}"/>
              </a:ext>
            </a:extLst>
          </p:cNvPr>
          <p:cNvSpPr/>
          <p:nvPr/>
        </p:nvSpPr>
        <p:spPr>
          <a:xfrm>
            <a:off x="3200399" y="5696932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974927D-2DFB-1044-933E-238E2FED26E6}"/>
              </a:ext>
            </a:extLst>
          </p:cNvPr>
          <p:cNvSpPr/>
          <p:nvPr/>
        </p:nvSpPr>
        <p:spPr>
          <a:xfrm>
            <a:off x="3911030" y="5696932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B0EE6AE-BDF7-0A49-81E8-F03558DDD150}"/>
              </a:ext>
            </a:extLst>
          </p:cNvPr>
          <p:cNvSpPr/>
          <p:nvPr/>
        </p:nvSpPr>
        <p:spPr>
          <a:xfrm>
            <a:off x="3200399" y="6204312"/>
            <a:ext cx="349322" cy="3390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8E746F2-0039-F34A-8F63-A90B6F911E6C}"/>
              </a:ext>
            </a:extLst>
          </p:cNvPr>
          <p:cNvSpPr/>
          <p:nvPr/>
        </p:nvSpPr>
        <p:spPr>
          <a:xfrm>
            <a:off x="3942707" y="6204312"/>
            <a:ext cx="349322" cy="3390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E215ED5-B5BB-F343-85D0-0897B1BB20E4}"/>
              </a:ext>
            </a:extLst>
          </p:cNvPr>
          <p:cNvSpPr/>
          <p:nvPr/>
        </p:nvSpPr>
        <p:spPr>
          <a:xfrm>
            <a:off x="7221021" y="5603080"/>
            <a:ext cx="349322" cy="3390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8C4F28-6E2A-434B-A1C8-7B4BC08381B8}"/>
              </a:ext>
            </a:extLst>
          </p:cNvPr>
          <p:cNvSpPr/>
          <p:nvPr/>
        </p:nvSpPr>
        <p:spPr>
          <a:xfrm>
            <a:off x="7981310" y="5606371"/>
            <a:ext cx="349322" cy="3390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11C8BBB-F4C3-534D-979B-995C1A3DF5E7}"/>
              </a:ext>
            </a:extLst>
          </p:cNvPr>
          <p:cNvSpPr/>
          <p:nvPr/>
        </p:nvSpPr>
        <p:spPr>
          <a:xfrm>
            <a:off x="7221021" y="6124856"/>
            <a:ext cx="349322" cy="3390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20E5B1-166F-A34E-A2FC-35B2E7E177D0}"/>
              </a:ext>
            </a:extLst>
          </p:cNvPr>
          <p:cNvSpPr/>
          <p:nvPr/>
        </p:nvSpPr>
        <p:spPr>
          <a:xfrm>
            <a:off x="7981310" y="6150910"/>
            <a:ext cx="349322" cy="3390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1EDC32-E065-2B43-92B3-13E533EA8947}"/>
              </a:ext>
            </a:extLst>
          </p:cNvPr>
          <p:cNvSpPr txBox="1"/>
          <p:nvPr/>
        </p:nvSpPr>
        <p:spPr>
          <a:xfrm>
            <a:off x="2591191" y="47570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D85A26-8B0D-C146-BF49-4B722E4A60D5}"/>
              </a:ext>
            </a:extLst>
          </p:cNvPr>
          <p:cNvSpPr txBox="1"/>
          <p:nvPr/>
        </p:nvSpPr>
        <p:spPr>
          <a:xfrm>
            <a:off x="6499962" y="4762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769505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4A9AA-4D24-C54D-9498-8E5C643B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596BB-3335-014C-AA8C-F53AD26CE4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19125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Let </a:t>
                </a:r>
                <a:r>
                  <a:rPr lang="en-US" i="1" dirty="0"/>
                  <a:t>E</a:t>
                </a:r>
                <a:r>
                  <a:rPr lang="en-US" dirty="0"/>
                  <a:t> be the event that Bob has chosen a red ball and </a:t>
                </a:r>
                <a:r>
                  <a:rPr lang="en-US" i="1" dirty="0"/>
                  <a:t>F</a:t>
                </a:r>
                <a:r>
                  <a:rPr lang="en-US" dirty="0"/>
                  <a:t> be the event that Bob has chosen the first box.</a:t>
                </a:r>
              </a:p>
              <a:p>
                <a14:m>
                  <m:oMath xmlns:m="http://schemas.openxmlformats.org/officeDocument/2006/math">
                    <m:r>
                      <a:rPr lang="fr-CH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H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fr-CH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if he chooses the first box and has a red ball</a:t>
                </a:r>
              </a:p>
              <a:p>
                <a14:m>
                  <m:oMath xmlns:m="http://schemas.openxmlformats.org/officeDocument/2006/math">
                    <m:r>
                      <a:rPr lang="fr-CH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acc>
                          <m:accPr>
                            <m:chr m:val="̅"/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</m:d>
                    <m:r>
                      <a:rPr lang="fr-CH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H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dirty="0"/>
                  <a:t> if he chooses the second box and has a red ball</a:t>
                </a:r>
              </a:p>
              <a:p>
                <a14:m>
                  <m:oMath xmlns:m="http://schemas.openxmlformats.org/officeDocument/2006/math">
                    <m:r>
                      <a:rPr lang="fr-CH" b="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b="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fr-CH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fr-CH" b="0" i="1" dirty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skw"/>
                        <m:ctrlPr>
                          <a:rPr lang="fr-CH" b="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b="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CH" b="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CH" b="0" i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as he chooses the boxes at random.</a:t>
                </a:r>
              </a:p>
              <a:p>
                <a:pPr>
                  <a:buNone/>
                </a:pPr>
                <a:r>
                  <a:rPr lang="en-US" dirty="0"/>
                  <a:t>Therefore by </a:t>
                </a:r>
                <a:r>
                  <a:rPr lang="en-US" dirty="0" err="1"/>
                  <a:t>Bayes</a:t>
                </a:r>
                <a:r>
                  <a:rPr lang="en-US" dirty="0"/>
                  <a:t>’ theorem the probability  that Bob has picked the first box 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b="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e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fr-CH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CH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e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CH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e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CH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H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CH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e>
                              <m:acc>
                                <m:accPr>
                                  <m:chr m:val="̅"/>
                                  <m:ctrlPr>
                                    <a:rPr lang="fr-CH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CH" i="1" dirty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</m:d>
                          <m:r>
                            <a:rPr lang="fr-CH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fr-CH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CH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fr-CH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CH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)(</m:t>
                          </m:r>
                          <m:f>
                            <m:fPr>
                              <m:ctrlPr>
                                <a:rPr lang="fr-CH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ctrlPr>
                                <a:rPr lang="fr-CH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CH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H" b="0" i="1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fr-CH" b="0" i="1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fr-CH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CH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H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fr-CH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+(</m:t>
                          </m:r>
                          <m:f>
                            <m:fPr>
                              <m:ctrlPr>
                                <a:rPr lang="fr-CH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)(</m:t>
                          </m:r>
                          <m:f>
                            <m:fPr>
                              <m:ctrlPr>
                                <a:rPr lang="fr-CH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CH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fr-CH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7/18</m:t>
                          </m:r>
                        </m:num>
                        <m:den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38/63</m:t>
                          </m:r>
                        </m:den>
                      </m:f>
                      <m:r>
                        <a:rPr lang="fr-CH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≈0.645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596BB-3335-014C-AA8C-F53AD26CE4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19125"/>
                <a:ext cx="10515600" cy="4351338"/>
              </a:xfrm>
              <a:blipFill>
                <a:blip r:embed="rId2"/>
                <a:stretch>
                  <a:fillRect l="-965" t="-3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2ADC41E6-878C-344D-ABCA-3C4C61C29F79}"/>
              </a:ext>
            </a:extLst>
          </p:cNvPr>
          <p:cNvSpPr/>
          <p:nvPr/>
        </p:nvSpPr>
        <p:spPr>
          <a:xfrm>
            <a:off x="5741541" y="33017"/>
            <a:ext cx="2527443" cy="19418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CECC30-A6C8-BC48-8FA8-4E7AC4EBC55B}"/>
              </a:ext>
            </a:extLst>
          </p:cNvPr>
          <p:cNvSpPr/>
          <p:nvPr/>
        </p:nvSpPr>
        <p:spPr>
          <a:xfrm>
            <a:off x="9664557" y="33017"/>
            <a:ext cx="2527443" cy="19418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DDA01A-1A6F-0247-8A72-AD9AE941312C}"/>
              </a:ext>
            </a:extLst>
          </p:cNvPr>
          <p:cNvSpPr/>
          <p:nvPr/>
        </p:nvSpPr>
        <p:spPr>
          <a:xfrm>
            <a:off x="6450458" y="217951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0B7AFA-8FBF-DB4C-B406-91AE745CA383}"/>
              </a:ext>
            </a:extLst>
          </p:cNvPr>
          <p:cNvSpPr/>
          <p:nvPr/>
        </p:nvSpPr>
        <p:spPr>
          <a:xfrm>
            <a:off x="7093449" y="217951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3698AC-B662-4E42-A94C-93C55C5CC3C7}"/>
              </a:ext>
            </a:extLst>
          </p:cNvPr>
          <p:cNvSpPr/>
          <p:nvPr/>
        </p:nvSpPr>
        <p:spPr>
          <a:xfrm>
            <a:off x="6006957" y="664876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1A5E6A-284C-3043-9CCF-12D8BAE6F575}"/>
              </a:ext>
            </a:extLst>
          </p:cNvPr>
          <p:cNvSpPr/>
          <p:nvPr/>
        </p:nvSpPr>
        <p:spPr>
          <a:xfrm>
            <a:off x="6799780" y="664876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BB8B6A-897F-B94E-B5F8-18306AABCF72}"/>
              </a:ext>
            </a:extLst>
          </p:cNvPr>
          <p:cNvSpPr/>
          <p:nvPr/>
        </p:nvSpPr>
        <p:spPr>
          <a:xfrm>
            <a:off x="7577191" y="664876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57D6B1-BDC2-1A4E-A383-45D0B2C9FDC4}"/>
              </a:ext>
            </a:extLst>
          </p:cNvPr>
          <p:cNvSpPr/>
          <p:nvPr/>
        </p:nvSpPr>
        <p:spPr>
          <a:xfrm>
            <a:off x="10106346" y="325828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B009540-1B7C-F64C-B337-470CB6E3480F}"/>
              </a:ext>
            </a:extLst>
          </p:cNvPr>
          <p:cNvSpPr/>
          <p:nvPr/>
        </p:nvSpPr>
        <p:spPr>
          <a:xfrm>
            <a:off x="10799851" y="325828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A3D428-DE34-E848-B0F5-F276A21CCD39}"/>
              </a:ext>
            </a:extLst>
          </p:cNvPr>
          <p:cNvSpPr/>
          <p:nvPr/>
        </p:nvSpPr>
        <p:spPr>
          <a:xfrm>
            <a:off x="11479230" y="325826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56AF35B-D550-164A-8F1F-E8691A0331D4}"/>
              </a:ext>
            </a:extLst>
          </p:cNvPr>
          <p:cNvSpPr/>
          <p:nvPr/>
        </p:nvSpPr>
        <p:spPr>
          <a:xfrm>
            <a:off x="6435046" y="993562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6E8EBE-9187-E34D-8136-29574C296493}"/>
              </a:ext>
            </a:extLst>
          </p:cNvPr>
          <p:cNvSpPr/>
          <p:nvPr/>
        </p:nvSpPr>
        <p:spPr>
          <a:xfrm>
            <a:off x="7145677" y="993562"/>
            <a:ext cx="349322" cy="3390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1A7D0B8-17B7-774D-B684-9BC7DD86DB62}"/>
              </a:ext>
            </a:extLst>
          </p:cNvPr>
          <p:cNvSpPr/>
          <p:nvPr/>
        </p:nvSpPr>
        <p:spPr>
          <a:xfrm>
            <a:off x="6435046" y="1500942"/>
            <a:ext cx="349322" cy="3390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471E0F4-FC51-EE41-96EF-EEB351BAB38D}"/>
              </a:ext>
            </a:extLst>
          </p:cNvPr>
          <p:cNvSpPr/>
          <p:nvPr/>
        </p:nvSpPr>
        <p:spPr>
          <a:xfrm>
            <a:off x="7177354" y="1500942"/>
            <a:ext cx="349322" cy="3390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28AFAB6-8468-9E43-AA86-BAA26DDA759A}"/>
              </a:ext>
            </a:extLst>
          </p:cNvPr>
          <p:cNvSpPr/>
          <p:nvPr/>
        </p:nvSpPr>
        <p:spPr>
          <a:xfrm>
            <a:off x="10455668" y="899710"/>
            <a:ext cx="349322" cy="3390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2BDDF3-257F-284C-A7D2-8F4752E89300}"/>
              </a:ext>
            </a:extLst>
          </p:cNvPr>
          <p:cNvSpPr/>
          <p:nvPr/>
        </p:nvSpPr>
        <p:spPr>
          <a:xfrm>
            <a:off x="11215957" y="903001"/>
            <a:ext cx="349322" cy="3390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2A04174-F566-0740-B837-5AF8BC820BC0}"/>
              </a:ext>
            </a:extLst>
          </p:cNvPr>
          <p:cNvSpPr/>
          <p:nvPr/>
        </p:nvSpPr>
        <p:spPr>
          <a:xfrm>
            <a:off x="10455668" y="1421486"/>
            <a:ext cx="349322" cy="3390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3900B34-18C4-114D-B838-B529BC2BD32A}"/>
              </a:ext>
            </a:extLst>
          </p:cNvPr>
          <p:cNvSpPr/>
          <p:nvPr/>
        </p:nvSpPr>
        <p:spPr>
          <a:xfrm>
            <a:off x="11215957" y="1447540"/>
            <a:ext cx="349322" cy="339048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6F5A4C-E063-DF46-BC4F-9D006462F572}"/>
              </a:ext>
            </a:extLst>
          </p:cNvPr>
          <p:cNvSpPr txBox="1"/>
          <p:nvPr/>
        </p:nvSpPr>
        <p:spPr>
          <a:xfrm>
            <a:off x="5825838" y="53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0EF299-1EB2-AA41-9FC1-AB29334041BD}"/>
              </a:ext>
            </a:extLst>
          </p:cNvPr>
          <p:cNvSpPr txBox="1"/>
          <p:nvPr/>
        </p:nvSpPr>
        <p:spPr>
          <a:xfrm>
            <a:off x="9734609" y="586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00089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</a:t>
            </a:r>
            <a:r>
              <a:rPr lang="en-US" dirty="0" err="1"/>
              <a:t>Bayes</a:t>
            </a:r>
            <a:r>
              <a:rPr lang="en-US" dirty="0"/>
              <a:t>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Using the definition of the conditional probability 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CH" b="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fr-CH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e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fr-CH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fr-CH" b="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CH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e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fr-CH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fr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>
                            <a:rPr lang="fr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b="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therefore 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 b="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e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fr-C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endParaRPr lang="fr-CH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CH"/>
                  <a:t> 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from which we get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fr-CH" b="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H" b="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fr-CH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num>
                      <m:den>
                        <m:r>
                          <a:rPr lang="fr-CH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e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fr-CH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fr-CH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H" b="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d>
                      </m:num>
                      <m:den>
                        <m:r>
                          <a:rPr lang="fr-CH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6377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3175">
            <a:noFill/>
          </a:ln>
        </p:spPr>
        <p:txBody>
          <a:bodyPr/>
          <a:lstStyle/>
          <a:p>
            <a:r>
              <a:rPr lang="en-US" dirty="0"/>
              <a:t>Derivation of </a:t>
            </a:r>
            <a:r>
              <a:rPr lang="en-US" dirty="0" err="1"/>
              <a:t>Bayes</a:t>
            </a:r>
            <a:r>
              <a:rPr lang="en-US" dirty="0"/>
              <a:t>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buNone/>
                </a:pPr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fr-CH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CH" b="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acc>
                          <m:accPr>
                            <m:chr m:val="̅"/>
                            <m:ctrlPr>
                              <a:rPr lang="fr-CH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b="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</m:d>
                    <m:r>
                      <a:rPr lang="fr-CH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b="0" i="1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</m:d>
                  </m:oMath>
                </a14:m>
                <a:endParaRPr lang="fr-CH" dirty="0"/>
              </a:p>
              <a:p>
                <a:pPr>
                  <a:buNone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CH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b="0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H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fr-CH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fr-CH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a:rPr lang="fr-CH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lang="fr-CH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</m:d>
                    <m:r>
                      <a:rPr lang="fr-CH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H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CH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H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fr-CH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fr-CH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a:rPr lang="fr-CH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acc>
                          <m:accPr>
                            <m:chr m:val="̅"/>
                            <m:ctrlPr>
                              <a:rPr lang="fr-CH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</m:d>
                    <m:r>
                      <a:rPr lang="fr-CH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H" b="0" i="1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fr-CH" b="0" dirty="0"/>
              </a:p>
              <a:p>
                <a:pPr>
                  <a:buNone/>
                </a:pPr>
                <a:r>
                  <a:rPr lang="en-US" dirty="0"/>
                  <a:t>By Theorem 3 we have </a:t>
                </a:r>
                <a:br>
                  <a:rPr lang="fr-CH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b="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fr-CH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H" b="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fr-CH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fr-CH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fr-CH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  <m:r>
                            <a:rPr lang="fr-CH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d>
                            <m:dPr>
                              <m:ctrlPr>
                                <a:rPr lang="fr-CH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fr-CH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acc>
                                <m:accPr>
                                  <m:chr m:val="̅"/>
                                  <m:ctrlPr>
                                    <a:rPr lang="fr-CH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CH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fr-CH" b="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CH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b="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fr-CH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fr-CH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CH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CH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acc>
                            <m:accPr>
                              <m:chr m:val="̅"/>
                              <m:ctrlPr>
                                <a:rPr lang="fr-CH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CH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Using 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fr-CH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fr-CH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we get 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acc>
                          <m:accPr>
                            <m:chr m:val="̅"/>
                            <m:ctrlPr>
                              <a:rPr lang="fr-CH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</m:d>
                    <m:r>
                      <a:rPr lang="fr-CH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and from </a:t>
                </a: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fr-CH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fr-CH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d>
                      </m:num>
                      <m:den>
                        <m:r>
                          <a:rPr lang="fr-CH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>
                  <a:buNone/>
                </a:pPr>
                <a:r>
                  <a:rPr lang="en-US" dirty="0"/>
                  <a:t>we have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e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fr-CH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num>
                        <m:den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C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̅"/>
                              <m:ctrlPr>
                                <a:rPr lang="fr-CH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CH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r>
                            <a:rPr lang="fr-CH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fr-CH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CH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fr-CH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CH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r>
                            <a:rPr lang="fr-CH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Isosceles Triangle 12"/>
          <p:cNvSpPr/>
          <p:nvPr/>
        </p:nvSpPr>
        <p:spPr>
          <a:xfrm rot="5400000" flipV="1">
            <a:off x="9906000" y="6019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1207"/>
      </p:ext>
    </p:extLst>
  </p:cSld>
  <p:clrMapOvr>
    <a:masterClrMapping/>
  </p:clrMapOvr>
  <p:transition advTm="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Suppose that 2 persons in </a:t>
            </a:r>
            <a:r>
              <a:rPr lang="en-US" dirty="0">
                <a:ea typeface="Cambria Math" pitchFamily="18" charset="0"/>
              </a:rPr>
              <a:t>100</a:t>
            </a:r>
            <a:r>
              <a:rPr lang="en-US" dirty="0"/>
              <a:t> have a Covid-19. There is a test for the disease that gives a positive result </a:t>
            </a:r>
            <a:r>
              <a:rPr lang="en-US" dirty="0">
                <a:ea typeface="Cambria Math" pitchFamily="18" charset="0"/>
              </a:rPr>
              <a:t>95</a:t>
            </a:r>
            <a:r>
              <a:rPr lang="en-US" dirty="0"/>
              <a:t>% of the time when given to someone with the disease. When given to someone without the disease, </a:t>
            </a:r>
            <a:r>
              <a:rPr lang="en-US" dirty="0">
                <a:ea typeface="Cambria Math" pitchFamily="18" charset="0"/>
              </a:rPr>
              <a:t>98</a:t>
            </a:r>
            <a:r>
              <a:rPr lang="en-US" dirty="0"/>
              <a:t>% of the time it gives a negative result. Find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the probability that a person who test positive has Covid-19.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the probability that a person who test negative does not have Covid-19.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Should someone who tests positive be worried?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0797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buNone/>
                </a:pPr>
                <a:r>
                  <a:rPr lang="en-US" dirty="0"/>
                  <a:t>Let </a:t>
                </a:r>
                <a:r>
                  <a:rPr lang="en-US" i="1" dirty="0"/>
                  <a:t>D </a:t>
                </a:r>
                <a:r>
                  <a:rPr lang="en-US" dirty="0"/>
                  <a:t>be the event that the person has the disease, and </a:t>
                </a:r>
                <a:r>
                  <a:rPr lang="en-US" i="1" dirty="0"/>
                  <a:t>E</a:t>
                </a:r>
                <a:r>
                  <a:rPr lang="en-US" dirty="0"/>
                  <a:t> be the event that this person tests positive. </a:t>
                </a:r>
              </a:p>
              <a:p>
                <a:pPr>
                  <a:buNone/>
                </a:pPr>
                <a:r>
                  <a:rPr lang="en-US" dirty="0"/>
                  <a:t>We know that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fr-CH" b="0" i="1" dirty="0">
                          <a:latin typeface="Cambria Math" panose="02040503050406030204" pitchFamily="18" charset="0"/>
                        </a:rPr>
                        <m:t>=0.02, </m:t>
                      </m:r>
                      <m:r>
                        <a:rPr lang="fr-CH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e>
                          <m:r>
                            <a:rPr lang="fr-CH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fr-CH" b="0" i="1" dirty="0">
                          <a:latin typeface="Cambria Math" panose="02040503050406030204" pitchFamily="18" charset="0"/>
                        </a:rPr>
                        <m:t>=0.95</m:t>
                      </m:r>
                      <m:r>
                        <a:rPr lang="fr-CH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CH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fr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e>
                          <m:acc>
                            <m:accPr>
                              <m:chr m:val="̅"/>
                              <m:ctrlPr>
                                <a:rPr lang="fr-CH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CH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</m:d>
                      <m:r>
                        <a:rPr lang="fr-CH" b="0" i="1" dirty="0">
                          <a:latin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We want to know p(D|E)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fr-CH" sz="26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sz="2600" b="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e>
                        <m:r>
                          <a:rPr lang="fr-CH" sz="2600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fr-CH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H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H" sz="2400" b="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fr-CH" sz="2400" b="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H" sz="2400" b="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H" sz="2400" b="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fr-CH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H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H" sz="2400" b="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̅"/>
                            <m:ctrlPr>
                              <a:rPr lang="fr-CH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  <m:r>
                          <a:rPr lang="fr-CH" sz="2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fr-CH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fr-CH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sz="240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  <m:r>
                          <a:rPr lang="fr-CH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fr-CH" sz="2600" b="0" i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CH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b="0" i="1">
                            <a:latin typeface="Cambria Math" panose="02040503050406030204" pitchFamily="18" charset="0"/>
                          </a:rPr>
                          <m:t>0.95∗0.02</m:t>
                        </m:r>
                      </m:num>
                      <m:den>
                        <m:r>
                          <a:rPr lang="fr-CH" b="0" i="1">
                            <a:latin typeface="Cambria Math" panose="02040503050406030204" pitchFamily="18" charset="0"/>
                          </a:rPr>
                          <m:t>0.95∗0.02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H" b="0" i="1">
                            <a:latin typeface="Cambria Math" panose="02040503050406030204" pitchFamily="18" charset="0"/>
                          </a:rPr>
                          <m:t>0.02∗0.98</m:t>
                        </m:r>
                      </m:den>
                    </m:f>
                    <m:r>
                      <a:rPr lang="fr-CH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fr-CH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0.49</m:t>
                    </m:r>
                  </m:oMath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So a positive test means you have about 50% chance to have the disease!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339" b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5585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D4DC5-1881-094E-B6E7-FC25EE83F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AB35A4-1CDC-4245-AB0B-BF276CB7D6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And if the result is negative?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fr-CH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b="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e>
                        <m:acc>
                          <m:accPr>
                            <m:chr m:val="̅"/>
                            <m:ctrlPr>
                              <a:rPr lang="fr-CH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b="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</m:d>
                    <m:r>
                      <a:rPr lang="fr-CH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fr-CH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fr-CH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CH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fr-CH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fr-CH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fr-CH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fr-CH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fr-CH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fr-CH" i="1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̅"/>
                            <m:ctrlPr>
                              <a:rPr lang="fr-CH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  <m:r>
                          <a:rPr lang="fr-CH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fr-CH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H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  <m:r>
                          <a:rPr lang="fr-CH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fr-CH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CH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fr-CH" b="0" i="1">
                            <a:latin typeface="Cambria Math" panose="02040503050406030204" pitchFamily="18" charset="0"/>
                          </a:rPr>
                          <m:t>.05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∗0.</m:t>
                        </m:r>
                        <m:r>
                          <a:rPr lang="fr-CH" b="0" i="1">
                            <a:latin typeface="Cambria Math" panose="02040503050406030204" pitchFamily="18" charset="0"/>
                          </a:rPr>
                          <m:t>02</m:t>
                        </m:r>
                      </m:num>
                      <m:den>
                        <m:r>
                          <a:rPr lang="fr-CH" i="1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fr-CH" b="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5∗0.02+0.</m:t>
                        </m:r>
                        <m:r>
                          <a:rPr lang="fr-CH" b="0" i="1"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a:rPr lang="fr-CH" i="1">
                            <a:latin typeface="Cambria Math" panose="02040503050406030204" pitchFamily="18" charset="0"/>
                          </a:rPr>
                          <m:t>∗0.98</m:t>
                        </m:r>
                      </m:den>
                    </m:f>
                    <m:r>
                      <a:rPr lang="fr-CH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</m:t>
                    </m:r>
                    <m:r>
                      <a:rPr lang="fr-CH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001</m:t>
                    </m:r>
                  </m:oMath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So a negative test means you have about 99.9% chance to not have the disease!</a:t>
                </a:r>
              </a:p>
              <a:p>
                <a:pPr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AB35A4-1CDC-4245-AB0B-BF276CB7D6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32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8251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 dirty="0" err="1"/>
              <a:t>Bayes</a:t>
            </a:r>
            <a:r>
              <a:rPr lang="en-US" dirty="0"/>
              <a:t>’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   Generalized </a:t>
            </a:r>
            <a:r>
              <a:rPr lang="en-US" b="1" dirty="0" err="1"/>
              <a:t>Bayes</a:t>
            </a:r>
            <a:r>
              <a:rPr lang="en-US" b="1" dirty="0"/>
              <a:t>’ Theorem</a:t>
            </a:r>
            <a:r>
              <a:rPr lang="en-US" dirty="0"/>
              <a:t>: Suppose that </a:t>
            </a:r>
            <a:r>
              <a:rPr lang="en-US" i="1" dirty="0"/>
              <a:t>E</a:t>
            </a:r>
            <a:r>
              <a:rPr lang="en-US" dirty="0"/>
              <a:t> is an event from a sample space </a:t>
            </a:r>
            <a:r>
              <a:rPr lang="en-US" i="1" dirty="0"/>
              <a:t>S</a:t>
            </a:r>
            <a:r>
              <a:rPr lang="en-US" dirty="0"/>
              <a:t> and that </a:t>
            </a:r>
            <a:r>
              <a:rPr lang="en-US" i="1" dirty="0"/>
              <a:t>F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i="1" dirty="0"/>
              <a:t>F</a:t>
            </a:r>
            <a:r>
              <a:rPr lang="en-US" baseline="-25000" dirty="0"/>
              <a:t>n</a:t>
            </a:r>
            <a:r>
              <a:rPr lang="en-US" dirty="0"/>
              <a:t> are mutually exclusive events such that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    Assume that </a:t>
            </a:r>
            <a:r>
              <a:rPr lang="en-US" i="1" dirty="0"/>
              <a:t>p(E) </a:t>
            </a:r>
            <a:r>
              <a:rPr lang="en-US" dirty="0">
                <a:latin typeface="Calibri"/>
              </a:rPr>
              <a:t>≠</a:t>
            </a:r>
            <a:r>
              <a:rPr lang="en-US" i="1" dirty="0">
                <a:latin typeface="Calibri"/>
              </a:rPr>
              <a:t> 0 </a:t>
            </a:r>
            <a:r>
              <a:rPr lang="en-US" dirty="0">
                <a:latin typeface="Calibri"/>
              </a:rPr>
              <a:t>for </a:t>
            </a:r>
            <a:r>
              <a:rPr lang="en-US" i="1" dirty="0" err="1">
                <a:latin typeface="Calibri"/>
              </a:rPr>
              <a:t>i</a:t>
            </a:r>
            <a:r>
              <a:rPr lang="en-US" i="1" dirty="0">
                <a:latin typeface="Calibri"/>
              </a:rPr>
              <a:t> = 1, 2, …, n</a:t>
            </a:r>
            <a:r>
              <a:rPr lang="en-US" dirty="0">
                <a:latin typeface="Calibri"/>
              </a:rPr>
              <a:t>. Then</a:t>
            </a:r>
            <a:r>
              <a:rPr lang="en-US" dirty="0"/>
              <a:t> </a:t>
            </a:r>
          </a:p>
        </p:txBody>
      </p:sp>
      <p:pic>
        <p:nvPicPr>
          <p:cNvPr id="12" name="Picture 11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3104974" y="2649433"/>
            <a:ext cx="1425929" cy="900457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3276602" y="4495800"/>
            <a:ext cx="5080635" cy="92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8453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65CB-0172-224F-A1E1-001170D45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41546-B453-B746-848E-D27B4470C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Bayes</a:t>
            </a:r>
            <a:r>
              <a:rPr lang="en-US" dirty="0"/>
              <a:t>’ Theorem</a:t>
            </a:r>
          </a:p>
          <a:p>
            <a:pPr lvl="1"/>
            <a:r>
              <a:rPr lang="en-US" dirty="0"/>
              <a:t>Testing diseases</a:t>
            </a:r>
          </a:p>
          <a:p>
            <a:r>
              <a:rPr lang="en-US" dirty="0"/>
              <a:t>Generalized </a:t>
            </a:r>
            <a:r>
              <a:rPr lang="en-US" dirty="0" err="1"/>
              <a:t>Bayes</a:t>
            </a:r>
            <a:r>
              <a:rPr lang="en-US" dirty="0"/>
              <a:t>’ Theorem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9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p(\overline{ E}) = 1 - p(E).$&#10;&#10;&#10;\end{document}"/>
  <p:tag name="IGUANATEXSIZE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p(\overline{ E}) =\frac{|S| - |E|}{|S|} = 1 - \frac{|E|}{|S|} = 1 - p(E).$&#10;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p( E) = 1 - p(\overline{E})  = 1 - \frac{|\overline{E}|}{|S|} = 1 - \frac{1}{2^{10}} = 1 - \frac{1}{1024} = \frac{1023}{1024}.$&#10;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p(E_1 \cup E_2) = p(E_1) + p(E_2) - p(E_1 \cap E_2)$&#10;&#10;\end{document}"/>
  <p:tag name="IGUANATEXSIZE" val="2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p( E_1 \cup E_2) =\frac{|E_1  \cup E_2|}{|S|} = \frac{|E_1| + |E_2|  - |E_1 \cap E_2|}{|S|}$&#10;&#10;&#10;\end{document}"/>
  <p:tag name="IGUANATEXSIZE" val="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=\frac{|E_1|}{|S|}  + \frac{|E_2|}{|S|}  - \frac{|E_1 \cap E_2|}{|S|}$&#10;&#10;\end{document}"/>
  <p:tag name="IGUANATEXSIZE" val="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= p(E_1)  + p(E_2) -  p(E_1 \cap E_2).$&#10;&#10;&#10;\end{document}"/>
  <p:tag name="IGUANATEXSIZE" val="2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 p\left(\bigcup_{i} E_i\right) = \sum_{i} p(E_i)$$&#10;&#10;\end{document}"/>
  <p:tag name="IGUANATEXSIZE" val="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 p(E_{i_1} \cap E_{i_2} \cap \cdots \cap E_{i_m}) = p(E_{i_1})p(E_{i_2}) \cdots p(E_{i_m}) $$&#10;&#10;\end{document}"/>
  <p:tag name="IGUANATEXSIZE" val="2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\bigcup^{n}_i F_i = S.$$&#10;&#10;\end{document}"/>
  <p:tag name="IGUANATEXSIZE" val="1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p(F_j|E) = \frac{p(E|F_j)p(F_j)}{\sum^{n}_{i=1} p(E|F_i)p(F_i)}.$$&#10;&#10;\end{document}"/>
  <p:tag name="IGUANATEXSIZE" val="3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4431</TotalTime>
  <Words>3761</Words>
  <Application>Microsoft Macintosh PowerPoint</Application>
  <PresentationFormat>Widescreen</PresentationFormat>
  <Paragraphs>371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Calibri</vt:lpstr>
      <vt:lpstr>Calibri Light</vt:lpstr>
      <vt:lpstr>Cambria Math</vt:lpstr>
      <vt:lpstr>Symbol</vt:lpstr>
      <vt:lpstr>Office Theme</vt:lpstr>
      <vt:lpstr>Introduction to Discrete Probability</vt:lpstr>
      <vt:lpstr>Video 73: Probability </vt:lpstr>
      <vt:lpstr>Probability of an Event</vt:lpstr>
      <vt:lpstr>Probability of an Event</vt:lpstr>
      <vt:lpstr>Example</vt:lpstr>
      <vt:lpstr>Example</vt:lpstr>
      <vt:lpstr>Example</vt:lpstr>
      <vt:lpstr>Summary</vt:lpstr>
      <vt:lpstr>Video 74: Complements and Unions of Events</vt:lpstr>
      <vt:lpstr>The Probability of Complements of Events</vt:lpstr>
      <vt:lpstr>Example</vt:lpstr>
      <vt:lpstr>Example</vt:lpstr>
      <vt:lpstr>The Probability of Unions of Events</vt:lpstr>
      <vt:lpstr>Example</vt:lpstr>
      <vt:lpstr>Example</vt:lpstr>
      <vt:lpstr>Summary</vt:lpstr>
      <vt:lpstr> Probability Theory</vt:lpstr>
      <vt:lpstr>Video 75: Probability Distributions</vt:lpstr>
      <vt:lpstr>Limitation of Laplace’s Definition</vt:lpstr>
      <vt:lpstr>Probability Distribution</vt:lpstr>
      <vt:lpstr>Example</vt:lpstr>
      <vt:lpstr>Example</vt:lpstr>
      <vt:lpstr>Uniform Distribution</vt:lpstr>
      <vt:lpstr>Probability of an Event</vt:lpstr>
      <vt:lpstr>Example</vt:lpstr>
      <vt:lpstr>Probabilities of Complements and Unions</vt:lpstr>
      <vt:lpstr>Combinations of Events</vt:lpstr>
      <vt:lpstr>Summary</vt:lpstr>
      <vt:lpstr>Video 76: Conditional Probability</vt:lpstr>
      <vt:lpstr>Conditional Probability</vt:lpstr>
      <vt:lpstr>Conditional Probability</vt:lpstr>
      <vt:lpstr>Example</vt:lpstr>
      <vt:lpstr>Example</vt:lpstr>
      <vt:lpstr>Independence</vt:lpstr>
      <vt:lpstr>Example</vt:lpstr>
      <vt:lpstr>Example</vt:lpstr>
      <vt:lpstr>Pairwise and Mutual Independence</vt:lpstr>
      <vt:lpstr>Example</vt:lpstr>
      <vt:lpstr>Summary</vt:lpstr>
      <vt:lpstr>Video 77: Bernoulli Trials</vt:lpstr>
      <vt:lpstr>Example</vt:lpstr>
      <vt:lpstr>Bernoulli Trials </vt:lpstr>
      <vt:lpstr>Independent Bernoulli Trials</vt:lpstr>
      <vt:lpstr>Binomial Distribution</vt:lpstr>
      <vt:lpstr>Summary</vt:lpstr>
      <vt:lpstr>Bayes’ Theorem</vt:lpstr>
      <vt:lpstr>Video 78: Bayes’ Theorem</vt:lpstr>
      <vt:lpstr>Motivation for Bayes’ Theorem</vt:lpstr>
      <vt:lpstr>Bayes’ Theorem</vt:lpstr>
      <vt:lpstr>Example</vt:lpstr>
      <vt:lpstr>Example</vt:lpstr>
      <vt:lpstr>Derivation of Bayes’ Theorem</vt:lpstr>
      <vt:lpstr>Derivation of Bayes’ Theorem</vt:lpstr>
      <vt:lpstr>Example</vt:lpstr>
      <vt:lpstr>Example</vt:lpstr>
      <vt:lpstr>Example</vt:lpstr>
      <vt:lpstr>Generalized Bayes’ Theorem</vt:lpstr>
      <vt:lpstr>Summary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Probability</dc:title>
  <dc:creator>Karl Aberer</dc:creator>
  <cp:lastModifiedBy>Karl Aberer</cp:lastModifiedBy>
  <cp:revision>67</cp:revision>
  <dcterms:created xsi:type="dcterms:W3CDTF">2020-07-29T11:54:58Z</dcterms:created>
  <dcterms:modified xsi:type="dcterms:W3CDTF">2020-11-05T16:06:10Z</dcterms:modified>
</cp:coreProperties>
</file>