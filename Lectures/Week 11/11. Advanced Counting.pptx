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91" r:id="rId2"/>
    <p:sldId id="298" r:id="rId3"/>
    <p:sldId id="318" r:id="rId4"/>
    <p:sldId id="435" r:id="rId5"/>
    <p:sldId id="457" r:id="rId6"/>
    <p:sldId id="574" r:id="rId7"/>
    <p:sldId id="625" r:id="rId8"/>
    <p:sldId id="570" r:id="rId9"/>
    <p:sldId id="622" r:id="rId10"/>
    <p:sldId id="573" r:id="rId11"/>
    <p:sldId id="623" r:id="rId12"/>
    <p:sldId id="548" r:id="rId13"/>
    <p:sldId id="624" r:id="rId14"/>
    <p:sldId id="576" r:id="rId15"/>
    <p:sldId id="614" r:id="rId16"/>
    <p:sldId id="620" r:id="rId17"/>
    <p:sldId id="327" r:id="rId18"/>
    <p:sldId id="354" r:id="rId19"/>
    <p:sldId id="549" r:id="rId20"/>
    <p:sldId id="626" r:id="rId21"/>
    <p:sldId id="550" r:id="rId22"/>
    <p:sldId id="586" r:id="rId23"/>
    <p:sldId id="627" r:id="rId24"/>
    <p:sldId id="551" r:id="rId25"/>
    <p:sldId id="552" r:id="rId26"/>
    <p:sldId id="615" r:id="rId27"/>
    <p:sldId id="628" r:id="rId28"/>
    <p:sldId id="629" r:id="rId29"/>
    <p:sldId id="555" r:id="rId30"/>
    <p:sldId id="556" r:id="rId31"/>
    <p:sldId id="587" r:id="rId32"/>
    <p:sldId id="589" r:id="rId33"/>
    <p:sldId id="630" r:id="rId34"/>
    <p:sldId id="631" r:id="rId35"/>
    <p:sldId id="474" r:id="rId36"/>
    <p:sldId id="475" r:id="rId37"/>
    <p:sldId id="601" r:id="rId38"/>
    <p:sldId id="600" r:id="rId39"/>
    <p:sldId id="632" r:id="rId40"/>
    <p:sldId id="617" r:id="rId41"/>
    <p:sldId id="618" r:id="rId42"/>
    <p:sldId id="616" r:id="rId43"/>
    <p:sldId id="619" r:id="rId44"/>
    <p:sldId id="635" r:id="rId45"/>
    <p:sldId id="634" r:id="rId46"/>
    <p:sldId id="604" r:id="rId47"/>
    <p:sldId id="636" r:id="rId48"/>
    <p:sldId id="637" r:id="rId49"/>
    <p:sldId id="638" r:id="rId50"/>
    <p:sldId id="639" r:id="rId51"/>
    <p:sldId id="640" r:id="rId52"/>
    <p:sldId id="633" r:id="rId53"/>
    <p:sldId id="534" r:id="rId54"/>
    <p:sldId id="482" r:id="rId55"/>
    <p:sldId id="641" r:id="rId56"/>
    <p:sldId id="559" r:id="rId57"/>
    <p:sldId id="642" r:id="rId58"/>
    <p:sldId id="561" r:id="rId59"/>
    <p:sldId id="562" r:id="rId60"/>
    <p:sldId id="563" r:id="rId61"/>
    <p:sldId id="643" r:id="rId62"/>
    <p:sldId id="535" r:id="rId63"/>
    <p:sldId id="536" r:id="rId64"/>
    <p:sldId id="607" r:id="rId65"/>
    <p:sldId id="644" r:id="rId66"/>
    <p:sldId id="609" r:id="rId67"/>
    <p:sldId id="645" r:id="rId68"/>
    <p:sldId id="610" r:id="rId69"/>
    <p:sldId id="611" r:id="rId70"/>
    <p:sldId id="612" r:id="rId71"/>
    <p:sldId id="621"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367"/>
    <p:restoredTop sz="97835"/>
  </p:normalViewPr>
  <p:slideViewPr>
    <p:cSldViewPr snapToGrid="0" snapToObjects="1">
      <p:cViewPr varScale="1">
        <p:scale>
          <a:sx n="181" d="100"/>
          <a:sy n="181" d="100"/>
        </p:scale>
        <p:origin x="216" y="4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59119-503A-8E42-A2A2-D7FA14B481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C8E096E-65C5-CD48-9D51-B69B000548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94E5A5-B354-3D4D-8CF6-7A5CF92C463C}"/>
              </a:ext>
            </a:extLst>
          </p:cNvPr>
          <p:cNvSpPr>
            <a:spLocks noGrp="1"/>
          </p:cNvSpPr>
          <p:nvPr>
            <p:ph type="dt" sz="half" idx="10"/>
          </p:nvPr>
        </p:nvSpPr>
        <p:spPr/>
        <p:txBody>
          <a:bodyPr/>
          <a:lstStyle/>
          <a:p>
            <a:fld id="{39706E35-983D-0347-A1AE-A115ADC385D9}" type="datetimeFigureOut">
              <a:t>10/16/20</a:t>
            </a:fld>
            <a:endParaRPr lang="en-US"/>
          </a:p>
        </p:txBody>
      </p:sp>
      <p:sp>
        <p:nvSpPr>
          <p:cNvPr id="5" name="Footer Placeholder 4">
            <a:extLst>
              <a:ext uri="{FF2B5EF4-FFF2-40B4-BE49-F238E27FC236}">
                <a16:creationId xmlns:a16="http://schemas.microsoft.com/office/drawing/2014/main" id="{AF614738-8471-6148-BAED-964BBF9739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32D2E2-3E64-F14E-8DAE-A126E17D2AB9}"/>
              </a:ext>
            </a:extLst>
          </p:cNvPr>
          <p:cNvSpPr>
            <a:spLocks noGrp="1"/>
          </p:cNvSpPr>
          <p:nvPr>
            <p:ph type="sldNum" sz="quarter" idx="12"/>
          </p:nvPr>
        </p:nvSpPr>
        <p:spPr/>
        <p:txBody>
          <a:bodyPr/>
          <a:lstStyle/>
          <a:p>
            <a:fld id="{118C5BF4-7F47-3146-A317-2AC587CDAC6A}" type="slidenum">
              <a:t>‹#›</a:t>
            </a:fld>
            <a:endParaRPr lang="en-US"/>
          </a:p>
        </p:txBody>
      </p:sp>
    </p:spTree>
    <p:extLst>
      <p:ext uri="{BB962C8B-B14F-4D97-AF65-F5344CB8AC3E}">
        <p14:creationId xmlns:p14="http://schemas.microsoft.com/office/powerpoint/2010/main" val="2145085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4A323-F1F7-F04E-93A8-8CC64156F2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40426C-FB21-DB43-B096-97A3A328A12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A00C74-0648-FB41-959E-2A0DD48875A3}"/>
              </a:ext>
            </a:extLst>
          </p:cNvPr>
          <p:cNvSpPr>
            <a:spLocks noGrp="1"/>
          </p:cNvSpPr>
          <p:nvPr>
            <p:ph type="dt" sz="half" idx="10"/>
          </p:nvPr>
        </p:nvSpPr>
        <p:spPr/>
        <p:txBody>
          <a:bodyPr/>
          <a:lstStyle/>
          <a:p>
            <a:fld id="{39706E35-983D-0347-A1AE-A115ADC385D9}" type="datetimeFigureOut">
              <a:t>10/16/20</a:t>
            </a:fld>
            <a:endParaRPr lang="en-US"/>
          </a:p>
        </p:txBody>
      </p:sp>
      <p:sp>
        <p:nvSpPr>
          <p:cNvPr id="5" name="Footer Placeholder 4">
            <a:extLst>
              <a:ext uri="{FF2B5EF4-FFF2-40B4-BE49-F238E27FC236}">
                <a16:creationId xmlns:a16="http://schemas.microsoft.com/office/drawing/2014/main" id="{289EA5A9-F589-D141-81D6-308DA0B282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515831-7E2E-7D4F-BF9C-DE391526C55C}"/>
              </a:ext>
            </a:extLst>
          </p:cNvPr>
          <p:cNvSpPr>
            <a:spLocks noGrp="1"/>
          </p:cNvSpPr>
          <p:nvPr>
            <p:ph type="sldNum" sz="quarter" idx="12"/>
          </p:nvPr>
        </p:nvSpPr>
        <p:spPr/>
        <p:txBody>
          <a:bodyPr/>
          <a:lstStyle/>
          <a:p>
            <a:fld id="{118C5BF4-7F47-3146-A317-2AC587CDAC6A}" type="slidenum">
              <a:t>‹#›</a:t>
            </a:fld>
            <a:endParaRPr lang="en-US"/>
          </a:p>
        </p:txBody>
      </p:sp>
    </p:spTree>
    <p:extLst>
      <p:ext uri="{BB962C8B-B14F-4D97-AF65-F5344CB8AC3E}">
        <p14:creationId xmlns:p14="http://schemas.microsoft.com/office/powerpoint/2010/main" val="1657412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1D7AE-9F41-BF4E-98F0-D6B9B68B7D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C666B9-A1FB-3C47-9EF5-C951F874CD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5560C67-7B39-EF43-AEE2-9D0ADA6364BC}"/>
              </a:ext>
            </a:extLst>
          </p:cNvPr>
          <p:cNvSpPr>
            <a:spLocks noGrp="1"/>
          </p:cNvSpPr>
          <p:nvPr>
            <p:ph type="dt" sz="half" idx="10"/>
          </p:nvPr>
        </p:nvSpPr>
        <p:spPr/>
        <p:txBody>
          <a:bodyPr/>
          <a:lstStyle/>
          <a:p>
            <a:fld id="{39706E35-983D-0347-A1AE-A115ADC385D9}" type="datetimeFigureOut">
              <a:t>10/16/20</a:t>
            </a:fld>
            <a:endParaRPr lang="en-US"/>
          </a:p>
        </p:txBody>
      </p:sp>
      <p:sp>
        <p:nvSpPr>
          <p:cNvPr id="5" name="Footer Placeholder 4">
            <a:extLst>
              <a:ext uri="{FF2B5EF4-FFF2-40B4-BE49-F238E27FC236}">
                <a16:creationId xmlns:a16="http://schemas.microsoft.com/office/drawing/2014/main" id="{C75A9962-E0FC-3A4C-8933-332E4511C0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374712-8B9B-3643-B133-32311509D8E9}"/>
              </a:ext>
            </a:extLst>
          </p:cNvPr>
          <p:cNvSpPr>
            <a:spLocks noGrp="1"/>
          </p:cNvSpPr>
          <p:nvPr>
            <p:ph type="sldNum" sz="quarter" idx="12"/>
          </p:nvPr>
        </p:nvSpPr>
        <p:spPr/>
        <p:txBody>
          <a:bodyPr/>
          <a:lstStyle/>
          <a:p>
            <a:fld id="{118C5BF4-7F47-3146-A317-2AC587CDAC6A}" type="slidenum">
              <a:t>‹#›</a:t>
            </a:fld>
            <a:endParaRPr lang="en-US"/>
          </a:p>
        </p:txBody>
      </p:sp>
    </p:spTree>
    <p:extLst>
      <p:ext uri="{BB962C8B-B14F-4D97-AF65-F5344CB8AC3E}">
        <p14:creationId xmlns:p14="http://schemas.microsoft.com/office/powerpoint/2010/main" val="2857463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4D961-9FA8-C24D-81D0-40BDD0AD07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315C47-80B8-CB41-8F6B-B240BEABA4F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0617EA-E343-B74C-96B8-E9E6322B009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A0B8BB-80F4-004C-8D09-E6071F83098B}"/>
              </a:ext>
            </a:extLst>
          </p:cNvPr>
          <p:cNvSpPr>
            <a:spLocks noGrp="1"/>
          </p:cNvSpPr>
          <p:nvPr>
            <p:ph type="dt" sz="half" idx="10"/>
          </p:nvPr>
        </p:nvSpPr>
        <p:spPr/>
        <p:txBody>
          <a:bodyPr/>
          <a:lstStyle/>
          <a:p>
            <a:fld id="{39706E35-983D-0347-A1AE-A115ADC385D9}" type="datetimeFigureOut">
              <a:t>10/16/20</a:t>
            </a:fld>
            <a:endParaRPr lang="en-US"/>
          </a:p>
        </p:txBody>
      </p:sp>
      <p:sp>
        <p:nvSpPr>
          <p:cNvPr id="6" name="Footer Placeholder 5">
            <a:extLst>
              <a:ext uri="{FF2B5EF4-FFF2-40B4-BE49-F238E27FC236}">
                <a16:creationId xmlns:a16="http://schemas.microsoft.com/office/drawing/2014/main" id="{F2A91C74-31E5-A949-AB26-5FCB8CD2F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9699BE-27A2-F449-AC6E-60B1507992B8}"/>
              </a:ext>
            </a:extLst>
          </p:cNvPr>
          <p:cNvSpPr>
            <a:spLocks noGrp="1"/>
          </p:cNvSpPr>
          <p:nvPr>
            <p:ph type="sldNum" sz="quarter" idx="12"/>
          </p:nvPr>
        </p:nvSpPr>
        <p:spPr/>
        <p:txBody>
          <a:bodyPr/>
          <a:lstStyle/>
          <a:p>
            <a:fld id="{118C5BF4-7F47-3146-A317-2AC587CDAC6A}" type="slidenum">
              <a:t>‹#›</a:t>
            </a:fld>
            <a:endParaRPr lang="en-US"/>
          </a:p>
        </p:txBody>
      </p:sp>
    </p:spTree>
    <p:extLst>
      <p:ext uri="{BB962C8B-B14F-4D97-AF65-F5344CB8AC3E}">
        <p14:creationId xmlns:p14="http://schemas.microsoft.com/office/powerpoint/2010/main" val="1427021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BAD7A-9CCE-F54B-A7FA-11034749B0D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C3FE913-8BD7-444D-819C-5790CBEFC2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EC5C1BD-21AC-9246-AE81-C5C0B3466C0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8D6245-29FE-D943-AADB-4883CD72F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52EF4D6-60AF-934A-999D-E50594C3D44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0D76A43-3A62-0549-9DC7-04FB4292770D}"/>
              </a:ext>
            </a:extLst>
          </p:cNvPr>
          <p:cNvSpPr>
            <a:spLocks noGrp="1"/>
          </p:cNvSpPr>
          <p:nvPr>
            <p:ph type="dt" sz="half" idx="10"/>
          </p:nvPr>
        </p:nvSpPr>
        <p:spPr/>
        <p:txBody>
          <a:bodyPr/>
          <a:lstStyle/>
          <a:p>
            <a:fld id="{39706E35-983D-0347-A1AE-A115ADC385D9}" type="datetimeFigureOut">
              <a:t>10/16/20</a:t>
            </a:fld>
            <a:endParaRPr lang="en-US"/>
          </a:p>
        </p:txBody>
      </p:sp>
      <p:sp>
        <p:nvSpPr>
          <p:cNvPr id="8" name="Footer Placeholder 7">
            <a:extLst>
              <a:ext uri="{FF2B5EF4-FFF2-40B4-BE49-F238E27FC236}">
                <a16:creationId xmlns:a16="http://schemas.microsoft.com/office/drawing/2014/main" id="{9D78A3E6-5E1B-1F43-A1F0-0E2FA95E07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07CCD3-503E-7947-9A06-D4E3DE42124D}"/>
              </a:ext>
            </a:extLst>
          </p:cNvPr>
          <p:cNvSpPr>
            <a:spLocks noGrp="1"/>
          </p:cNvSpPr>
          <p:nvPr>
            <p:ph type="sldNum" sz="quarter" idx="12"/>
          </p:nvPr>
        </p:nvSpPr>
        <p:spPr/>
        <p:txBody>
          <a:bodyPr/>
          <a:lstStyle/>
          <a:p>
            <a:fld id="{118C5BF4-7F47-3146-A317-2AC587CDAC6A}" type="slidenum">
              <a:t>‹#›</a:t>
            </a:fld>
            <a:endParaRPr lang="en-US"/>
          </a:p>
        </p:txBody>
      </p:sp>
    </p:spTree>
    <p:extLst>
      <p:ext uri="{BB962C8B-B14F-4D97-AF65-F5344CB8AC3E}">
        <p14:creationId xmlns:p14="http://schemas.microsoft.com/office/powerpoint/2010/main" val="1653426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0E659-E46C-BD4A-ABCF-87EA616000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E35DA60-B9B5-C649-9DCD-E96B60D66B3B}"/>
              </a:ext>
            </a:extLst>
          </p:cNvPr>
          <p:cNvSpPr>
            <a:spLocks noGrp="1"/>
          </p:cNvSpPr>
          <p:nvPr>
            <p:ph type="dt" sz="half" idx="10"/>
          </p:nvPr>
        </p:nvSpPr>
        <p:spPr/>
        <p:txBody>
          <a:bodyPr/>
          <a:lstStyle/>
          <a:p>
            <a:fld id="{39706E35-983D-0347-A1AE-A115ADC385D9}" type="datetimeFigureOut">
              <a:t>10/16/20</a:t>
            </a:fld>
            <a:endParaRPr lang="en-US"/>
          </a:p>
        </p:txBody>
      </p:sp>
      <p:sp>
        <p:nvSpPr>
          <p:cNvPr id="4" name="Footer Placeholder 3">
            <a:extLst>
              <a:ext uri="{FF2B5EF4-FFF2-40B4-BE49-F238E27FC236}">
                <a16:creationId xmlns:a16="http://schemas.microsoft.com/office/drawing/2014/main" id="{482ED5E6-EF32-C14A-BD0E-45AAD0F711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54FD47-111C-E040-87F7-319179819404}"/>
              </a:ext>
            </a:extLst>
          </p:cNvPr>
          <p:cNvSpPr>
            <a:spLocks noGrp="1"/>
          </p:cNvSpPr>
          <p:nvPr>
            <p:ph type="sldNum" sz="quarter" idx="12"/>
          </p:nvPr>
        </p:nvSpPr>
        <p:spPr/>
        <p:txBody>
          <a:bodyPr/>
          <a:lstStyle/>
          <a:p>
            <a:fld id="{118C5BF4-7F47-3146-A317-2AC587CDAC6A}" type="slidenum">
              <a:t>‹#›</a:t>
            </a:fld>
            <a:endParaRPr lang="en-US"/>
          </a:p>
        </p:txBody>
      </p:sp>
    </p:spTree>
    <p:extLst>
      <p:ext uri="{BB962C8B-B14F-4D97-AF65-F5344CB8AC3E}">
        <p14:creationId xmlns:p14="http://schemas.microsoft.com/office/powerpoint/2010/main" val="2907987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9D2BA5-1F8D-6546-9A89-1FA524C38262}"/>
              </a:ext>
            </a:extLst>
          </p:cNvPr>
          <p:cNvSpPr>
            <a:spLocks noGrp="1"/>
          </p:cNvSpPr>
          <p:nvPr>
            <p:ph type="dt" sz="half" idx="10"/>
          </p:nvPr>
        </p:nvSpPr>
        <p:spPr/>
        <p:txBody>
          <a:bodyPr/>
          <a:lstStyle/>
          <a:p>
            <a:fld id="{39706E35-983D-0347-A1AE-A115ADC385D9}" type="datetimeFigureOut">
              <a:t>10/16/20</a:t>
            </a:fld>
            <a:endParaRPr lang="en-US"/>
          </a:p>
        </p:txBody>
      </p:sp>
      <p:sp>
        <p:nvSpPr>
          <p:cNvPr id="3" name="Footer Placeholder 2">
            <a:extLst>
              <a:ext uri="{FF2B5EF4-FFF2-40B4-BE49-F238E27FC236}">
                <a16:creationId xmlns:a16="http://schemas.microsoft.com/office/drawing/2014/main" id="{44326931-4FF6-204D-9F41-0041AD4F4AC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B96719-AB64-D142-BC6B-9AEEDE93BF22}"/>
              </a:ext>
            </a:extLst>
          </p:cNvPr>
          <p:cNvSpPr>
            <a:spLocks noGrp="1"/>
          </p:cNvSpPr>
          <p:nvPr>
            <p:ph type="sldNum" sz="quarter" idx="12"/>
          </p:nvPr>
        </p:nvSpPr>
        <p:spPr/>
        <p:txBody>
          <a:bodyPr/>
          <a:lstStyle/>
          <a:p>
            <a:fld id="{118C5BF4-7F47-3146-A317-2AC587CDAC6A}" type="slidenum">
              <a:t>‹#›</a:t>
            </a:fld>
            <a:endParaRPr lang="en-US"/>
          </a:p>
        </p:txBody>
      </p:sp>
    </p:spTree>
    <p:extLst>
      <p:ext uri="{BB962C8B-B14F-4D97-AF65-F5344CB8AC3E}">
        <p14:creationId xmlns:p14="http://schemas.microsoft.com/office/powerpoint/2010/main" val="4196675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D2780-C342-484E-97F6-6D6DA84908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EA1215B-DDFA-2941-893F-DEA16E7344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904B15A-92D9-7940-9B1F-ADD1985097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AAA1329-4C47-574A-9004-47D6E675C10C}"/>
              </a:ext>
            </a:extLst>
          </p:cNvPr>
          <p:cNvSpPr>
            <a:spLocks noGrp="1"/>
          </p:cNvSpPr>
          <p:nvPr>
            <p:ph type="dt" sz="half" idx="10"/>
          </p:nvPr>
        </p:nvSpPr>
        <p:spPr/>
        <p:txBody>
          <a:bodyPr/>
          <a:lstStyle/>
          <a:p>
            <a:fld id="{39706E35-983D-0347-A1AE-A115ADC385D9}" type="datetimeFigureOut">
              <a:t>10/16/20</a:t>
            </a:fld>
            <a:endParaRPr lang="en-US"/>
          </a:p>
        </p:txBody>
      </p:sp>
      <p:sp>
        <p:nvSpPr>
          <p:cNvPr id="6" name="Footer Placeholder 5">
            <a:extLst>
              <a:ext uri="{FF2B5EF4-FFF2-40B4-BE49-F238E27FC236}">
                <a16:creationId xmlns:a16="http://schemas.microsoft.com/office/drawing/2014/main" id="{EB1AC7A3-4323-3040-A324-CED4B925C1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8DD8A5-8751-9949-BB45-D3960B60E08D}"/>
              </a:ext>
            </a:extLst>
          </p:cNvPr>
          <p:cNvSpPr>
            <a:spLocks noGrp="1"/>
          </p:cNvSpPr>
          <p:nvPr>
            <p:ph type="sldNum" sz="quarter" idx="12"/>
          </p:nvPr>
        </p:nvSpPr>
        <p:spPr/>
        <p:txBody>
          <a:bodyPr/>
          <a:lstStyle/>
          <a:p>
            <a:fld id="{118C5BF4-7F47-3146-A317-2AC587CDAC6A}" type="slidenum">
              <a:t>‹#›</a:t>
            </a:fld>
            <a:endParaRPr lang="en-US"/>
          </a:p>
        </p:txBody>
      </p:sp>
    </p:spTree>
    <p:extLst>
      <p:ext uri="{BB962C8B-B14F-4D97-AF65-F5344CB8AC3E}">
        <p14:creationId xmlns:p14="http://schemas.microsoft.com/office/powerpoint/2010/main" val="3715715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A193C-57DD-EA47-90A8-DF126AB129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CEBA25E-DE58-4546-ABB9-8FA62148DA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FB3EF3-7749-2B4B-9B0D-422D6711A3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2456579-ACAF-434D-8243-7178AC9BB067}"/>
              </a:ext>
            </a:extLst>
          </p:cNvPr>
          <p:cNvSpPr>
            <a:spLocks noGrp="1"/>
          </p:cNvSpPr>
          <p:nvPr>
            <p:ph type="dt" sz="half" idx="10"/>
          </p:nvPr>
        </p:nvSpPr>
        <p:spPr/>
        <p:txBody>
          <a:bodyPr/>
          <a:lstStyle/>
          <a:p>
            <a:fld id="{39706E35-983D-0347-A1AE-A115ADC385D9}" type="datetimeFigureOut">
              <a:t>10/16/20</a:t>
            </a:fld>
            <a:endParaRPr lang="en-US"/>
          </a:p>
        </p:txBody>
      </p:sp>
      <p:sp>
        <p:nvSpPr>
          <p:cNvPr id="6" name="Footer Placeholder 5">
            <a:extLst>
              <a:ext uri="{FF2B5EF4-FFF2-40B4-BE49-F238E27FC236}">
                <a16:creationId xmlns:a16="http://schemas.microsoft.com/office/drawing/2014/main" id="{63707E17-4E3D-F044-8D53-9DF1771E65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DAEF99-0B22-B643-B352-80950851E215}"/>
              </a:ext>
            </a:extLst>
          </p:cNvPr>
          <p:cNvSpPr>
            <a:spLocks noGrp="1"/>
          </p:cNvSpPr>
          <p:nvPr>
            <p:ph type="sldNum" sz="quarter" idx="12"/>
          </p:nvPr>
        </p:nvSpPr>
        <p:spPr/>
        <p:txBody>
          <a:bodyPr/>
          <a:lstStyle/>
          <a:p>
            <a:fld id="{118C5BF4-7F47-3146-A317-2AC587CDAC6A}" type="slidenum">
              <a:t>‹#›</a:t>
            </a:fld>
            <a:endParaRPr lang="en-US"/>
          </a:p>
        </p:txBody>
      </p:sp>
    </p:spTree>
    <p:extLst>
      <p:ext uri="{BB962C8B-B14F-4D97-AF65-F5344CB8AC3E}">
        <p14:creationId xmlns:p14="http://schemas.microsoft.com/office/powerpoint/2010/main" val="2446747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08AA5-DE2F-5447-AE87-0A88FA7F6BD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A959D2-8BD2-4B44-86D7-75E3A9CEA12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1D6D95-B83B-B54B-98F7-B36151BF6D93}"/>
              </a:ext>
            </a:extLst>
          </p:cNvPr>
          <p:cNvSpPr>
            <a:spLocks noGrp="1"/>
          </p:cNvSpPr>
          <p:nvPr>
            <p:ph type="dt" sz="half" idx="10"/>
          </p:nvPr>
        </p:nvSpPr>
        <p:spPr/>
        <p:txBody>
          <a:bodyPr/>
          <a:lstStyle/>
          <a:p>
            <a:fld id="{39706E35-983D-0347-A1AE-A115ADC385D9}" type="datetimeFigureOut">
              <a:t>10/16/20</a:t>
            </a:fld>
            <a:endParaRPr lang="en-US"/>
          </a:p>
        </p:txBody>
      </p:sp>
      <p:sp>
        <p:nvSpPr>
          <p:cNvPr id="5" name="Footer Placeholder 4">
            <a:extLst>
              <a:ext uri="{FF2B5EF4-FFF2-40B4-BE49-F238E27FC236}">
                <a16:creationId xmlns:a16="http://schemas.microsoft.com/office/drawing/2014/main" id="{697EFC72-5F36-C646-B9D7-A9FB0119D2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841CA2-9C78-284E-B10E-457604A1B72C}"/>
              </a:ext>
            </a:extLst>
          </p:cNvPr>
          <p:cNvSpPr>
            <a:spLocks noGrp="1"/>
          </p:cNvSpPr>
          <p:nvPr>
            <p:ph type="sldNum" sz="quarter" idx="12"/>
          </p:nvPr>
        </p:nvSpPr>
        <p:spPr/>
        <p:txBody>
          <a:bodyPr/>
          <a:lstStyle/>
          <a:p>
            <a:fld id="{118C5BF4-7F47-3146-A317-2AC587CDAC6A}" type="slidenum">
              <a:t>‹#›</a:t>
            </a:fld>
            <a:endParaRPr lang="en-US"/>
          </a:p>
        </p:txBody>
      </p:sp>
    </p:spTree>
    <p:extLst>
      <p:ext uri="{BB962C8B-B14F-4D97-AF65-F5344CB8AC3E}">
        <p14:creationId xmlns:p14="http://schemas.microsoft.com/office/powerpoint/2010/main" val="2858955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09B458-3D6F-B04F-8E13-BDDB92AEAB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905567-6F90-054A-A88C-653098E657E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93E843-CE93-2440-874F-BAFD15F15395}"/>
              </a:ext>
            </a:extLst>
          </p:cNvPr>
          <p:cNvSpPr>
            <a:spLocks noGrp="1"/>
          </p:cNvSpPr>
          <p:nvPr>
            <p:ph type="dt" sz="half" idx="10"/>
          </p:nvPr>
        </p:nvSpPr>
        <p:spPr/>
        <p:txBody>
          <a:bodyPr/>
          <a:lstStyle/>
          <a:p>
            <a:fld id="{39706E35-983D-0347-A1AE-A115ADC385D9}" type="datetimeFigureOut">
              <a:t>10/16/20</a:t>
            </a:fld>
            <a:endParaRPr lang="en-US"/>
          </a:p>
        </p:txBody>
      </p:sp>
      <p:sp>
        <p:nvSpPr>
          <p:cNvPr id="5" name="Footer Placeholder 4">
            <a:extLst>
              <a:ext uri="{FF2B5EF4-FFF2-40B4-BE49-F238E27FC236}">
                <a16:creationId xmlns:a16="http://schemas.microsoft.com/office/drawing/2014/main" id="{4A703966-A64E-0247-8F76-712F10614F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67A2CB-C3D2-F94F-9DA7-14208B4986BC}"/>
              </a:ext>
            </a:extLst>
          </p:cNvPr>
          <p:cNvSpPr>
            <a:spLocks noGrp="1"/>
          </p:cNvSpPr>
          <p:nvPr>
            <p:ph type="sldNum" sz="quarter" idx="12"/>
          </p:nvPr>
        </p:nvSpPr>
        <p:spPr/>
        <p:txBody>
          <a:bodyPr/>
          <a:lstStyle/>
          <a:p>
            <a:fld id="{118C5BF4-7F47-3146-A317-2AC587CDAC6A}" type="slidenum">
              <a:t>‹#›</a:t>
            </a:fld>
            <a:endParaRPr lang="en-US"/>
          </a:p>
        </p:txBody>
      </p:sp>
    </p:spTree>
    <p:extLst>
      <p:ext uri="{BB962C8B-B14F-4D97-AF65-F5344CB8AC3E}">
        <p14:creationId xmlns:p14="http://schemas.microsoft.com/office/powerpoint/2010/main" val="292738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6E82CD-1A29-4148-81EB-58176B674C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31B042-EFD0-DA47-834A-FA9911361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3A7606-2742-F945-838B-2E1E8EE9B1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706E35-983D-0347-A1AE-A115ADC385D9}" type="datetimeFigureOut">
              <a:t>10/16/20</a:t>
            </a:fld>
            <a:endParaRPr lang="en-US"/>
          </a:p>
        </p:txBody>
      </p:sp>
      <p:sp>
        <p:nvSpPr>
          <p:cNvPr id="5" name="Footer Placeholder 4">
            <a:extLst>
              <a:ext uri="{FF2B5EF4-FFF2-40B4-BE49-F238E27FC236}">
                <a16:creationId xmlns:a16="http://schemas.microsoft.com/office/drawing/2014/main" id="{06ED2BC1-D78A-DC48-8DCB-809920A495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87F91B1-F9F2-1840-A53A-B10EBEDC83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8C5BF4-7F47-3146-A317-2AC587CDAC6A}" type="slidenum">
              <a:t>‹#›</a:t>
            </a:fld>
            <a:endParaRPr lang="en-US"/>
          </a:p>
        </p:txBody>
      </p:sp>
    </p:spTree>
    <p:extLst>
      <p:ext uri="{BB962C8B-B14F-4D97-AF65-F5344CB8AC3E}">
        <p14:creationId xmlns:p14="http://schemas.microsoft.com/office/powerpoint/2010/main" val="2080374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6.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image" Target="../media/image12.png"/><Relationship Id="rId3" Type="http://schemas.openxmlformats.org/officeDocument/2006/relationships/tags" Target="../tags/tag7.xml"/><Relationship Id="rId7" Type="http://schemas.openxmlformats.org/officeDocument/2006/relationships/tags" Target="../tags/tag11.xml"/><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tags" Target="../tags/tag6.xml"/><Relationship Id="rId16" Type="http://schemas.openxmlformats.org/officeDocument/2006/relationships/image" Target="../media/image15.png"/><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image" Target="../media/image10.png"/><Relationship Id="rId5" Type="http://schemas.openxmlformats.org/officeDocument/2006/relationships/tags" Target="../tags/tag9.xml"/><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tags" Target="../tags/tag8.xml"/><Relationship Id="rId9" Type="http://schemas.openxmlformats.org/officeDocument/2006/relationships/slideLayout" Target="../slideLayouts/slideLayout2.xml"/><Relationship Id="rId14"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32.xml.rels><?xml version="1.0" encoding="UTF-8" standalone="yes"?>
<Relationships xmlns="http://schemas.openxmlformats.org/package/2006/relationships"><Relationship Id="rId3" Type="http://schemas.openxmlformats.org/officeDocument/2006/relationships/tags" Target="../tags/tag17.xml"/><Relationship Id="rId7" Type="http://schemas.openxmlformats.org/officeDocument/2006/relationships/image" Target="../media/image21.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3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tags" Target="../tags/tag21.xml"/><Relationship Id="rId7" Type="http://schemas.openxmlformats.org/officeDocument/2006/relationships/image" Target="../media/image26.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2.xml"/><Relationship Id="rId1" Type="http://schemas.openxmlformats.org/officeDocument/2006/relationships/tags" Target="../tags/tag22.xml"/><Relationship Id="rId5" Type="http://schemas.openxmlformats.org/officeDocument/2006/relationships/image" Target="../media/image44.png"/><Relationship Id="rId4" Type="http://schemas.openxmlformats.org/officeDocument/2006/relationships/image" Target="../media/image43.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47.jpeg"/><Relationship Id="rId5" Type="http://schemas.openxmlformats.org/officeDocument/2006/relationships/image" Target="../media/image46.png"/><Relationship Id="rId4" Type="http://schemas.openxmlformats.org/officeDocument/2006/relationships/image" Target="../media/image45.png"/></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tags" Target="../tags/tag27.xml"/><Relationship Id="rId7" Type="http://schemas.openxmlformats.org/officeDocument/2006/relationships/image" Target="../media/image51.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6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7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2.xml"/><Relationship Id="rId1" Type="http://schemas.openxmlformats.org/officeDocument/2006/relationships/tags" Target="../tags/tag30.xml"/><Relationship Id="rId4" Type="http://schemas.openxmlformats.org/officeDocument/2006/relationships/image" Target="../media/image57.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Advanced Counting Techniques </a:t>
            </a:r>
          </a:p>
        </p:txBody>
      </p:sp>
      <p:sp>
        <p:nvSpPr>
          <p:cNvPr id="3" name="Subtitle 2"/>
          <p:cNvSpPr>
            <a:spLocks noGrp="1"/>
          </p:cNvSpPr>
          <p:nvPr>
            <p:ph type="subTitle" idx="1"/>
          </p:nvPr>
        </p:nvSpPr>
        <p:spPr/>
        <p:txBody>
          <a:bodyPr/>
          <a:lstStyle/>
          <a:p>
            <a:r>
              <a:rPr lang="en-US" dirty="0"/>
              <a:t>Chapter 8</a:t>
            </a:r>
          </a:p>
        </p:txBody>
      </p:sp>
    </p:spTree>
    <p:extLst>
      <p:ext uri="{BB962C8B-B14F-4D97-AF65-F5344CB8AC3E}">
        <p14:creationId xmlns:p14="http://schemas.microsoft.com/office/powerpoint/2010/main" val="2124954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Applications of Recurrence Relations</a:t>
            </a:r>
          </a:p>
        </p:txBody>
      </p:sp>
      <p:sp>
        <p:nvSpPr>
          <p:cNvPr id="3" name="Subtitle 2"/>
          <p:cNvSpPr>
            <a:spLocks noGrp="1"/>
          </p:cNvSpPr>
          <p:nvPr>
            <p:ph type="subTitle" idx="1"/>
          </p:nvPr>
        </p:nvSpPr>
        <p:spPr/>
        <p:txBody>
          <a:bodyPr/>
          <a:lstStyle/>
          <a:p>
            <a:r>
              <a:rPr lang="en-US" dirty="0"/>
              <a:t>Section 8.</a:t>
            </a:r>
            <a:r>
              <a:rPr lang="en-US" dirty="0">
                <a:latin typeface="Cambria Math" pitchFamily="18" charset="0"/>
                <a:ea typeface="Cambria Math" pitchFamily="18" charset="0"/>
              </a:rPr>
              <a:t>1</a:t>
            </a:r>
          </a:p>
        </p:txBody>
      </p:sp>
    </p:spTree>
    <p:extLst>
      <p:ext uri="{BB962C8B-B14F-4D97-AF65-F5344CB8AC3E}">
        <p14:creationId xmlns:p14="http://schemas.microsoft.com/office/powerpoint/2010/main" val="3929493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Video 67: Counting with Recurrence Relations</a:t>
            </a:r>
          </a:p>
        </p:txBody>
      </p:sp>
      <p:sp>
        <p:nvSpPr>
          <p:cNvPr id="3" name="Content Placeholder 2"/>
          <p:cNvSpPr>
            <a:spLocks noGrp="1"/>
          </p:cNvSpPr>
          <p:nvPr>
            <p:ph idx="1"/>
          </p:nvPr>
        </p:nvSpPr>
        <p:spPr/>
        <p:txBody>
          <a:bodyPr>
            <a:normAutofit/>
          </a:bodyPr>
          <a:lstStyle/>
          <a:p>
            <a:pPr marL="0" indent="0">
              <a:buNone/>
            </a:pPr>
            <a:r>
              <a:rPr lang="en-US" dirty="0"/>
              <a:t>Counting with Recurrence Relations</a:t>
            </a:r>
          </a:p>
          <a:p>
            <a:pPr lvl="1"/>
            <a:r>
              <a:rPr lang="en-US" dirty="0"/>
              <a:t>Counting Bitstrings</a:t>
            </a:r>
          </a:p>
          <a:p>
            <a:pPr lvl="1"/>
            <a:r>
              <a:rPr lang="en-US" dirty="0"/>
              <a:t>The Tower of Hanoi </a:t>
            </a:r>
          </a:p>
          <a:p>
            <a:pPr lvl="1"/>
            <a:r>
              <a:rPr lang="en-US" dirty="0"/>
              <a:t>Counting Arrangments of Parantheses</a:t>
            </a:r>
          </a:p>
        </p:txBody>
      </p:sp>
    </p:spTree>
    <p:extLst>
      <p:ext uri="{BB962C8B-B14F-4D97-AF65-F5344CB8AC3E}">
        <p14:creationId xmlns:p14="http://schemas.microsoft.com/office/powerpoint/2010/main" val="2647790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Recurrence Relations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pPr>
                  <a:buNone/>
                </a:pPr>
                <a:r>
                  <a:rPr lang="en-US" b="1" dirty="0"/>
                  <a:t>Definition: </a:t>
                </a:r>
                <a:r>
                  <a:rPr lang="en-US" dirty="0"/>
                  <a:t>A </a:t>
                </a:r>
                <a:r>
                  <a:rPr lang="en-US" b="1" dirty="0"/>
                  <a:t>recurrence relation </a:t>
                </a:r>
                <a:r>
                  <a:rPr lang="en-US" dirty="0"/>
                  <a:t>for the sequence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𝑎𝑛</m:t>
                    </m:r>
                    <m:r>
                      <a:rPr lang="en-US" i="1" dirty="0">
                        <a:latin typeface="Cambria Math" panose="02040503050406030204" pitchFamily="18" charset="0"/>
                      </a:rPr>
                      <m:t>} </m:t>
                    </m:r>
                  </m:oMath>
                </a14:m>
                <a:r>
                  <a:rPr lang="en-US" dirty="0"/>
                  <a:t>is an equation that expresses </a:t>
                </a:r>
                <a14:m>
                  <m:oMath xmlns:m="http://schemas.openxmlformats.org/officeDocument/2006/math">
                    <m:r>
                      <a:rPr lang="en-US" i="1" dirty="0">
                        <a:latin typeface="Cambria Math" panose="02040503050406030204" pitchFamily="18" charset="0"/>
                      </a:rPr>
                      <m:t>𝑎</m:t>
                    </m:r>
                    <m:r>
                      <a:rPr lang="en-US" i="1" baseline="-25000" dirty="0">
                        <a:latin typeface="Cambria Math" panose="02040503050406030204" pitchFamily="18" charset="0"/>
                      </a:rPr>
                      <m:t>𝑛</m:t>
                    </m:r>
                  </m:oMath>
                </a14:m>
                <a:r>
                  <a:rPr lang="en-US" dirty="0"/>
                  <a:t> in terms of a finite number </a:t>
                </a:r>
                <a14:m>
                  <m:oMath xmlns:m="http://schemas.openxmlformats.org/officeDocument/2006/math">
                    <m:r>
                      <a:rPr lang="en-US" i="1" dirty="0">
                        <a:latin typeface="Cambria Math" panose="02040503050406030204" pitchFamily="18" charset="0"/>
                      </a:rPr>
                      <m:t>𝑘</m:t>
                    </m:r>
                  </m:oMath>
                </a14:m>
                <a:r>
                  <a:rPr lang="en-US" dirty="0"/>
                  <a:t> of the preceding terms of the sequence, i.e.,</a:t>
                </a:r>
              </a:p>
              <a:p>
                <a:pPr>
                  <a:buNone/>
                </a:pPr>
                <a:endParaRPr lang="en-US" dirty="0"/>
              </a:p>
              <a:p>
                <a:pPr lvl="1">
                  <a:buNone/>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fr-CH" b="0" i="1" dirty="0">
                              <a:latin typeface="Cambria Math" panose="02040503050406030204" pitchFamily="18" charset="0"/>
                            </a:rPr>
                            <m:t>𝑎</m:t>
                          </m:r>
                        </m:e>
                        <m:sub>
                          <m:r>
                            <a:rPr lang="fr-CH" b="0" i="1" dirty="0">
                              <a:latin typeface="Cambria Math" panose="02040503050406030204" pitchFamily="18" charset="0"/>
                            </a:rPr>
                            <m:t>𝑛</m:t>
                          </m:r>
                        </m:sub>
                      </m:sSub>
                      <m:r>
                        <a:rPr lang="fr-CH" b="0" i="1" dirty="0">
                          <a:latin typeface="Cambria Math" panose="02040503050406030204" pitchFamily="18" charset="0"/>
                        </a:rPr>
                        <m:t>=</m:t>
                      </m:r>
                      <m:r>
                        <a:rPr lang="fr-CH" b="0" i="1" dirty="0">
                          <a:latin typeface="Cambria Math" panose="02040503050406030204" pitchFamily="18" charset="0"/>
                        </a:rPr>
                        <m:t>𝑓</m:t>
                      </m:r>
                      <m:r>
                        <a:rPr lang="fr-CH" b="0" i="1" dirty="0">
                          <a:latin typeface="Cambria Math" panose="02040503050406030204" pitchFamily="18" charset="0"/>
                        </a:rPr>
                        <m:t>(</m:t>
                      </m:r>
                      <m:sSub>
                        <m:sSubPr>
                          <m:ctrlPr>
                            <a:rPr lang="fr-CH" b="0" i="1" dirty="0">
                              <a:latin typeface="Cambria Math" panose="02040503050406030204" pitchFamily="18" charset="0"/>
                            </a:rPr>
                          </m:ctrlPr>
                        </m:sSubPr>
                        <m:e>
                          <m:r>
                            <a:rPr lang="fr-CH" b="0" i="1" dirty="0">
                              <a:latin typeface="Cambria Math" panose="02040503050406030204" pitchFamily="18" charset="0"/>
                            </a:rPr>
                            <m:t>𝑎</m:t>
                          </m:r>
                        </m:e>
                        <m:sub>
                          <m:r>
                            <a:rPr lang="fr-CH" b="0" i="1" dirty="0">
                              <a:latin typeface="Cambria Math" panose="02040503050406030204" pitchFamily="18" charset="0"/>
                            </a:rPr>
                            <m:t>𝑛</m:t>
                          </m:r>
                          <m:r>
                            <a:rPr lang="fr-CH" b="0" i="1" dirty="0">
                              <a:latin typeface="Cambria Math" panose="02040503050406030204" pitchFamily="18" charset="0"/>
                            </a:rPr>
                            <m:t>−1</m:t>
                          </m:r>
                        </m:sub>
                      </m:sSub>
                      <m:r>
                        <a:rPr lang="fr-CH" b="0" i="1" dirty="0">
                          <a:latin typeface="Cambria Math" panose="02040503050406030204" pitchFamily="18" charset="0"/>
                        </a:rPr>
                        <m:t>,</m:t>
                      </m:r>
                      <m:sSub>
                        <m:sSubPr>
                          <m:ctrlPr>
                            <a:rPr lang="fr-CH" b="0" i="1" dirty="0">
                              <a:latin typeface="Cambria Math" panose="02040503050406030204" pitchFamily="18" charset="0"/>
                            </a:rPr>
                          </m:ctrlPr>
                        </m:sSubPr>
                        <m:e>
                          <m:r>
                            <a:rPr lang="fr-CH" b="0" i="1" dirty="0">
                              <a:latin typeface="Cambria Math" panose="02040503050406030204" pitchFamily="18" charset="0"/>
                            </a:rPr>
                            <m:t>𝑎</m:t>
                          </m:r>
                        </m:e>
                        <m:sub>
                          <m:r>
                            <a:rPr lang="fr-CH" b="0" i="1" dirty="0">
                              <a:latin typeface="Cambria Math" panose="02040503050406030204" pitchFamily="18" charset="0"/>
                            </a:rPr>
                            <m:t>𝑛</m:t>
                          </m:r>
                          <m:r>
                            <a:rPr lang="fr-CH" b="0" i="1" dirty="0">
                              <a:latin typeface="Cambria Math" panose="02040503050406030204" pitchFamily="18" charset="0"/>
                            </a:rPr>
                            <m:t>−2,</m:t>
                          </m:r>
                        </m:sub>
                      </m:sSub>
                      <m:r>
                        <a:rPr lang="fr-CH" b="0" i="1" dirty="0">
                          <a:latin typeface="Cambria Math" panose="02040503050406030204" pitchFamily="18" charset="0"/>
                        </a:rPr>
                        <m:t>…,</m:t>
                      </m:r>
                      <m:sSub>
                        <m:sSubPr>
                          <m:ctrlPr>
                            <a:rPr lang="fr-CH" b="0" i="1" dirty="0">
                              <a:latin typeface="Cambria Math" panose="02040503050406030204" pitchFamily="18" charset="0"/>
                            </a:rPr>
                          </m:ctrlPr>
                        </m:sSubPr>
                        <m:e>
                          <m:r>
                            <a:rPr lang="fr-CH" b="0" i="1" dirty="0">
                              <a:latin typeface="Cambria Math" panose="02040503050406030204" pitchFamily="18" charset="0"/>
                            </a:rPr>
                            <m:t>𝑎</m:t>
                          </m:r>
                        </m:e>
                        <m:sub>
                          <m:r>
                            <a:rPr lang="fr-CH" b="0" i="1" dirty="0">
                              <a:latin typeface="Cambria Math" panose="02040503050406030204" pitchFamily="18" charset="0"/>
                            </a:rPr>
                            <m:t>𝑛</m:t>
                          </m:r>
                          <m:r>
                            <a:rPr lang="fr-CH" b="0" i="1" dirty="0">
                              <a:latin typeface="Cambria Math" panose="02040503050406030204" pitchFamily="18" charset="0"/>
                            </a:rPr>
                            <m:t>−</m:t>
                          </m:r>
                          <m:r>
                            <a:rPr lang="fr-CH" b="0" i="1" dirty="0">
                              <a:latin typeface="Cambria Math" panose="02040503050406030204" pitchFamily="18" charset="0"/>
                            </a:rPr>
                            <m:t>𝑘</m:t>
                          </m:r>
                        </m:sub>
                      </m:sSub>
                      <m:r>
                        <a:rPr lang="fr-CH" b="0" i="1" dirty="0">
                          <a:latin typeface="Cambria Math" panose="02040503050406030204" pitchFamily="18" charset="0"/>
                        </a:rPr>
                        <m:t>)</m:t>
                      </m:r>
                    </m:oMath>
                  </m:oMathPara>
                </a14:m>
                <a:endParaRPr lang="en-US" dirty="0"/>
              </a:p>
              <a:p>
                <a:pPr>
                  <a:buNone/>
                </a:pPr>
                <a:endParaRPr lang="en-US" dirty="0"/>
              </a:p>
              <a:p>
                <a:pPr>
                  <a:buNone/>
                </a:pPr>
                <a:r>
                  <a:rPr lang="en-US" dirty="0"/>
                  <a:t>A sequence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𝑎𝑛</m:t>
                    </m:r>
                    <m:r>
                      <a:rPr lang="en-US" i="1" dirty="0">
                        <a:latin typeface="Cambria Math" panose="02040503050406030204" pitchFamily="18" charset="0"/>
                      </a:rPr>
                      <m:t>}  </m:t>
                    </m:r>
                  </m:oMath>
                </a14:m>
                <a:r>
                  <a:rPr lang="en-US" dirty="0"/>
                  <a:t>is called a </a:t>
                </a:r>
                <a:r>
                  <a:rPr lang="en-US" b="1" dirty="0"/>
                  <a:t>solution</a:t>
                </a:r>
                <a:r>
                  <a:rPr lang="en-US" dirty="0"/>
                  <a:t> of a recurrence relation if its terms satisfy the recurrence relation.</a:t>
                </a:r>
              </a:p>
              <a:p>
                <a:pPr>
                  <a:buNone/>
                </a:pPr>
                <a:r>
                  <a:rPr lang="en-US" dirty="0"/>
                  <a:t>The </a:t>
                </a:r>
                <a:r>
                  <a:rPr lang="en-US" b="1" dirty="0"/>
                  <a:t>initial conditions </a:t>
                </a:r>
                <a:r>
                  <a:rPr lang="en-US" dirty="0"/>
                  <a:t>for a sequence specify the terms </a:t>
                </a:r>
                <a14:m>
                  <m:oMath xmlns:m="http://schemas.openxmlformats.org/officeDocument/2006/math">
                    <m:r>
                      <a:rPr lang="en-US" i="1" dirty="0">
                        <a:latin typeface="Cambria Math" panose="02040503050406030204" pitchFamily="18" charset="0"/>
                      </a:rPr>
                      <m:t>𝑎</m:t>
                    </m:r>
                    <m:r>
                      <a:rPr lang="en-US" i="1" baseline="-25000" dirty="0">
                        <a:latin typeface="Cambria Math" panose="02040503050406030204" pitchFamily="18" charset="0"/>
                      </a:rPr>
                      <m:t>0</m:t>
                    </m:r>
                    <m:r>
                      <a:rPr lang="en-US" i="1" dirty="0">
                        <a:latin typeface="Cambria Math" panose="02040503050406030204" pitchFamily="18" charset="0"/>
                      </a:rPr>
                      <m:t>, </m:t>
                    </m:r>
                    <m:r>
                      <a:rPr lang="en-US" i="1" dirty="0">
                        <a:latin typeface="Cambria Math" panose="02040503050406030204" pitchFamily="18" charset="0"/>
                      </a:rPr>
                      <m:t>𝑎</m:t>
                    </m:r>
                    <m:r>
                      <a:rPr lang="en-US" i="1" baseline="-25000" dirty="0">
                        <a:latin typeface="Cambria Math" panose="02040503050406030204" pitchFamily="18" charset="0"/>
                      </a:rPr>
                      <m:t>1</m:t>
                    </m:r>
                    <m:r>
                      <a:rPr lang="en-US" i="1" dirty="0">
                        <a:latin typeface="Cambria Math" panose="02040503050406030204" pitchFamily="18" charset="0"/>
                      </a:rPr>
                      <m:t>, …, </m:t>
                    </m:r>
                    <m:sSub>
                      <m:sSubPr>
                        <m:ctrlPr>
                          <a:rPr lang="en-US" i="1" dirty="0">
                            <a:latin typeface="Cambria Math" panose="02040503050406030204" pitchFamily="18" charset="0"/>
                          </a:rPr>
                        </m:ctrlPr>
                      </m:sSubPr>
                      <m:e>
                        <m:r>
                          <a:rPr lang="fr-CH" b="0" i="1" dirty="0">
                            <a:latin typeface="Cambria Math" panose="02040503050406030204" pitchFamily="18" charset="0"/>
                          </a:rPr>
                          <m:t>𝑎</m:t>
                        </m:r>
                      </m:e>
                      <m:sub>
                        <m:r>
                          <a:rPr lang="fr-CH" b="0" i="1" dirty="0">
                            <a:latin typeface="Cambria Math" panose="02040503050406030204" pitchFamily="18" charset="0"/>
                          </a:rPr>
                          <m:t>𝑘</m:t>
                        </m:r>
                        <m:r>
                          <a:rPr lang="fr-CH" b="0" i="1" dirty="0">
                            <a:latin typeface="Cambria Math" panose="02040503050406030204" pitchFamily="18" charset="0"/>
                          </a:rPr>
                          <m:t>−1</m:t>
                        </m:r>
                      </m:sub>
                    </m:sSub>
                  </m:oMath>
                </a14:m>
                <a:endParaRPr lang="en-US" dirty="0"/>
              </a:p>
              <a:p>
                <a:pPr>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86" t="-2632" r="-1448"/>
                </a:stretch>
              </a:blipFill>
            </p:spPr>
            <p:txBody>
              <a:bodyPr/>
              <a:lstStyle/>
              <a:p>
                <a:r>
                  <a:rPr lang="en-US">
                    <a:noFill/>
                  </a:rPr>
                  <a:t> </a:t>
                </a:r>
              </a:p>
            </p:txBody>
          </p:sp>
        </mc:Fallback>
      </mc:AlternateContent>
    </p:spTree>
    <p:extLst>
      <p:ext uri="{BB962C8B-B14F-4D97-AF65-F5344CB8AC3E}">
        <p14:creationId xmlns:p14="http://schemas.microsoft.com/office/powerpoint/2010/main" val="3555187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Fibonacci Sequence</a:t>
            </a:r>
          </a:p>
        </p:txBody>
      </p:sp>
      <p:sp>
        <p:nvSpPr>
          <p:cNvPr id="3" name="Content Placeholder 2"/>
          <p:cNvSpPr>
            <a:spLocks noGrp="1"/>
          </p:cNvSpPr>
          <p:nvPr>
            <p:ph idx="1"/>
          </p:nvPr>
        </p:nvSpPr>
        <p:spPr/>
        <p:txBody>
          <a:bodyPr>
            <a:normAutofit lnSpcReduction="10000"/>
          </a:bodyPr>
          <a:lstStyle/>
          <a:p>
            <a:pPr>
              <a:buNone/>
            </a:pPr>
            <a:r>
              <a:rPr lang="en-US" b="1" dirty="0"/>
              <a:t>Definition</a:t>
            </a:r>
            <a:r>
              <a:rPr lang="en-US" dirty="0">
                <a:ea typeface="Cambria Math" pitchFamily="18" charset="0"/>
              </a:rPr>
              <a:t>: The </a:t>
            </a:r>
            <a:r>
              <a:rPr lang="en-US" b="1" dirty="0">
                <a:ea typeface="Cambria Math" pitchFamily="18" charset="0"/>
              </a:rPr>
              <a:t>Fibonacci sequence </a:t>
            </a:r>
            <a:r>
              <a:rPr lang="en-US" i="1" dirty="0"/>
              <a:t>f</a:t>
            </a:r>
            <a:r>
              <a:rPr lang="en-US" baseline="-25000" dirty="0">
                <a:ea typeface="Cambria Math" pitchFamily="18" charset="0"/>
              </a:rPr>
              <a:t>0</a:t>
            </a:r>
            <a:r>
              <a:rPr lang="en-US" i="1" baseline="-25000" dirty="0"/>
              <a:t> </a:t>
            </a:r>
            <a:r>
              <a:rPr lang="en-US" i="1" dirty="0"/>
              <a:t>, f</a:t>
            </a:r>
            <a:r>
              <a:rPr lang="en-US" baseline="-25000" dirty="0"/>
              <a:t>1</a:t>
            </a:r>
            <a:r>
              <a:rPr lang="en-US" i="1" baseline="-25000" dirty="0"/>
              <a:t> </a:t>
            </a:r>
            <a:r>
              <a:rPr lang="en-US" i="1" dirty="0"/>
              <a:t>, f</a:t>
            </a:r>
            <a:r>
              <a:rPr lang="en-US" baseline="-25000" dirty="0"/>
              <a:t>2</a:t>
            </a:r>
            <a:r>
              <a:rPr lang="en-US" i="1" dirty="0"/>
              <a:t>,… </a:t>
            </a:r>
            <a:r>
              <a:rPr lang="en-US" dirty="0"/>
              <a:t>is defined as:</a:t>
            </a:r>
          </a:p>
          <a:p>
            <a:pPr marL="0" indent="0">
              <a:buNone/>
            </a:pPr>
            <a:r>
              <a:rPr lang="en-US" dirty="0"/>
              <a:t>	Initial Conditions: </a:t>
            </a:r>
            <a:r>
              <a:rPr lang="en-US" i="1" dirty="0"/>
              <a:t>f</a:t>
            </a:r>
            <a:r>
              <a:rPr lang="en-US" baseline="-25000" dirty="0">
                <a:ea typeface="Cambria Math" pitchFamily="18" charset="0"/>
              </a:rPr>
              <a:t>0</a:t>
            </a:r>
            <a:r>
              <a:rPr lang="en-US" i="1" baseline="-25000" dirty="0"/>
              <a:t> </a:t>
            </a:r>
            <a:r>
              <a:rPr lang="en-US" i="1" dirty="0"/>
              <a:t>= </a:t>
            </a:r>
            <a:r>
              <a:rPr lang="en-US" dirty="0">
                <a:ea typeface="Cambria Math" pitchFamily="18" charset="0"/>
              </a:rPr>
              <a:t>0</a:t>
            </a:r>
            <a:r>
              <a:rPr lang="en-US" i="1" dirty="0"/>
              <a:t>, f</a:t>
            </a:r>
            <a:r>
              <a:rPr lang="en-US" baseline="-25000" dirty="0"/>
              <a:t>1</a:t>
            </a:r>
            <a:r>
              <a:rPr lang="en-US" i="1" baseline="-25000" dirty="0"/>
              <a:t>   </a:t>
            </a:r>
            <a:r>
              <a:rPr lang="en-US" dirty="0">
                <a:ea typeface="Cambria Math" pitchFamily="18" charset="0"/>
              </a:rPr>
              <a:t>= 1</a:t>
            </a:r>
          </a:p>
          <a:p>
            <a:pPr marL="0" indent="0">
              <a:buNone/>
            </a:pPr>
            <a:r>
              <a:rPr lang="en-US" dirty="0"/>
              <a:t>	Recurrence Relation: </a:t>
            </a:r>
            <a:r>
              <a:rPr lang="en-US" i="1" dirty="0"/>
              <a:t>f</a:t>
            </a:r>
            <a:r>
              <a:rPr lang="en-US" i="1" baseline="-25000" dirty="0"/>
              <a:t>n </a:t>
            </a:r>
            <a:r>
              <a:rPr lang="en-US" i="1" dirty="0"/>
              <a:t> = f</a:t>
            </a:r>
            <a:r>
              <a:rPr lang="en-US" i="1" baseline="-25000" dirty="0"/>
              <a:t>n-</a:t>
            </a:r>
            <a:r>
              <a:rPr lang="en-US" baseline="-25000" dirty="0"/>
              <a:t>1</a:t>
            </a:r>
            <a:r>
              <a:rPr lang="en-US" i="1" dirty="0"/>
              <a:t> </a:t>
            </a:r>
            <a:r>
              <a:rPr lang="en-US" i="1" baseline="-25000" dirty="0"/>
              <a:t> </a:t>
            </a:r>
            <a:r>
              <a:rPr lang="en-US" i="1" dirty="0"/>
              <a:t>+ f</a:t>
            </a:r>
            <a:r>
              <a:rPr lang="en-US" i="1" baseline="-25000" dirty="0"/>
              <a:t>n-</a:t>
            </a:r>
            <a:r>
              <a:rPr lang="en-US" baseline="-25000" dirty="0"/>
              <a:t>2</a:t>
            </a:r>
          </a:p>
          <a:p>
            <a:pPr>
              <a:buNone/>
            </a:pPr>
            <a:endParaRPr lang="en-US" i="1" dirty="0">
              <a:ea typeface="Cambria Math" pitchFamily="18" charset="0"/>
            </a:endParaRPr>
          </a:p>
          <a:p>
            <a:pPr>
              <a:buNone/>
            </a:pPr>
            <a:r>
              <a:rPr lang="en-US" i="1" dirty="0">
                <a:ea typeface="Cambria Math" pitchFamily="18" charset="0"/>
              </a:rPr>
              <a:t>		f</a:t>
            </a:r>
            <a:r>
              <a:rPr lang="en-US" baseline="-25000" dirty="0">
                <a:ea typeface="Cambria Math" pitchFamily="18" charset="0"/>
              </a:rPr>
              <a:t>2 </a:t>
            </a:r>
            <a:r>
              <a:rPr lang="en-US" dirty="0">
                <a:ea typeface="Cambria Math" pitchFamily="18" charset="0"/>
              </a:rPr>
              <a:t>= </a:t>
            </a:r>
            <a:r>
              <a:rPr lang="en-US" i="1" dirty="0">
                <a:ea typeface="Cambria Math" pitchFamily="18" charset="0"/>
              </a:rPr>
              <a:t>f</a:t>
            </a:r>
            <a:r>
              <a:rPr lang="en-US" baseline="-25000" dirty="0">
                <a:ea typeface="Cambria Math" pitchFamily="18" charset="0"/>
              </a:rPr>
              <a:t>1</a:t>
            </a:r>
            <a:r>
              <a:rPr lang="en-US" dirty="0">
                <a:ea typeface="Cambria Math" pitchFamily="18" charset="0"/>
              </a:rPr>
              <a:t> + </a:t>
            </a:r>
            <a:r>
              <a:rPr lang="en-US" i="1" dirty="0">
                <a:ea typeface="Cambria Math" pitchFamily="18" charset="0"/>
              </a:rPr>
              <a:t>f</a:t>
            </a:r>
            <a:r>
              <a:rPr lang="en-US" baseline="-25000" dirty="0">
                <a:ea typeface="Cambria Math" pitchFamily="18" charset="0"/>
              </a:rPr>
              <a:t>0  </a:t>
            </a:r>
            <a:r>
              <a:rPr lang="en-US" dirty="0">
                <a:ea typeface="Cambria Math" pitchFamily="18" charset="0"/>
              </a:rPr>
              <a:t> = 1 + 0 = 1</a:t>
            </a:r>
            <a:endParaRPr lang="en-US" i="1" dirty="0">
              <a:ea typeface="Cambria Math" pitchFamily="18" charset="0"/>
            </a:endParaRPr>
          </a:p>
          <a:p>
            <a:pPr>
              <a:buNone/>
            </a:pPr>
            <a:r>
              <a:rPr lang="en-US" i="1" dirty="0">
                <a:ea typeface="Cambria Math" pitchFamily="18" charset="0"/>
              </a:rPr>
              <a:t>         	f</a:t>
            </a:r>
            <a:r>
              <a:rPr lang="en-US" baseline="-25000" dirty="0">
                <a:ea typeface="Cambria Math" pitchFamily="18" charset="0"/>
              </a:rPr>
              <a:t>3 </a:t>
            </a:r>
            <a:r>
              <a:rPr lang="en-US" dirty="0">
                <a:ea typeface="Cambria Math" pitchFamily="18" charset="0"/>
              </a:rPr>
              <a:t>= </a:t>
            </a:r>
            <a:r>
              <a:rPr lang="en-US" i="1" dirty="0">
                <a:ea typeface="Cambria Math" pitchFamily="18" charset="0"/>
              </a:rPr>
              <a:t>f</a:t>
            </a:r>
            <a:r>
              <a:rPr lang="en-US" baseline="-25000" dirty="0">
                <a:ea typeface="Cambria Math" pitchFamily="18" charset="0"/>
              </a:rPr>
              <a:t>2</a:t>
            </a:r>
            <a:r>
              <a:rPr lang="en-US" dirty="0">
                <a:ea typeface="Cambria Math" pitchFamily="18" charset="0"/>
              </a:rPr>
              <a:t>  + </a:t>
            </a:r>
            <a:r>
              <a:rPr lang="en-US" i="1" dirty="0">
                <a:ea typeface="Cambria Math" pitchFamily="18" charset="0"/>
              </a:rPr>
              <a:t>f</a:t>
            </a:r>
            <a:r>
              <a:rPr lang="en-US" baseline="-25000" dirty="0">
                <a:ea typeface="Cambria Math" pitchFamily="18" charset="0"/>
              </a:rPr>
              <a:t>1  </a:t>
            </a:r>
            <a:r>
              <a:rPr lang="en-US" dirty="0">
                <a:ea typeface="Cambria Math" pitchFamily="18" charset="0"/>
              </a:rPr>
              <a:t>= 1 + 1 = 2</a:t>
            </a:r>
            <a:endParaRPr lang="en-US" i="1" dirty="0">
              <a:ea typeface="Cambria Math" pitchFamily="18" charset="0"/>
            </a:endParaRPr>
          </a:p>
          <a:p>
            <a:pPr>
              <a:buNone/>
            </a:pPr>
            <a:r>
              <a:rPr lang="en-US" dirty="0">
                <a:ea typeface="Cambria Math" pitchFamily="18" charset="0"/>
              </a:rPr>
              <a:t>          	</a:t>
            </a:r>
            <a:r>
              <a:rPr lang="en-US" i="1" dirty="0">
                <a:ea typeface="Cambria Math" pitchFamily="18" charset="0"/>
              </a:rPr>
              <a:t>f</a:t>
            </a:r>
            <a:r>
              <a:rPr lang="en-US" baseline="-25000" dirty="0">
                <a:ea typeface="Cambria Math" pitchFamily="18" charset="0"/>
              </a:rPr>
              <a:t>4 </a:t>
            </a:r>
            <a:r>
              <a:rPr lang="en-US" dirty="0">
                <a:ea typeface="Cambria Math" pitchFamily="18" charset="0"/>
              </a:rPr>
              <a:t>= </a:t>
            </a:r>
            <a:r>
              <a:rPr lang="en-US" i="1" dirty="0">
                <a:ea typeface="Cambria Math" pitchFamily="18" charset="0"/>
              </a:rPr>
              <a:t>f</a:t>
            </a:r>
            <a:r>
              <a:rPr lang="en-US" baseline="-25000" dirty="0">
                <a:ea typeface="Cambria Math" pitchFamily="18" charset="0"/>
              </a:rPr>
              <a:t>3</a:t>
            </a:r>
            <a:r>
              <a:rPr lang="en-US" dirty="0">
                <a:ea typeface="Cambria Math" pitchFamily="18" charset="0"/>
              </a:rPr>
              <a:t> + </a:t>
            </a:r>
            <a:r>
              <a:rPr lang="en-US" i="1" dirty="0">
                <a:ea typeface="Cambria Math" pitchFamily="18" charset="0"/>
              </a:rPr>
              <a:t>f</a:t>
            </a:r>
            <a:r>
              <a:rPr lang="en-US" baseline="-25000" dirty="0">
                <a:ea typeface="Cambria Math" pitchFamily="18" charset="0"/>
              </a:rPr>
              <a:t>2 </a:t>
            </a:r>
            <a:r>
              <a:rPr lang="en-US" dirty="0">
                <a:ea typeface="Cambria Math" pitchFamily="18" charset="0"/>
              </a:rPr>
              <a:t>  = 2 + 1 = 3</a:t>
            </a:r>
            <a:endParaRPr lang="en-US" i="1" dirty="0">
              <a:ea typeface="Cambria Math" pitchFamily="18" charset="0"/>
            </a:endParaRPr>
          </a:p>
          <a:p>
            <a:pPr>
              <a:buNone/>
            </a:pPr>
            <a:r>
              <a:rPr lang="en-US" i="1" dirty="0">
                <a:ea typeface="Cambria Math" pitchFamily="18" charset="0"/>
              </a:rPr>
              <a:t>         	f</a:t>
            </a:r>
            <a:r>
              <a:rPr lang="en-US" baseline="-25000" dirty="0">
                <a:ea typeface="Cambria Math" pitchFamily="18" charset="0"/>
              </a:rPr>
              <a:t>5 </a:t>
            </a:r>
            <a:r>
              <a:rPr lang="en-US" dirty="0">
                <a:ea typeface="Cambria Math" pitchFamily="18" charset="0"/>
              </a:rPr>
              <a:t>= </a:t>
            </a:r>
            <a:r>
              <a:rPr lang="en-US" i="1" dirty="0">
                <a:ea typeface="Cambria Math" pitchFamily="18" charset="0"/>
              </a:rPr>
              <a:t>f</a:t>
            </a:r>
            <a:r>
              <a:rPr lang="en-US" baseline="-25000" dirty="0">
                <a:ea typeface="Cambria Math" pitchFamily="18" charset="0"/>
              </a:rPr>
              <a:t>4</a:t>
            </a:r>
            <a:r>
              <a:rPr lang="en-US" dirty="0">
                <a:ea typeface="Cambria Math" pitchFamily="18" charset="0"/>
              </a:rPr>
              <a:t> + </a:t>
            </a:r>
            <a:r>
              <a:rPr lang="en-US" i="1" dirty="0">
                <a:ea typeface="Cambria Math" pitchFamily="18" charset="0"/>
              </a:rPr>
              <a:t>f</a:t>
            </a:r>
            <a:r>
              <a:rPr lang="en-US" baseline="-25000" dirty="0">
                <a:ea typeface="Cambria Math" pitchFamily="18" charset="0"/>
              </a:rPr>
              <a:t>3  </a:t>
            </a:r>
            <a:r>
              <a:rPr lang="en-US" dirty="0">
                <a:ea typeface="Cambria Math" pitchFamily="18" charset="0"/>
              </a:rPr>
              <a:t> = 3 + 2 = 5</a:t>
            </a:r>
            <a:endParaRPr lang="en-US" i="1" dirty="0">
              <a:ea typeface="Cambria Math" pitchFamily="18" charset="0"/>
            </a:endParaRPr>
          </a:p>
          <a:p>
            <a:pPr>
              <a:buNone/>
            </a:pPr>
            <a:r>
              <a:rPr lang="en-US" dirty="0">
                <a:ea typeface="Cambria Math" pitchFamily="18" charset="0"/>
              </a:rPr>
              <a:t>          	</a:t>
            </a:r>
            <a:r>
              <a:rPr lang="en-US" i="1" dirty="0">
                <a:ea typeface="Cambria Math" pitchFamily="18" charset="0"/>
              </a:rPr>
              <a:t>f</a:t>
            </a:r>
            <a:r>
              <a:rPr lang="en-US" baseline="-25000" dirty="0">
                <a:ea typeface="Cambria Math" pitchFamily="18" charset="0"/>
              </a:rPr>
              <a:t>6</a:t>
            </a:r>
            <a:r>
              <a:rPr lang="en-US" dirty="0">
                <a:ea typeface="Cambria Math" pitchFamily="18" charset="0"/>
              </a:rPr>
              <a:t> = </a:t>
            </a:r>
            <a:r>
              <a:rPr lang="en-US" i="1" dirty="0">
                <a:ea typeface="Cambria Math" pitchFamily="18" charset="0"/>
              </a:rPr>
              <a:t>f</a:t>
            </a:r>
            <a:r>
              <a:rPr lang="en-US" baseline="-25000" dirty="0">
                <a:ea typeface="Cambria Math" pitchFamily="18" charset="0"/>
              </a:rPr>
              <a:t>5</a:t>
            </a:r>
            <a:r>
              <a:rPr lang="en-US" dirty="0">
                <a:ea typeface="Cambria Math" pitchFamily="18" charset="0"/>
              </a:rPr>
              <a:t> + </a:t>
            </a:r>
            <a:r>
              <a:rPr lang="en-US" i="1" dirty="0">
                <a:ea typeface="Cambria Math" pitchFamily="18" charset="0"/>
              </a:rPr>
              <a:t>f</a:t>
            </a:r>
            <a:r>
              <a:rPr lang="en-US" baseline="-25000" dirty="0">
                <a:ea typeface="Cambria Math" pitchFamily="18" charset="0"/>
              </a:rPr>
              <a:t>4  </a:t>
            </a:r>
            <a:r>
              <a:rPr lang="en-US" dirty="0">
                <a:ea typeface="Cambria Math" pitchFamily="18" charset="0"/>
              </a:rPr>
              <a:t> = 5 + 3 = 8</a:t>
            </a:r>
            <a:endParaRPr lang="en-US" baseline="-25000" dirty="0"/>
          </a:p>
          <a:p>
            <a:pPr lvl="1">
              <a:buNone/>
            </a:pPr>
            <a:endParaRPr lang="en-US" baseline="-25000" dirty="0"/>
          </a:p>
          <a:p>
            <a:pPr>
              <a:buNone/>
            </a:pPr>
            <a:endParaRPr lang="en-US" dirty="0"/>
          </a:p>
        </p:txBody>
      </p:sp>
    </p:spTree>
    <p:extLst>
      <p:ext uri="{BB962C8B-B14F-4D97-AF65-F5344CB8AC3E}">
        <p14:creationId xmlns:p14="http://schemas.microsoft.com/office/powerpoint/2010/main" val="3814515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Counting Bit Strings</a:t>
            </a:r>
          </a:p>
        </p:txBody>
      </p:sp>
      <p:sp>
        <p:nvSpPr>
          <p:cNvPr id="3" name="Content Placeholder 2"/>
          <p:cNvSpPr>
            <a:spLocks noGrp="1"/>
          </p:cNvSpPr>
          <p:nvPr>
            <p:ph idx="1"/>
          </p:nvPr>
        </p:nvSpPr>
        <p:spPr/>
        <p:txBody>
          <a:bodyPr>
            <a:normAutofit/>
          </a:bodyPr>
          <a:lstStyle/>
          <a:p>
            <a:pPr>
              <a:buNone/>
            </a:pPr>
            <a:r>
              <a:rPr lang="en-US" sz="2400" dirty="0"/>
              <a:t>Find a recurrence relation and give initial conditions for the number of bit strings of length </a:t>
            </a:r>
            <a:r>
              <a:rPr lang="en-US" sz="2400" i="1" dirty="0"/>
              <a:t>n</a:t>
            </a:r>
            <a:r>
              <a:rPr lang="en-US" sz="2400" dirty="0"/>
              <a:t> without two consecutive </a:t>
            </a:r>
            <a:r>
              <a:rPr lang="en-US" sz="2400" dirty="0">
                <a:ea typeface="Cambria Math" pitchFamily="18" charset="0"/>
              </a:rPr>
              <a:t>0</a:t>
            </a:r>
            <a:r>
              <a:rPr lang="en-US" sz="2400" dirty="0"/>
              <a:t>s.</a:t>
            </a:r>
          </a:p>
          <a:p>
            <a:pPr>
              <a:buNone/>
            </a:pPr>
            <a:r>
              <a:rPr lang="en-US" sz="2400" dirty="0"/>
              <a:t>Let </a:t>
            </a:r>
            <a:r>
              <a:rPr lang="en-US" sz="2400" i="1" dirty="0"/>
              <a:t>A</a:t>
            </a:r>
            <a:r>
              <a:rPr lang="en-US" sz="2400" i="1" baseline="-25000" dirty="0"/>
              <a:t>n</a:t>
            </a:r>
            <a:r>
              <a:rPr lang="en-US" sz="2400" i="1" dirty="0"/>
              <a:t> </a:t>
            </a:r>
            <a:r>
              <a:rPr lang="en-US" sz="2400" dirty="0"/>
              <a:t>denote the bit strings of length </a:t>
            </a:r>
            <a:r>
              <a:rPr lang="en-US" sz="2400" i="1" dirty="0"/>
              <a:t>n</a:t>
            </a:r>
            <a:r>
              <a:rPr lang="en-US" sz="2400" dirty="0"/>
              <a:t> </a:t>
            </a:r>
            <a:r>
              <a:rPr lang="en-US" sz="2400" dirty="0">
                <a:ea typeface="Cambria Math"/>
              </a:rPr>
              <a:t>≥ </a:t>
            </a:r>
            <a:r>
              <a:rPr lang="en-US" sz="2400" dirty="0">
                <a:ea typeface="Cambria Math" pitchFamily="18" charset="0"/>
              </a:rPr>
              <a:t>3</a:t>
            </a:r>
            <a:r>
              <a:rPr lang="en-US" sz="2400" dirty="0"/>
              <a:t> without two consecutive </a:t>
            </a:r>
            <a:r>
              <a:rPr lang="en-US" sz="2400" dirty="0">
                <a:ea typeface="Cambria Math" pitchFamily="18" charset="0"/>
              </a:rPr>
              <a:t>0</a:t>
            </a:r>
            <a:r>
              <a:rPr lang="en-US" sz="2400" dirty="0"/>
              <a:t>s and </a:t>
            </a:r>
            <a:br>
              <a:rPr lang="en-US" sz="2400" dirty="0"/>
            </a:br>
            <a:r>
              <a:rPr lang="en-US" sz="2400" dirty="0"/>
              <a:t>let </a:t>
            </a:r>
            <a:r>
              <a:rPr lang="en-US" sz="2400" i="1" dirty="0"/>
              <a:t>a</a:t>
            </a:r>
            <a:r>
              <a:rPr lang="en-US" sz="2400" i="1" baseline="-25000" dirty="0"/>
              <a:t>n</a:t>
            </a:r>
            <a:r>
              <a:rPr lang="en-US" sz="2400" dirty="0"/>
              <a:t> = |</a:t>
            </a:r>
            <a:r>
              <a:rPr lang="en-US" sz="2400" i="1" dirty="0"/>
              <a:t>A</a:t>
            </a:r>
            <a:r>
              <a:rPr lang="en-US" sz="2400" i="1" baseline="-25000" dirty="0"/>
              <a:t>n</a:t>
            </a:r>
            <a:r>
              <a:rPr lang="en-US" sz="2400" dirty="0"/>
              <a:t>|</a:t>
            </a:r>
          </a:p>
          <a:p>
            <a:pPr>
              <a:buNone/>
            </a:pPr>
            <a:r>
              <a:rPr lang="en-US" sz="2400" dirty="0"/>
              <a:t>A bitstring </a:t>
            </a:r>
            <a:r>
              <a:rPr lang="en-US" sz="2400" i="1" dirty="0"/>
              <a:t>s</a:t>
            </a:r>
            <a:r>
              <a:rPr lang="en-US" sz="2400" i="1" baseline="-25000" dirty="0"/>
              <a:t>n</a:t>
            </a:r>
            <a:r>
              <a:rPr lang="en-US" sz="2400" dirty="0"/>
              <a:t> ∈ </a:t>
            </a:r>
            <a:r>
              <a:rPr lang="en-US" sz="2400" i="1" dirty="0"/>
              <a:t>A</a:t>
            </a:r>
            <a:r>
              <a:rPr lang="en-US" sz="2400" i="1" baseline="-25000" dirty="0"/>
              <a:t>n</a:t>
            </a:r>
            <a:r>
              <a:rPr lang="en-US" sz="2400" dirty="0"/>
              <a:t> can end in a 1 or a 0, i.e. </a:t>
            </a:r>
            <a:r>
              <a:rPr lang="en-US" sz="2400" i="1" dirty="0"/>
              <a:t>s</a:t>
            </a:r>
            <a:r>
              <a:rPr lang="en-US" sz="2400" i="1" baseline="-25000" dirty="0"/>
              <a:t>n</a:t>
            </a:r>
            <a:r>
              <a:rPr lang="en-US" sz="2400" dirty="0"/>
              <a:t> = </a:t>
            </a:r>
            <a:r>
              <a:rPr lang="en-US" sz="2400" i="1" dirty="0"/>
              <a:t>s</a:t>
            </a:r>
            <a:r>
              <a:rPr lang="en-US" sz="2400" i="1" baseline="-25000" dirty="0"/>
              <a:t>n-1</a:t>
            </a:r>
            <a:r>
              <a:rPr lang="en-US" sz="2400" dirty="0"/>
              <a:t>1 or </a:t>
            </a:r>
            <a:r>
              <a:rPr lang="en-US" sz="2400" i="1" dirty="0"/>
              <a:t>s</a:t>
            </a:r>
            <a:r>
              <a:rPr lang="en-US" sz="2400" i="1" baseline="-25000" dirty="0"/>
              <a:t>n</a:t>
            </a:r>
            <a:r>
              <a:rPr lang="en-US" sz="2400" dirty="0"/>
              <a:t> = </a:t>
            </a:r>
            <a:r>
              <a:rPr lang="en-US" sz="2400" i="1" dirty="0"/>
              <a:t>s</a:t>
            </a:r>
            <a:r>
              <a:rPr lang="en-US" sz="2400" i="1" baseline="-25000" dirty="0"/>
              <a:t>n-1</a:t>
            </a:r>
            <a:r>
              <a:rPr lang="en-US" sz="2400" dirty="0"/>
              <a:t>0 for some </a:t>
            </a:r>
            <a:r>
              <a:rPr lang="en-US" sz="2400" i="1" dirty="0"/>
              <a:t>s</a:t>
            </a:r>
            <a:r>
              <a:rPr lang="en-US" sz="2400" i="1" baseline="-25000" dirty="0"/>
              <a:t>n-1</a:t>
            </a:r>
            <a:r>
              <a:rPr lang="en-US" sz="2400" baseline="-25000" dirty="0"/>
              <a:t> </a:t>
            </a:r>
            <a:r>
              <a:rPr lang="en-US" sz="2400" dirty="0"/>
              <a:t>∈ </a:t>
            </a:r>
            <a:r>
              <a:rPr lang="en-US" sz="2400" i="1" dirty="0"/>
              <a:t>A</a:t>
            </a:r>
            <a:r>
              <a:rPr lang="en-US" sz="2400" i="1" baseline="-25000" dirty="0"/>
              <a:t>n-1</a:t>
            </a:r>
          </a:p>
          <a:p>
            <a:r>
              <a:rPr lang="en-US" sz="2400" dirty="0"/>
              <a:t>If </a:t>
            </a:r>
            <a:r>
              <a:rPr lang="en-US" sz="2400" i="1" dirty="0"/>
              <a:t>s</a:t>
            </a:r>
            <a:r>
              <a:rPr lang="en-US" sz="2400" i="1" baseline="-25000" dirty="0"/>
              <a:t>n</a:t>
            </a:r>
            <a:r>
              <a:rPr lang="en-US" sz="2400" dirty="0"/>
              <a:t> ends in a 1, </a:t>
            </a:r>
            <a:r>
              <a:rPr lang="en-US" sz="2400" i="1" dirty="0"/>
              <a:t>s</a:t>
            </a:r>
            <a:r>
              <a:rPr lang="en-US" sz="2400" i="1" baseline="-25000" dirty="0"/>
              <a:t>n</a:t>
            </a:r>
            <a:r>
              <a:rPr lang="en-US" sz="2400" dirty="0"/>
              <a:t> = </a:t>
            </a:r>
            <a:r>
              <a:rPr lang="en-US" sz="2400" i="1" dirty="0"/>
              <a:t>s</a:t>
            </a:r>
            <a:r>
              <a:rPr lang="en-US" sz="2400" i="1" baseline="-25000" dirty="0"/>
              <a:t>n-1</a:t>
            </a:r>
            <a:r>
              <a:rPr lang="en-US" sz="2400" dirty="0"/>
              <a:t>, where </a:t>
            </a:r>
            <a:r>
              <a:rPr lang="en-US" sz="2400" i="1" dirty="0"/>
              <a:t>s</a:t>
            </a:r>
            <a:r>
              <a:rPr lang="en-US" sz="2400" i="1" baseline="-25000" dirty="0"/>
              <a:t>n-1</a:t>
            </a:r>
            <a:r>
              <a:rPr lang="en-US" sz="2400" dirty="0"/>
              <a:t> can be any bitstring from </a:t>
            </a:r>
            <a:r>
              <a:rPr lang="en-US" sz="2400" i="1" dirty="0"/>
              <a:t>A</a:t>
            </a:r>
            <a:r>
              <a:rPr lang="en-US" sz="2400" i="1" baseline="-25000" dirty="0"/>
              <a:t>n-1</a:t>
            </a:r>
            <a:endParaRPr lang="en-US" sz="2400" dirty="0"/>
          </a:p>
          <a:p>
            <a:r>
              <a:rPr lang="en-US" sz="2400" dirty="0"/>
              <a:t>If </a:t>
            </a:r>
            <a:r>
              <a:rPr lang="en-US" sz="2400" i="1" dirty="0"/>
              <a:t>s</a:t>
            </a:r>
            <a:r>
              <a:rPr lang="en-US" sz="2400" i="1" baseline="-25000" dirty="0"/>
              <a:t>n</a:t>
            </a:r>
            <a:r>
              <a:rPr lang="en-US" sz="2400" dirty="0"/>
              <a:t> ends in a 0, the </a:t>
            </a:r>
            <a:r>
              <a:rPr lang="en-US" sz="2400" i="1" dirty="0"/>
              <a:t>s</a:t>
            </a:r>
            <a:r>
              <a:rPr lang="en-US" sz="2400" i="1" baseline="-25000" dirty="0"/>
              <a:t>n-1</a:t>
            </a:r>
            <a:r>
              <a:rPr lang="en-US" sz="2400" dirty="0"/>
              <a:t> has to end in a 1; thus </a:t>
            </a:r>
            <a:r>
              <a:rPr lang="en-US" sz="2400" i="1" dirty="0"/>
              <a:t>s</a:t>
            </a:r>
            <a:r>
              <a:rPr lang="en-US" sz="2400" i="1" baseline="-25000" dirty="0"/>
              <a:t>n-1</a:t>
            </a:r>
            <a:r>
              <a:rPr lang="en-US" sz="2400" dirty="0"/>
              <a:t> = </a:t>
            </a:r>
            <a:r>
              <a:rPr lang="en-US" sz="2400" i="1" dirty="0"/>
              <a:t>s</a:t>
            </a:r>
            <a:r>
              <a:rPr lang="en-US" sz="2400" i="1" baseline="-25000" dirty="0"/>
              <a:t>n-2</a:t>
            </a:r>
            <a:r>
              <a:rPr lang="en-US" sz="2400" dirty="0"/>
              <a:t>1 where where </a:t>
            </a:r>
            <a:r>
              <a:rPr lang="en-US" sz="2400" i="1" dirty="0"/>
              <a:t>s</a:t>
            </a:r>
            <a:r>
              <a:rPr lang="en-US" sz="2400" i="1" baseline="-25000" dirty="0"/>
              <a:t>n-2</a:t>
            </a:r>
            <a:r>
              <a:rPr lang="en-US" sz="2400" dirty="0"/>
              <a:t> can be any bitstring from </a:t>
            </a:r>
            <a:r>
              <a:rPr lang="en-US" sz="2400" i="1" dirty="0"/>
              <a:t>A</a:t>
            </a:r>
            <a:r>
              <a:rPr lang="en-US" sz="2400" i="1" baseline="-25000" dirty="0"/>
              <a:t>n-2</a:t>
            </a:r>
            <a:endParaRPr lang="en-US" sz="2400" dirty="0"/>
          </a:p>
          <a:p>
            <a:pPr marL="0" indent="0">
              <a:buNone/>
            </a:pPr>
            <a:r>
              <a:rPr lang="en-US" sz="2400" dirty="0"/>
              <a:t>Therefore </a:t>
            </a:r>
            <a:r>
              <a:rPr lang="en-US" sz="2400" i="1" dirty="0"/>
              <a:t>a</a:t>
            </a:r>
            <a:r>
              <a:rPr lang="en-US" sz="2400" i="1" baseline="-25000" dirty="0"/>
              <a:t>n </a:t>
            </a:r>
            <a:r>
              <a:rPr lang="en-US" sz="2400" dirty="0"/>
              <a:t> = </a:t>
            </a:r>
            <a:r>
              <a:rPr lang="en-US" sz="2400" i="1" dirty="0"/>
              <a:t>a</a:t>
            </a:r>
            <a:r>
              <a:rPr lang="en-US" sz="2400" i="1" baseline="-25000" dirty="0"/>
              <a:t>n</a:t>
            </a:r>
            <a:r>
              <a:rPr lang="en-US" sz="2400" i="1" baseline="-25000" dirty="0">
                <a:ea typeface="Cambria Math"/>
              </a:rPr>
              <a:t>−</a:t>
            </a:r>
            <a:r>
              <a:rPr lang="en-US" sz="2400" baseline="-25000" dirty="0">
                <a:ea typeface="Cambria Math"/>
              </a:rPr>
              <a:t>1</a:t>
            </a:r>
            <a:r>
              <a:rPr lang="en-US" sz="2400" dirty="0"/>
              <a:t>  + </a:t>
            </a:r>
            <a:r>
              <a:rPr lang="en-US" sz="2400" i="1" dirty="0"/>
              <a:t>a</a:t>
            </a:r>
            <a:r>
              <a:rPr lang="en-US" sz="2400" i="1" baseline="-25000" dirty="0"/>
              <a:t>n</a:t>
            </a:r>
            <a:r>
              <a:rPr lang="en-US" sz="2400" i="1" baseline="-25000" dirty="0">
                <a:ea typeface="Cambria Math"/>
              </a:rPr>
              <a:t>−</a:t>
            </a:r>
            <a:r>
              <a:rPr lang="en-US" sz="2400" baseline="-25000" dirty="0">
                <a:ea typeface="Cambria Math"/>
              </a:rPr>
              <a:t>2</a:t>
            </a:r>
            <a:r>
              <a:rPr lang="en-US" sz="2400" dirty="0"/>
              <a:t>  for </a:t>
            </a:r>
            <a:r>
              <a:rPr lang="en-US" sz="2400" i="1" dirty="0"/>
              <a:t>n</a:t>
            </a:r>
            <a:r>
              <a:rPr lang="en-US" sz="2400" dirty="0"/>
              <a:t> </a:t>
            </a:r>
            <a:r>
              <a:rPr lang="en-US" sz="2400" dirty="0">
                <a:ea typeface="Cambria Math"/>
              </a:rPr>
              <a:t>≥ </a:t>
            </a:r>
            <a:r>
              <a:rPr lang="en-US" sz="2400" dirty="0">
                <a:ea typeface="Cambria Math" pitchFamily="18" charset="0"/>
              </a:rPr>
              <a:t>3</a:t>
            </a:r>
            <a:r>
              <a:rPr lang="en-US" sz="2400" dirty="0"/>
              <a:t>.</a:t>
            </a:r>
          </a:p>
          <a:p>
            <a:pPr>
              <a:buNone/>
            </a:pPr>
            <a:endParaRPr lang="en-US" sz="2400" dirty="0"/>
          </a:p>
          <a:p>
            <a:pPr>
              <a:buNone/>
            </a:pPr>
            <a:endParaRPr lang="en-US" sz="2400" dirty="0"/>
          </a:p>
        </p:txBody>
      </p:sp>
    </p:spTree>
    <p:extLst>
      <p:ext uri="{BB962C8B-B14F-4D97-AF65-F5344CB8AC3E}">
        <p14:creationId xmlns:p14="http://schemas.microsoft.com/office/powerpoint/2010/main" val="3509148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6428C-9116-5D48-9BAE-CB7639E3C948}"/>
              </a:ext>
            </a:extLst>
          </p:cNvPr>
          <p:cNvSpPr>
            <a:spLocks noGrp="1"/>
          </p:cNvSpPr>
          <p:nvPr>
            <p:ph type="title"/>
          </p:nvPr>
        </p:nvSpPr>
        <p:spPr/>
        <p:txBody>
          <a:bodyPr/>
          <a:lstStyle/>
          <a:p>
            <a:r>
              <a:rPr lang="en-US" dirty="0"/>
              <a:t>Counting Bit Strings</a:t>
            </a:r>
            <a:endParaRPr lang="en-US"/>
          </a:p>
        </p:txBody>
      </p:sp>
      <p:sp>
        <p:nvSpPr>
          <p:cNvPr id="3" name="Content Placeholder 2">
            <a:extLst>
              <a:ext uri="{FF2B5EF4-FFF2-40B4-BE49-F238E27FC236}">
                <a16:creationId xmlns:a16="http://schemas.microsoft.com/office/drawing/2014/main" id="{AECB7C75-F66B-7E42-B3E9-55B9ABE01F70}"/>
              </a:ext>
            </a:extLst>
          </p:cNvPr>
          <p:cNvSpPr>
            <a:spLocks noGrp="1"/>
          </p:cNvSpPr>
          <p:nvPr>
            <p:ph idx="1"/>
          </p:nvPr>
        </p:nvSpPr>
        <p:spPr/>
        <p:txBody>
          <a:bodyPr>
            <a:normAutofit lnSpcReduction="10000"/>
          </a:bodyPr>
          <a:lstStyle/>
          <a:p>
            <a:pPr marL="0" indent="0">
              <a:buNone/>
            </a:pPr>
            <a:r>
              <a:rPr lang="en-US" dirty="0"/>
              <a:t>How many such bit strings are there of length five?</a:t>
            </a:r>
          </a:p>
          <a:p>
            <a:pPr>
              <a:buNone/>
            </a:pPr>
            <a:r>
              <a:rPr lang="en-US" dirty="0"/>
              <a:t>The initial conditions are:</a:t>
            </a:r>
            <a:r>
              <a:rPr lang="en-US" dirty="0">
                <a:ea typeface="Cambria Math" pitchFamily="18" charset="0"/>
              </a:rPr>
              <a:t> </a:t>
            </a:r>
          </a:p>
          <a:p>
            <a:pPr lvl="1"/>
            <a:r>
              <a:rPr lang="en-US" i="1" dirty="0"/>
              <a:t>a</a:t>
            </a:r>
            <a:r>
              <a:rPr lang="en-US" baseline="-25000" dirty="0">
                <a:ea typeface="Cambria Math"/>
              </a:rPr>
              <a:t>1 </a:t>
            </a:r>
            <a:r>
              <a:rPr lang="en-US" dirty="0">
                <a:ea typeface="Cambria Math" pitchFamily="18" charset="0"/>
              </a:rPr>
              <a:t> = 2, since both the bit strings 0 and 1 do not have consecutive 0s.</a:t>
            </a:r>
          </a:p>
          <a:p>
            <a:pPr lvl="1"/>
            <a:r>
              <a:rPr lang="en-US" i="1" dirty="0"/>
              <a:t>a</a:t>
            </a:r>
            <a:r>
              <a:rPr lang="en-US" baseline="-25000" dirty="0">
                <a:ea typeface="Cambria Math"/>
              </a:rPr>
              <a:t>2 </a:t>
            </a:r>
            <a:r>
              <a:rPr lang="en-US" dirty="0">
                <a:ea typeface="Cambria Math" pitchFamily="18" charset="0"/>
              </a:rPr>
              <a:t> = 3, since the bit strings 01, 10, and 11 do not have consecutive 0s, </a:t>
            </a:r>
            <a:br>
              <a:rPr lang="en-US" dirty="0">
                <a:ea typeface="Cambria Math" pitchFamily="18" charset="0"/>
              </a:rPr>
            </a:br>
            <a:r>
              <a:rPr lang="en-US" dirty="0">
                <a:ea typeface="Cambria Math" pitchFamily="18" charset="0"/>
              </a:rPr>
              <a:t>while 00 does.</a:t>
            </a:r>
          </a:p>
          <a:p>
            <a:pPr>
              <a:buNone/>
            </a:pPr>
            <a:r>
              <a:rPr lang="en-US" dirty="0">
                <a:ea typeface="Cambria Math" pitchFamily="18" charset="0"/>
              </a:rPr>
              <a:t>To obtain </a:t>
            </a:r>
            <a:r>
              <a:rPr lang="en-US" i="1" dirty="0"/>
              <a:t>a</a:t>
            </a:r>
            <a:r>
              <a:rPr lang="en-US" baseline="-25000" dirty="0">
                <a:ea typeface="Cambria Math"/>
              </a:rPr>
              <a:t>5 </a:t>
            </a:r>
            <a:r>
              <a:rPr lang="en-US" dirty="0">
                <a:ea typeface="Cambria Math" pitchFamily="18" charset="0"/>
              </a:rPr>
              <a:t>, we use the recurrence relation three times to find that:</a:t>
            </a:r>
          </a:p>
          <a:p>
            <a:pPr lvl="1"/>
            <a:r>
              <a:rPr lang="en-US" dirty="0">
                <a:ea typeface="Cambria Math" pitchFamily="18" charset="0"/>
              </a:rPr>
              <a:t> </a:t>
            </a:r>
            <a:r>
              <a:rPr lang="en-US" i="1" dirty="0"/>
              <a:t>a</a:t>
            </a:r>
            <a:r>
              <a:rPr lang="en-US" baseline="-25000" dirty="0">
                <a:ea typeface="Cambria Math"/>
              </a:rPr>
              <a:t>3</a:t>
            </a:r>
            <a:r>
              <a:rPr lang="en-US" dirty="0">
                <a:ea typeface="Cambria Math"/>
              </a:rPr>
              <a:t> </a:t>
            </a:r>
            <a:r>
              <a:rPr lang="en-US" dirty="0">
                <a:ea typeface="Cambria Math" pitchFamily="18" charset="0"/>
              </a:rPr>
              <a:t>= </a:t>
            </a:r>
            <a:r>
              <a:rPr lang="en-US" i="1" dirty="0"/>
              <a:t>a</a:t>
            </a:r>
            <a:r>
              <a:rPr lang="en-US" baseline="-25000" dirty="0">
                <a:ea typeface="Cambria Math"/>
              </a:rPr>
              <a:t>2 </a:t>
            </a:r>
            <a:r>
              <a:rPr lang="en-US" dirty="0">
                <a:ea typeface="Cambria Math" pitchFamily="18" charset="0"/>
              </a:rPr>
              <a:t> + </a:t>
            </a:r>
            <a:r>
              <a:rPr lang="en-US" i="1" dirty="0"/>
              <a:t>a</a:t>
            </a:r>
            <a:r>
              <a:rPr lang="en-US" baseline="-25000" dirty="0">
                <a:ea typeface="Cambria Math"/>
              </a:rPr>
              <a:t>1 </a:t>
            </a:r>
            <a:r>
              <a:rPr lang="en-US" dirty="0">
                <a:ea typeface="Cambria Math" pitchFamily="18" charset="0"/>
              </a:rPr>
              <a:t> = 3 + 2 = 5</a:t>
            </a:r>
          </a:p>
          <a:p>
            <a:pPr lvl="1"/>
            <a:r>
              <a:rPr lang="en-US" i="1" dirty="0"/>
              <a:t> a</a:t>
            </a:r>
            <a:r>
              <a:rPr lang="en-US" baseline="-25000" dirty="0">
                <a:ea typeface="Cambria Math"/>
              </a:rPr>
              <a:t>4</a:t>
            </a:r>
            <a:r>
              <a:rPr lang="en-US" dirty="0">
                <a:ea typeface="Cambria Math"/>
              </a:rPr>
              <a:t> </a:t>
            </a:r>
            <a:r>
              <a:rPr lang="en-US" dirty="0">
                <a:ea typeface="Cambria Math" pitchFamily="18" charset="0"/>
              </a:rPr>
              <a:t>= </a:t>
            </a:r>
            <a:r>
              <a:rPr lang="en-US" i="1" dirty="0"/>
              <a:t>a</a:t>
            </a:r>
            <a:r>
              <a:rPr lang="en-US" baseline="-25000" dirty="0">
                <a:ea typeface="Cambria Math"/>
              </a:rPr>
              <a:t>3 </a:t>
            </a:r>
            <a:r>
              <a:rPr lang="en-US" dirty="0">
                <a:ea typeface="Cambria Math" pitchFamily="18" charset="0"/>
              </a:rPr>
              <a:t> + </a:t>
            </a:r>
            <a:r>
              <a:rPr lang="en-US" i="1" dirty="0"/>
              <a:t>a</a:t>
            </a:r>
            <a:r>
              <a:rPr lang="en-US" baseline="-25000" dirty="0">
                <a:ea typeface="Cambria Math"/>
              </a:rPr>
              <a:t>2 </a:t>
            </a:r>
            <a:r>
              <a:rPr lang="en-US" dirty="0">
                <a:ea typeface="Cambria Math" pitchFamily="18" charset="0"/>
              </a:rPr>
              <a:t> = 5 + 3 = 8</a:t>
            </a:r>
          </a:p>
          <a:p>
            <a:pPr lvl="1"/>
            <a:r>
              <a:rPr lang="en-US" i="1" dirty="0"/>
              <a:t> a</a:t>
            </a:r>
            <a:r>
              <a:rPr lang="en-US" baseline="-25000" dirty="0">
                <a:ea typeface="Cambria Math"/>
              </a:rPr>
              <a:t>5</a:t>
            </a:r>
            <a:r>
              <a:rPr lang="en-US" dirty="0">
                <a:ea typeface="Cambria Math"/>
              </a:rPr>
              <a:t> </a:t>
            </a:r>
            <a:r>
              <a:rPr lang="en-US" dirty="0">
                <a:ea typeface="Cambria Math" pitchFamily="18" charset="0"/>
              </a:rPr>
              <a:t>= </a:t>
            </a:r>
            <a:r>
              <a:rPr lang="en-US" i="1" dirty="0"/>
              <a:t>a</a:t>
            </a:r>
            <a:r>
              <a:rPr lang="en-US" baseline="-25000" dirty="0">
                <a:ea typeface="Cambria Math"/>
              </a:rPr>
              <a:t>4 </a:t>
            </a:r>
            <a:r>
              <a:rPr lang="en-US" dirty="0">
                <a:ea typeface="Cambria Math" pitchFamily="18" charset="0"/>
              </a:rPr>
              <a:t> + </a:t>
            </a:r>
            <a:r>
              <a:rPr lang="en-US" i="1" dirty="0"/>
              <a:t>a</a:t>
            </a:r>
            <a:r>
              <a:rPr lang="en-US" baseline="-25000" dirty="0">
                <a:ea typeface="Cambria Math"/>
              </a:rPr>
              <a:t>3 </a:t>
            </a:r>
            <a:r>
              <a:rPr lang="en-US" dirty="0">
                <a:ea typeface="Cambria Math" pitchFamily="18" charset="0"/>
              </a:rPr>
              <a:t> = 8 + 5 = 13</a:t>
            </a:r>
          </a:p>
          <a:p>
            <a:pPr marL="0" indent="0">
              <a:buNone/>
            </a:pPr>
            <a:r>
              <a:rPr lang="en-US" dirty="0"/>
              <a:t>Note that {</a:t>
            </a:r>
            <a:r>
              <a:rPr lang="en-US" i="1" dirty="0"/>
              <a:t>a</a:t>
            </a:r>
            <a:r>
              <a:rPr lang="en-US" i="1" baseline="-25000" dirty="0"/>
              <a:t>n </a:t>
            </a:r>
            <a:r>
              <a:rPr lang="en-US" dirty="0"/>
              <a:t>} satisfies the same recurrence relation as the Fibonacci sequence.</a:t>
            </a:r>
            <a:r>
              <a:rPr lang="en-US" dirty="0">
                <a:ea typeface="Cambria Math" pitchFamily="18" charset="0"/>
              </a:rPr>
              <a:t>      </a:t>
            </a:r>
            <a:endParaRPr lang="en-US" dirty="0"/>
          </a:p>
          <a:p>
            <a:endParaRPr lang="en-US"/>
          </a:p>
        </p:txBody>
      </p:sp>
    </p:spTree>
    <p:extLst>
      <p:ext uri="{BB962C8B-B14F-4D97-AF65-F5344CB8AC3E}">
        <p14:creationId xmlns:p14="http://schemas.microsoft.com/office/powerpoint/2010/main" val="3441717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The Tower of Hanoi</a:t>
            </a:r>
          </a:p>
        </p:txBody>
      </p:sp>
      <p:sp>
        <p:nvSpPr>
          <p:cNvPr id="3" name="Content Placeholder 2"/>
          <p:cNvSpPr>
            <a:spLocks noGrp="1"/>
          </p:cNvSpPr>
          <p:nvPr>
            <p:ph idx="1"/>
          </p:nvPr>
        </p:nvSpPr>
        <p:spPr/>
        <p:txBody>
          <a:bodyPr>
            <a:normAutofit/>
          </a:bodyPr>
          <a:lstStyle/>
          <a:p>
            <a:pPr>
              <a:buNone/>
            </a:pPr>
            <a:r>
              <a:rPr lang="en-US" dirty="0"/>
              <a:t>A puzzle consisting of three pegs on a board with disks of different sizes. </a:t>
            </a:r>
          </a:p>
          <a:p>
            <a:pPr>
              <a:buNone/>
            </a:pPr>
            <a:r>
              <a:rPr lang="en-US" dirty="0"/>
              <a:t>Initially all of the disks are on the first peg in order of size, with the largest on the bottom.</a:t>
            </a:r>
          </a:p>
          <a:p>
            <a:pPr>
              <a:buNone/>
            </a:pPr>
            <a:endParaRPr lang="en-US" dirty="0"/>
          </a:p>
          <a:p>
            <a:endParaRPr lang="en-US" dirty="0"/>
          </a:p>
        </p:txBody>
      </p:sp>
      <p:pic>
        <p:nvPicPr>
          <p:cNvPr id="5" name="Picture 4" descr="0702.jpg">
            <a:extLst>
              <a:ext uri="{FF2B5EF4-FFF2-40B4-BE49-F238E27FC236}">
                <a16:creationId xmlns:a16="http://schemas.microsoft.com/office/drawing/2014/main" id="{9B5F9904-E90B-7D45-A949-3AFEC7794BAA}"/>
              </a:ext>
            </a:extLst>
          </p:cNvPr>
          <p:cNvPicPr>
            <a:picLocks noChangeAspect="1"/>
          </p:cNvPicPr>
          <p:nvPr/>
        </p:nvPicPr>
        <p:blipFill>
          <a:blip r:embed="rId2" cstate="print"/>
          <a:stretch>
            <a:fillRect/>
          </a:stretch>
        </p:blipFill>
        <p:spPr>
          <a:xfrm>
            <a:off x="2905541" y="3863407"/>
            <a:ext cx="5327073" cy="2668993"/>
          </a:xfrm>
          <a:prstGeom prst="rect">
            <a:avLst/>
          </a:prstGeom>
        </p:spPr>
      </p:pic>
    </p:spTree>
    <p:extLst>
      <p:ext uri="{BB962C8B-B14F-4D97-AF65-F5344CB8AC3E}">
        <p14:creationId xmlns:p14="http://schemas.microsoft.com/office/powerpoint/2010/main" val="1037152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A61D5-D179-1843-808C-DEFB433862CD}"/>
              </a:ext>
            </a:extLst>
          </p:cNvPr>
          <p:cNvSpPr>
            <a:spLocks noGrp="1"/>
          </p:cNvSpPr>
          <p:nvPr>
            <p:ph type="title"/>
          </p:nvPr>
        </p:nvSpPr>
        <p:spPr/>
        <p:txBody>
          <a:bodyPr/>
          <a:lstStyle/>
          <a:p>
            <a:r>
              <a:rPr lang="en-US" dirty="0"/>
              <a:t>The Tower of Hanoi - Rules</a:t>
            </a:r>
            <a:endParaRPr lang="en-US"/>
          </a:p>
        </p:txBody>
      </p:sp>
      <p:sp>
        <p:nvSpPr>
          <p:cNvPr id="3" name="Content Placeholder 2">
            <a:extLst>
              <a:ext uri="{FF2B5EF4-FFF2-40B4-BE49-F238E27FC236}">
                <a16:creationId xmlns:a16="http://schemas.microsoft.com/office/drawing/2014/main" id="{3EE91F42-CF6B-B543-9CDB-1CBB07B895AA}"/>
              </a:ext>
            </a:extLst>
          </p:cNvPr>
          <p:cNvSpPr>
            <a:spLocks noGrp="1"/>
          </p:cNvSpPr>
          <p:nvPr>
            <p:ph idx="1"/>
          </p:nvPr>
        </p:nvSpPr>
        <p:spPr/>
        <p:txBody>
          <a:bodyPr>
            <a:normAutofit fontScale="92500" lnSpcReduction="10000"/>
          </a:bodyPr>
          <a:lstStyle/>
          <a:p>
            <a:pPr marL="0" indent="0">
              <a:buNone/>
            </a:pPr>
            <a:r>
              <a:rPr lang="en-US" b="1" dirty="0"/>
              <a:t>Rules:</a:t>
            </a:r>
            <a:r>
              <a:rPr lang="en-US" dirty="0"/>
              <a:t> You are allowed to move the disks one at a time from one peg to another as long as a larger disk is never placed on a smaller.</a:t>
            </a:r>
          </a:p>
          <a:p>
            <a:pPr marL="0" indent="0">
              <a:buNone/>
            </a:pPr>
            <a:endParaRPr lang="en-US" b="1" dirty="0"/>
          </a:p>
          <a:p>
            <a:pPr marL="0" indent="0">
              <a:buNone/>
            </a:pPr>
            <a:r>
              <a:rPr lang="en-US" b="1" dirty="0"/>
              <a:t>Goal:</a:t>
            </a:r>
            <a:r>
              <a:rPr lang="en-US" dirty="0"/>
              <a:t> Using allowable moves, end up with all the disks on the second peg in order of size with largest on the bottom.</a:t>
            </a:r>
          </a:p>
          <a:p>
            <a:pPr marL="0" indent="0">
              <a:buNone/>
            </a:pPr>
            <a:endParaRPr lang="en-US" b="1" dirty="0"/>
          </a:p>
          <a:p>
            <a:pPr marL="0" indent="0">
              <a:buNone/>
            </a:pPr>
            <a:r>
              <a:rPr lang="en-US" b="1" dirty="0"/>
              <a:t>Question</a:t>
            </a:r>
            <a:r>
              <a:rPr lang="en-US" dirty="0"/>
              <a:t>: How many moves are needed?</a:t>
            </a:r>
          </a:p>
          <a:p>
            <a:pPr marL="0" indent="0">
              <a:buNone/>
            </a:pPr>
            <a:r>
              <a:rPr lang="en-US" dirty="0"/>
              <a:t>Let {</a:t>
            </a:r>
            <a:r>
              <a:rPr lang="en-US" i="1" dirty="0" err="1"/>
              <a:t>H</a:t>
            </a:r>
            <a:r>
              <a:rPr lang="en-US" i="1" baseline="-25000" dirty="0" err="1"/>
              <a:t>n</a:t>
            </a:r>
            <a:r>
              <a:rPr lang="en-US" dirty="0"/>
              <a:t>} denote the number of moves needed to solve the Tower of Hanoi Puzzle with </a:t>
            </a:r>
            <a:r>
              <a:rPr lang="en-US" i="1" dirty="0"/>
              <a:t>n</a:t>
            </a:r>
            <a:r>
              <a:rPr lang="en-US" dirty="0"/>
              <a:t> disks. </a:t>
            </a:r>
          </a:p>
          <a:p>
            <a:pPr marL="0" indent="0">
              <a:buNone/>
            </a:pPr>
            <a:r>
              <a:rPr lang="en-US" dirty="0"/>
              <a:t>The initial condition is </a:t>
            </a:r>
            <a:r>
              <a:rPr lang="en-US" i="1" dirty="0"/>
              <a:t>H</a:t>
            </a:r>
            <a:r>
              <a:rPr lang="en-US" i="1" baseline="-25000" dirty="0">
                <a:ea typeface="Cambria Math" pitchFamily="18" charset="0"/>
              </a:rPr>
              <a:t>1</a:t>
            </a:r>
            <a:r>
              <a:rPr lang="en-US" dirty="0"/>
              <a:t>= </a:t>
            </a:r>
            <a:r>
              <a:rPr lang="en-US" dirty="0">
                <a:ea typeface="Cambria Math" pitchFamily="18" charset="0"/>
              </a:rPr>
              <a:t>1 since a single disk can be transferred from peg 1 to peg 2 in one move.</a:t>
            </a:r>
            <a:endParaRPr lang="en-US" dirty="0"/>
          </a:p>
          <a:p>
            <a:pPr marL="0" indent="0">
              <a:buNone/>
            </a:pPr>
            <a:endParaRPr lang="en-US" dirty="0"/>
          </a:p>
          <a:p>
            <a:pPr marL="0" indent="0">
              <a:buNone/>
            </a:pPr>
            <a:endParaRPr lang="en-US"/>
          </a:p>
        </p:txBody>
      </p:sp>
    </p:spTree>
    <p:extLst>
      <p:ext uri="{BB962C8B-B14F-4D97-AF65-F5344CB8AC3E}">
        <p14:creationId xmlns:p14="http://schemas.microsoft.com/office/powerpoint/2010/main" val="1640602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The Tower of Hanoi – Initial Move</a:t>
            </a:r>
          </a:p>
        </p:txBody>
      </p:sp>
      <p:sp>
        <p:nvSpPr>
          <p:cNvPr id="3" name="Content Placeholder 2"/>
          <p:cNvSpPr>
            <a:spLocks noGrp="1"/>
          </p:cNvSpPr>
          <p:nvPr>
            <p:ph idx="1"/>
          </p:nvPr>
        </p:nvSpPr>
        <p:spPr>
          <a:xfrm>
            <a:off x="838200" y="4918587"/>
            <a:ext cx="10515600" cy="1731594"/>
          </a:xfrm>
          <a:solidFill>
            <a:schemeClr val="bg1"/>
          </a:solidFill>
        </p:spPr>
        <p:txBody>
          <a:bodyPr>
            <a:normAutofit/>
          </a:bodyPr>
          <a:lstStyle/>
          <a:p>
            <a:pPr>
              <a:buNone/>
            </a:pPr>
            <a:r>
              <a:rPr lang="en-US" sz="2400" dirty="0"/>
              <a:t>Begin with </a:t>
            </a:r>
            <a:r>
              <a:rPr lang="en-US" sz="2400" i="1" dirty="0"/>
              <a:t>n</a:t>
            </a:r>
            <a:r>
              <a:rPr lang="en-US" sz="2400" dirty="0"/>
              <a:t> disks on peg </a:t>
            </a:r>
            <a:r>
              <a:rPr lang="en-US" sz="2400" dirty="0">
                <a:ea typeface="Cambria Math" pitchFamily="18" charset="0"/>
              </a:rPr>
              <a:t>1</a:t>
            </a:r>
            <a:r>
              <a:rPr lang="en-US" sz="2400" dirty="0"/>
              <a:t>. We can transfer the top </a:t>
            </a:r>
            <a:r>
              <a:rPr lang="en-US" sz="2400" i="1" dirty="0"/>
              <a:t>n</a:t>
            </a:r>
            <a:r>
              <a:rPr lang="en-US" sz="2400" dirty="0"/>
              <a:t> </a:t>
            </a:r>
            <a:r>
              <a:rPr lang="en-US" sz="2400" dirty="0">
                <a:ea typeface="Cambria Math"/>
              </a:rPr>
              <a:t>−</a:t>
            </a:r>
            <a:r>
              <a:rPr lang="en-US" sz="2400" dirty="0">
                <a:ea typeface="Cambria Math" pitchFamily="18" charset="0"/>
              </a:rPr>
              <a:t>1</a:t>
            </a:r>
            <a:r>
              <a:rPr lang="en-US" sz="2400" dirty="0"/>
              <a:t> disks, following the rules of the puzzle, to peg </a:t>
            </a:r>
            <a:r>
              <a:rPr lang="en-US" sz="2400" dirty="0">
                <a:ea typeface="Cambria Math" pitchFamily="18" charset="0"/>
              </a:rPr>
              <a:t>3</a:t>
            </a:r>
            <a:r>
              <a:rPr lang="en-US" sz="2400" dirty="0"/>
              <a:t> using H</a:t>
            </a:r>
            <a:r>
              <a:rPr lang="en-US" sz="2400" i="1" baseline="-25000" dirty="0"/>
              <a:t>n</a:t>
            </a:r>
            <a:r>
              <a:rPr lang="en-US" sz="2400" baseline="-25000" dirty="0">
                <a:ea typeface="Cambria Math"/>
              </a:rPr>
              <a:t>−</a:t>
            </a:r>
            <a:r>
              <a:rPr lang="en-US" sz="2400" baseline="-25000" dirty="0">
                <a:ea typeface="Cambria Math" pitchFamily="18" charset="0"/>
              </a:rPr>
              <a:t>1</a:t>
            </a:r>
            <a:r>
              <a:rPr lang="en-US" sz="2400" baseline="-25000" dirty="0"/>
              <a:t> </a:t>
            </a:r>
            <a:r>
              <a:rPr lang="en-US" sz="2400" dirty="0"/>
              <a:t>moves. </a:t>
            </a:r>
          </a:p>
        </p:txBody>
      </p:sp>
      <p:pic>
        <p:nvPicPr>
          <p:cNvPr id="4" name="Picture 3" descr="0703.jpg"/>
          <p:cNvPicPr>
            <a:picLocks noChangeAspect="1"/>
          </p:cNvPicPr>
          <p:nvPr/>
        </p:nvPicPr>
        <p:blipFill>
          <a:blip r:embed="rId2" cstate="print"/>
          <a:stretch>
            <a:fillRect/>
          </a:stretch>
        </p:blipFill>
        <p:spPr>
          <a:xfrm>
            <a:off x="3311681" y="1993029"/>
            <a:ext cx="5372101" cy="2396432"/>
          </a:xfrm>
          <a:prstGeom prst="rect">
            <a:avLst/>
          </a:prstGeom>
        </p:spPr>
      </p:pic>
      <p:cxnSp>
        <p:nvCxnSpPr>
          <p:cNvPr id="5" name="Curved Connector 4">
            <a:extLst>
              <a:ext uri="{FF2B5EF4-FFF2-40B4-BE49-F238E27FC236}">
                <a16:creationId xmlns:a16="http://schemas.microsoft.com/office/drawing/2014/main" id="{1F858BB7-993C-DD42-A720-667ACB33A8C3}"/>
              </a:ext>
            </a:extLst>
          </p:cNvPr>
          <p:cNvCxnSpPr>
            <a:cxnSpLocks/>
          </p:cNvCxnSpPr>
          <p:nvPr/>
        </p:nvCxnSpPr>
        <p:spPr>
          <a:xfrm>
            <a:off x="4284406" y="2691581"/>
            <a:ext cx="3111910" cy="66367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7865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8EF85-F742-8A40-AF49-40EE615062D8}"/>
              </a:ext>
            </a:extLst>
          </p:cNvPr>
          <p:cNvSpPr>
            <a:spLocks noGrp="1"/>
          </p:cNvSpPr>
          <p:nvPr>
            <p:ph type="title"/>
          </p:nvPr>
        </p:nvSpPr>
        <p:spPr/>
        <p:txBody>
          <a:bodyPr/>
          <a:lstStyle/>
          <a:p>
            <a:r>
              <a:rPr lang="en-US" dirty="0"/>
              <a:t>The Tower of Hanoi – Recursion</a:t>
            </a:r>
            <a:endParaRPr lang="en-US"/>
          </a:p>
        </p:txBody>
      </p:sp>
      <p:sp>
        <p:nvSpPr>
          <p:cNvPr id="3" name="Content Placeholder 2">
            <a:extLst>
              <a:ext uri="{FF2B5EF4-FFF2-40B4-BE49-F238E27FC236}">
                <a16:creationId xmlns:a16="http://schemas.microsoft.com/office/drawing/2014/main" id="{CC94F8FF-8EAE-B443-8574-3D0C6C391FB3}"/>
              </a:ext>
            </a:extLst>
          </p:cNvPr>
          <p:cNvSpPr>
            <a:spLocks noGrp="1"/>
          </p:cNvSpPr>
          <p:nvPr>
            <p:ph idx="1"/>
          </p:nvPr>
        </p:nvSpPr>
        <p:spPr/>
        <p:txBody>
          <a:bodyPr>
            <a:normAutofit lnSpcReduction="10000"/>
          </a:bodyPr>
          <a:lstStyle/>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r>
              <a:rPr lang="en-US" dirty="0"/>
              <a:t>Then, we use </a:t>
            </a:r>
            <a:r>
              <a:rPr lang="en-US" dirty="0">
                <a:ea typeface="Cambria Math" pitchFamily="18" charset="0"/>
              </a:rPr>
              <a:t>1</a:t>
            </a:r>
            <a:r>
              <a:rPr lang="en-US" dirty="0"/>
              <a:t> move to transfer the largest disk to the second peg. </a:t>
            </a:r>
          </a:p>
          <a:p>
            <a:pPr>
              <a:buNone/>
            </a:pPr>
            <a:r>
              <a:rPr lang="en-US" dirty="0"/>
              <a:t>Then we transfer the </a:t>
            </a:r>
            <a:r>
              <a:rPr lang="en-US" i="1" dirty="0"/>
              <a:t>n</a:t>
            </a:r>
            <a:r>
              <a:rPr lang="en-US" dirty="0"/>
              <a:t> </a:t>
            </a:r>
            <a:r>
              <a:rPr lang="en-US" dirty="0">
                <a:ea typeface="Cambria Math"/>
              </a:rPr>
              <a:t>−</a:t>
            </a:r>
            <a:r>
              <a:rPr lang="en-US" dirty="0">
                <a:ea typeface="Cambria Math" pitchFamily="18" charset="0"/>
              </a:rPr>
              <a:t>1</a:t>
            </a:r>
            <a:r>
              <a:rPr lang="en-US" dirty="0"/>
              <a:t> disks from peg</a:t>
            </a:r>
            <a:r>
              <a:rPr lang="en-US" dirty="0">
                <a:ea typeface="Cambria Math" pitchFamily="18" charset="0"/>
              </a:rPr>
              <a:t> 3 </a:t>
            </a:r>
            <a:r>
              <a:rPr lang="en-US" dirty="0"/>
              <a:t>to peg </a:t>
            </a:r>
            <a:r>
              <a:rPr lang="en-US" dirty="0">
                <a:ea typeface="Cambria Math" pitchFamily="18" charset="0"/>
              </a:rPr>
              <a:t>2</a:t>
            </a:r>
            <a:r>
              <a:rPr lang="en-US" dirty="0"/>
              <a:t> using H</a:t>
            </a:r>
            <a:r>
              <a:rPr lang="en-US" i="1" baseline="-25000" dirty="0"/>
              <a:t>n</a:t>
            </a:r>
            <a:r>
              <a:rPr lang="en-US" baseline="-25000" dirty="0">
                <a:ea typeface="Cambria Math"/>
              </a:rPr>
              <a:t>−</a:t>
            </a:r>
            <a:r>
              <a:rPr lang="en-US" baseline="-25000" dirty="0">
                <a:ea typeface="Cambria Math" pitchFamily="18" charset="0"/>
              </a:rPr>
              <a:t>1</a:t>
            </a:r>
            <a:r>
              <a:rPr lang="en-US" baseline="-25000" dirty="0"/>
              <a:t>  </a:t>
            </a:r>
            <a:r>
              <a:rPr lang="en-US" dirty="0"/>
              <a:t>additional moves. </a:t>
            </a:r>
          </a:p>
          <a:p>
            <a:pPr>
              <a:buNone/>
            </a:pPr>
            <a:r>
              <a:rPr lang="en-US" dirty="0"/>
              <a:t>Hence, </a:t>
            </a:r>
            <a:r>
              <a:rPr lang="en-US" dirty="0" err="1"/>
              <a:t>H</a:t>
            </a:r>
            <a:r>
              <a:rPr lang="en-US" i="1" baseline="-25000" dirty="0" err="1"/>
              <a:t>n</a:t>
            </a:r>
            <a:r>
              <a:rPr lang="en-US" baseline="-25000" dirty="0"/>
              <a:t> </a:t>
            </a:r>
            <a:r>
              <a:rPr lang="en-US" dirty="0"/>
              <a:t> = </a:t>
            </a:r>
            <a:r>
              <a:rPr lang="en-US" dirty="0">
                <a:ea typeface="Cambria Math" pitchFamily="18" charset="0"/>
              </a:rPr>
              <a:t>2</a:t>
            </a:r>
            <a:r>
              <a:rPr lang="en-US" dirty="0"/>
              <a:t>H</a:t>
            </a:r>
            <a:r>
              <a:rPr lang="en-US" i="1" baseline="-25000" dirty="0"/>
              <a:t>n</a:t>
            </a:r>
            <a:r>
              <a:rPr lang="en-US" baseline="-25000" dirty="0">
                <a:ea typeface="Cambria Math"/>
              </a:rPr>
              <a:t>−</a:t>
            </a:r>
            <a:r>
              <a:rPr lang="en-US" baseline="-25000" dirty="0">
                <a:ea typeface="Cambria Math" pitchFamily="18" charset="0"/>
              </a:rPr>
              <a:t>1</a:t>
            </a:r>
            <a:r>
              <a:rPr lang="en-US" baseline="-25000" dirty="0"/>
              <a:t> </a:t>
            </a:r>
            <a:r>
              <a:rPr lang="en-US" dirty="0"/>
              <a:t>  + </a:t>
            </a:r>
            <a:r>
              <a:rPr lang="en-US" dirty="0">
                <a:ea typeface="Cambria Math" pitchFamily="18" charset="0"/>
              </a:rPr>
              <a:t>1.</a:t>
            </a:r>
            <a:r>
              <a:rPr lang="en-US" dirty="0"/>
              <a:t>  </a:t>
            </a:r>
          </a:p>
          <a:p>
            <a:endParaRPr lang="en-US"/>
          </a:p>
        </p:txBody>
      </p:sp>
      <p:pic>
        <p:nvPicPr>
          <p:cNvPr id="4" name="Picture 3" descr="0703.jpg">
            <a:extLst>
              <a:ext uri="{FF2B5EF4-FFF2-40B4-BE49-F238E27FC236}">
                <a16:creationId xmlns:a16="http://schemas.microsoft.com/office/drawing/2014/main" id="{0C88915A-C818-E545-9C9D-D1CE5EF3C4A6}"/>
              </a:ext>
            </a:extLst>
          </p:cNvPr>
          <p:cNvPicPr>
            <a:picLocks noChangeAspect="1"/>
          </p:cNvPicPr>
          <p:nvPr/>
        </p:nvPicPr>
        <p:blipFill>
          <a:blip r:embed="rId2" cstate="print"/>
          <a:stretch>
            <a:fillRect/>
          </a:stretch>
        </p:blipFill>
        <p:spPr>
          <a:xfrm>
            <a:off x="3856704" y="1609571"/>
            <a:ext cx="4237143" cy="1890140"/>
          </a:xfrm>
          <a:prstGeom prst="rect">
            <a:avLst/>
          </a:prstGeom>
        </p:spPr>
      </p:pic>
      <p:cxnSp>
        <p:nvCxnSpPr>
          <p:cNvPr id="10" name="Curved Connector 9">
            <a:extLst>
              <a:ext uri="{FF2B5EF4-FFF2-40B4-BE49-F238E27FC236}">
                <a16:creationId xmlns:a16="http://schemas.microsoft.com/office/drawing/2014/main" id="{9D176127-FDB0-C742-A81A-600A501FC119}"/>
              </a:ext>
            </a:extLst>
          </p:cNvPr>
          <p:cNvCxnSpPr/>
          <p:nvPr/>
        </p:nvCxnSpPr>
        <p:spPr>
          <a:xfrm rot="10800000">
            <a:off x="6113207" y="2359743"/>
            <a:ext cx="1157749" cy="361335"/>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495EFEA-E36D-CF40-B3B0-1ECF3F57CC4B}"/>
              </a:ext>
            </a:extLst>
          </p:cNvPr>
          <p:cNvCxnSpPr>
            <a:cxnSpLocks/>
          </p:cNvCxnSpPr>
          <p:nvPr/>
        </p:nvCxnSpPr>
        <p:spPr>
          <a:xfrm>
            <a:off x="5213555" y="2979174"/>
            <a:ext cx="7447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335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The Tower of Hanoi – Solving the Recurrence</a:t>
            </a:r>
          </a:p>
        </p:txBody>
      </p:sp>
      <p:sp>
        <p:nvSpPr>
          <p:cNvPr id="3" name="Content Placeholder 2"/>
          <p:cNvSpPr>
            <a:spLocks noGrp="1"/>
          </p:cNvSpPr>
          <p:nvPr>
            <p:ph idx="1"/>
          </p:nvPr>
        </p:nvSpPr>
        <p:spPr/>
        <p:txBody>
          <a:bodyPr>
            <a:noAutofit/>
          </a:bodyPr>
          <a:lstStyle/>
          <a:p>
            <a:pPr marL="0" indent="0">
              <a:buNone/>
            </a:pPr>
            <a:endParaRPr lang="en-US" sz="1800" i="1" dirty="0" err="1"/>
          </a:p>
          <a:p>
            <a:pPr marL="0" indent="0">
              <a:buNone/>
            </a:pPr>
            <a:r>
              <a:rPr lang="en-US" i="1" dirty="0" err="1"/>
              <a:t>H</a:t>
            </a:r>
            <a:r>
              <a:rPr lang="en-US" i="1" baseline="-25000" dirty="0" err="1"/>
              <a:t>n</a:t>
            </a:r>
            <a:r>
              <a:rPr lang="en-US" i="1" dirty="0"/>
              <a:t> = </a:t>
            </a:r>
            <a:r>
              <a:rPr lang="en-US" dirty="0">
                <a:ea typeface="Cambria Math" pitchFamily="18" charset="0"/>
              </a:rPr>
              <a:t>2</a:t>
            </a:r>
            <a:r>
              <a:rPr lang="en-US" i="1" dirty="0"/>
              <a:t>H</a:t>
            </a:r>
            <a:r>
              <a:rPr lang="en-US" i="1" baseline="-25000" dirty="0"/>
              <a:t>n</a:t>
            </a:r>
            <a:r>
              <a:rPr lang="en-US" baseline="-25000" dirty="0">
                <a:ea typeface="Cambria Math"/>
              </a:rPr>
              <a:t>−</a:t>
            </a:r>
            <a:r>
              <a:rPr lang="en-US" baseline="-25000" dirty="0">
                <a:ea typeface="Cambria Math" pitchFamily="18" charset="0"/>
              </a:rPr>
              <a:t>1</a:t>
            </a:r>
            <a:r>
              <a:rPr lang="en-US" i="1" dirty="0"/>
              <a:t> + </a:t>
            </a:r>
            <a:r>
              <a:rPr lang="en-US" dirty="0">
                <a:ea typeface="Cambria Math" pitchFamily="18" charset="0"/>
              </a:rPr>
              <a:t>1</a:t>
            </a:r>
          </a:p>
          <a:p>
            <a:pPr lvl="2">
              <a:buNone/>
            </a:pPr>
            <a:r>
              <a:rPr lang="en-US" sz="2800" i="1" dirty="0"/>
              <a:t>     =  </a:t>
            </a:r>
            <a:r>
              <a:rPr lang="en-US" sz="2800" dirty="0">
                <a:ea typeface="Cambria Math" pitchFamily="18" charset="0"/>
              </a:rPr>
              <a:t>2 </a:t>
            </a:r>
            <a:r>
              <a:rPr lang="en-US" sz="2800" dirty="0"/>
              <a:t>(</a:t>
            </a:r>
            <a:r>
              <a:rPr lang="en-US" sz="2800" dirty="0">
                <a:ea typeface="Cambria Math" pitchFamily="18" charset="0"/>
              </a:rPr>
              <a:t>2</a:t>
            </a:r>
            <a:r>
              <a:rPr lang="en-US" sz="2800" i="1" dirty="0"/>
              <a:t>H</a:t>
            </a:r>
            <a:r>
              <a:rPr lang="en-US" sz="2800" i="1" baseline="-25000" dirty="0"/>
              <a:t>n</a:t>
            </a:r>
            <a:r>
              <a:rPr lang="en-US" sz="2800" baseline="-25000" dirty="0">
                <a:ea typeface="Cambria Math"/>
              </a:rPr>
              <a:t>−</a:t>
            </a:r>
            <a:r>
              <a:rPr lang="en-US" sz="2800" baseline="-25000" dirty="0">
                <a:ea typeface="Cambria Math" pitchFamily="18" charset="0"/>
              </a:rPr>
              <a:t>2</a:t>
            </a:r>
            <a:r>
              <a:rPr lang="en-US" sz="2800" i="1" dirty="0"/>
              <a:t> + </a:t>
            </a:r>
            <a:r>
              <a:rPr lang="en-US" sz="2800" dirty="0">
                <a:ea typeface="Cambria Math" pitchFamily="18" charset="0"/>
              </a:rPr>
              <a:t>1</a:t>
            </a:r>
            <a:r>
              <a:rPr lang="en-US" sz="2800" i="1" dirty="0"/>
              <a:t>) + </a:t>
            </a:r>
            <a:r>
              <a:rPr lang="en-US" sz="2800" dirty="0">
                <a:ea typeface="Cambria Math" pitchFamily="18" charset="0"/>
              </a:rPr>
              <a:t>1</a:t>
            </a:r>
            <a:r>
              <a:rPr lang="en-US" sz="2800" i="1" dirty="0"/>
              <a:t> = </a:t>
            </a:r>
            <a:r>
              <a:rPr lang="en-US" sz="2800" dirty="0">
                <a:ea typeface="Cambria Math" pitchFamily="18" charset="0"/>
              </a:rPr>
              <a:t>2</a:t>
            </a:r>
            <a:r>
              <a:rPr lang="en-US" sz="2800" baseline="30000" dirty="0">
                <a:ea typeface="Cambria Math" pitchFamily="18" charset="0"/>
              </a:rPr>
              <a:t>2</a:t>
            </a:r>
            <a:r>
              <a:rPr lang="en-US" sz="2800" i="1" dirty="0"/>
              <a:t> H</a:t>
            </a:r>
            <a:r>
              <a:rPr lang="en-US" sz="2800" i="1" baseline="-25000" dirty="0"/>
              <a:t>n</a:t>
            </a:r>
            <a:r>
              <a:rPr lang="en-US" sz="2800" baseline="-25000" dirty="0">
                <a:ea typeface="Cambria Math"/>
              </a:rPr>
              <a:t>−</a:t>
            </a:r>
            <a:r>
              <a:rPr lang="en-US" sz="2800" baseline="-25000" dirty="0">
                <a:ea typeface="Cambria Math" pitchFamily="18" charset="0"/>
              </a:rPr>
              <a:t>2</a:t>
            </a:r>
            <a:r>
              <a:rPr lang="en-US" sz="2800" i="1" dirty="0"/>
              <a:t> + </a:t>
            </a:r>
            <a:r>
              <a:rPr lang="en-US" sz="2800" dirty="0">
                <a:ea typeface="Cambria Math" pitchFamily="18" charset="0"/>
              </a:rPr>
              <a:t>2</a:t>
            </a:r>
            <a:r>
              <a:rPr lang="en-US" sz="2800" i="1" dirty="0"/>
              <a:t> + </a:t>
            </a:r>
            <a:r>
              <a:rPr lang="en-US" sz="2800" dirty="0">
                <a:ea typeface="Cambria Math" pitchFamily="18" charset="0"/>
              </a:rPr>
              <a:t>1</a:t>
            </a:r>
          </a:p>
          <a:p>
            <a:pPr lvl="2">
              <a:buNone/>
            </a:pPr>
            <a:r>
              <a:rPr lang="en-US" sz="2800" i="1" dirty="0"/>
              <a:t>     =  </a:t>
            </a:r>
            <a:r>
              <a:rPr lang="en-US" sz="2800" dirty="0">
                <a:ea typeface="Cambria Math" pitchFamily="18" charset="0"/>
              </a:rPr>
              <a:t>2</a:t>
            </a:r>
            <a:r>
              <a:rPr lang="en-US" sz="2800" baseline="30000" dirty="0">
                <a:ea typeface="Cambria Math" pitchFamily="18" charset="0"/>
              </a:rPr>
              <a:t>2 </a:t>
            </a:r>
            <a:r>
              <a:rPr lang="en-US" sz="2800" dirty="0"/>
              <a:t>(</a:t>
            </a:r>
            <a:r>
              <a:rPr lang="en-US" sz="2800" dirty="0">
                <a:ea typeface="Cambria Math" pitchFamily="18" charset="0"/>
              </a:rPr>
              <a:t>2</a:t>
            </a:r>
            <a:r>
              <a:rPr lang="en-US" sz="2800" i="1" dirty="0"/>
              <a:t>H</a:t>
            </a:r>
            <a:r>
              <a:rPr lang="en-US" sz="2800" i="1" baseline="-25000" dirty="0"/>
              <a:t>n</a:t>
            </a:r>
            <a:r>
              <a:rPr lang="en-US" sz="2800" baseline="-25000" dirty="0">
                <a:ea typeface="Cambria Math"/>
              </a:rPr>
              <a:t>−</a:t>
            </a:r>
            <a:r>
              <a:rPr lang="en-US" sz="2800" baseline="-25000" dirty="0">
                <a:ea typeface="Cambria Math" pitchFamily="18" charset="0"/>
              </a:rPr>
              <a:t>3</a:t>
            </a:r>
            <a:r>
              <a:rPr lang="en-US" sz="2800" i="1" dirty="0"/>
              <a:t> + </a:t>
            </a:r>
            <a:r>
              <a:rPr lang="en-US" sz="2800" dirty="0">
                <a:ea typeface="Cambria Math" pitchFamily="18" charset="0"/>
              </a:rPr>
              <a:t>1</a:t>
            </a:r>
            <a:r>
              <a:rPr lang="en-US" sz="2800" dirty="0"/>
              <a:t>)</a:t>
            </a:r>
            <a:r>
              <a:rPr lang="en-US" sz="2800" i="1" dirty="0"/>
              <a:t> + </a:t>
            </a:r>
            <a:r>
              <a:rPr lang="en-US" sz="2800" dirty="0">
                <a:ea typeface="Cambria Math" pitchFamily="18" charset="0"/>
              </a:rPr>
              <a:t>2</a:t>
            </a:r>
            <a:r>
              <a:rPr lang="en-US" sz="2800" i="1" dirty="0"/>
              <a:t> + </a:t>
            </a:r>
            <a:r>
              <a:rPr lang="en-US" sz="2800" dirty="0">
                <a:ea typeface="Cambria Math" pitchFamily="18" charset="0"/>
              </a:rPr>
              <a:t>1</a:t>
            </a:r>
            <a:r>
              <a:rPr lang="en-US" sz="2800" i="1" dirty="0"/>
              <a:t> = </a:t>
            </a:r>
            <a:r>
              <a:rPr lang="en-US" sz="2800" dirty="0">
                <a:ea typeface="Cambria Math" pitchFamily="18" charset="0"/>
              </a:rPr>
              <a:t>2</a:t>
            </a:r>
            <a:r>
              <a:rPr lang="en-US" sz="2800" baseline="30000" dirty="0">
                <a:ea typeface="Cambria Math" pitchFamily="18" charset="0"/>
              </a:rPr>
              <a:t>3</a:t>
            </a:r>
            <a:r>
              <a:rPr lang="en-US" sz="2800" i="1" dirty="0"/>
              <a:t> H</a:t>
            </a:r>
            <a:r>
              <a:rPr lang="en-US" sz="2800" i="1" baseline="-25000" dirty="0"/>
              <a:t>n</a:t>
            </a:r>
            <a:r>
              <a:rPr lang="en-US" sz="2800" baseline="-25000" dirty="0">
                <a:ea typeface="Cambria Math"/>
              </a:rPr>
              <a:t>−</a:t>
            </a:r>
            <a:r>
              <a:rPr lang="en-US" sz="2800" baseline="-25000" dirty="0">
                <a:ea typeface="Cambria Math" pitchFamily="18" charset="0"/>
              </a:rPr>
              <a:t>3</a:t>
            </a:r>
            <a:r>
              <a:rPr lang="en-US" sz="2800" i="1" dirty="0"/>
              <a:t> + </a:t>
            </a:r>
            <a:r>
              <a:rPr lang="en-US" sz="2800" dirty="0">
                <a:ea typeface="Cambria Math" pitchFamily="18" charset="0"/>
              </a:rPr>
              <a:t>2</a:t>
            </a:r>
            <a:r>
              <a:rPr lang="en-US" sz="2800" baseline="30000" dirty="0">
                <a:ea typeface="Cambria Math" pitchFamily="18" charset="0"/>
              </a:rPr>
              <a:t>2</a:t>
            </a:r>
            <a:r>
              <a:rPr lang="en-US" sz="2800" i="1" dirty="0"/>
              <a:t> + </a:t>
            </a:r>
            <a:r>
              <a:rPr lang="en-US" sz="2800" dirty="0">
                <a:ea typeface="Cambria Math" pitchFamily="18" charset="0"/>
              </a:rPr>
              <a:t>2</a:t>
            </a:r>
            <a:r>
              <a:rPr lang="en-US" sz="2800" i="1" dirty="0"/>
              <a:t> + </a:t>
            </a:r>
            <a:r>
              <a:rPr lang="en-US" sz="2800" dirty="0">
                <a:ea typeface="Cambria Math" pitchFamily="18" charset="0"/>
              </a:rPr>
              <a:t>1</a:t>
            </a:r>
          </a:p>
          <a:p>
            <a:pPr lvl="2">
              <a:buNone/>
            </a:pPr>
            <a:r>
              <a:rPr lang="en-US" sz="2800" i="1" dirty="0"/>
              <a:t>     </a:t>
            </a:r>
            <a:r>
              <a:rPr lang="en-US" sz="2800" dirty="0">
                <a:ea typeface="Cambria Math"/>
              </a:rPr>
              <a:t>⋮</a:t>
            </a:r>
            <a:endParaRPr lang="en-US" sz="2800" i="1" dirty="0"/>
          </a:p>
          <a:p>
            <a:pPr lvl="2">
              <a:buNone/>
            </a:pPr>
            <a:r>
              <a:rPr lang="en-US" sz="2800" i="1" dirty="0"/>
              <a:t>     = </a:t>
            </a:r>
            <a:r>
              <a:rPr lang="en-US" sz="2800" dirty="0">
                <a:ea typeface="Cambria Math" pitchFamily="18" charset="0"/>
              </a:rPr>
              <a:t>2</a:t>
            </a:r>
            <a:r>
              <a:rPr lang="en-US" sz="2800" i="1" baseline="30000" dirty="0"/>
              <a:t>n-</a:t>
            </a:r>
            <a:r>
              <a:rPr lang="en-US" sz="2800" baseline="30000" dirty="0"/>
              <a:t>1 </a:t>
            </a:r>
            <a:r>
              <a:rPr lang="en-US" sz="2800" i="1" dirty="0"/>
              <a:t>H</a:t>
            </a:r>
            <a:r>
              <a:rPr lang="en-US" sz="2800" baseline="-25000" dirty="0">
                <a:ea typeface="Cambria Math" pitchFamily="18" charset="0"/>
              </a:rPr>
              <a:t>1</a:t>
            </a:r>
            <a:r>
              <a:rPr lang="en-US" sz="2800" i="1" dirty="0"/>
              <a:t> + </a:t>
            </a:r>
            <a:r>
              <a:rPr lang="en-US" sz="2800" dirty="0">
                <a:ea typeface="Cambria Math" pitchFamily="18" charset="0"/>
              </a:rPr>
              <a:t>2</a:t>
            </a:r>
            <a:r>
              <a:rPr lang="en-US" sz="2800" i="1" baseline="30000" dirty="0"/>
              <a:t>n</a:t>
            </a:r>
            <a:r>
              <a:rPr lang="en-US" sz="2800" i="1" baseline="30000" dirty="0">
                <a:ea typeface="Cambria Math"/>
              </a:rPr>
              <a:t>−</a:t>
            </a:r>
            <a:r>
              <a:rPr lang="en-US" sz="2800" baseline="30000" dirty="0">
                <a:ea typeface="Cambria Math" pitchFamily="18" charset="0"/>
              </a:rPr>
              <a:t>2</a:t>
            </a:r>
            <a:r>
              <a:rPr lang="en-US" sz="2800" i="1" dirty="0"/>
              <a:t> + </a:t>
            </a:r>
            <a:r>
              <a:rPr lang="en-US" sz="2800" dirty="0">
                <a:ea typeface="Cambria Math" pitchFamily="18" charset="0"/>
              </a:rPr>
              <a:t>2</a:t>
            </a:r>
            <a:r>
              <a:rPr lang="en-US" sz="2800" i="1" baseline="30000" dirty="0"/>
              <a:t>n</a:t>
            </a:r>
            <a:r>
              <a:rPr lang="en-US" sz="2800" i="1" baseline="30000" dirty="0">
                <a:ea typeface="Cambria Math"/>
              </a:rPr>
              <a:t>−</a:t>
            </a:r>
            <a:r>
              <a:rPr lang="en-US" sz="2800" baseline="30000" dirty="0">
                <a:ea typeface="Cambria Math" pitchFamily="18" charset="0"/>
              </a:rPr>
              <a:t>3</a:t>
            </a:r>
            <a:r>
              <a:rPr lang="en-US" sz="2800" i="1" dirty="0"/>
              <a:t> + …. + </a:t>
            </a:r>
            <a:r>
              <a:rPr lang="en-US" sz="2800" dirty="0">
                <a:ea typeface="Cambria Math" pitchFamily="18" charset="0"/>
              </a:rPr>
              <a:t>2</a:t>
            </a:r>
            <a:r>
              <a:rPr lang="en-US" sz="2800" i="1" dirty="0"/>
              <a:t> + </a:t>
            </a:r>
            <a:r>
              <a:rPr lang="en-US" sz="2800" dirty="0">
                <a:ea typeface="Cambria Math" pitchFamily="18" charset="0"/>
              </a:rPr>
              <a:t>1</a:t>
            </a:r>
          </a:p>
          <a:p>
            <a:pPr lvl="2">
              <a:buNone/>
            </a:pPr>
            <a:r>
              <a:rPr lang="en-US" sz="2800" i="1" dirty="0"/>
              <a:t>     = </a:t>
            </a:r>
            <a:r>
              <a:rPr lang="en-US" sz="2800" dirty="0">
                <a:ea typeface="Cambria Math" pitchFamily="18" charset="0"/>
              </a:rPr>
              <a:t>2</a:t>
            </a:r>
            <a:r>
              <a:rPr lang="en-US" sz="2800" i="1" baseline="30000" dirty="0"/>
              <a:t>n</a:t>
            </a:r>
            <a:r>
              <a:rPr lang="en-US" sz="2800" i="1" baseline="30000" dirty="0">
                <a:ea typeface="Cambria Math"/>
              </a:rPr>
              <a:t>−</a:t>
            </a:r>
            <a:r>
              <a:rPr lang="en-US" sz="2800" baseline="30000" dirty="0">
                <a:ea typeface="Cambria Math" pitchFamily="18" charset="0"/>
              </a:rPr>
              <a:t>1</a:t>
            </a:r>
            <a:r>
              <a:rPr lang="en-US" sz="2800" i="1" dirty="0"/>
              <a:t> + </a:t>
            </a:r>
            <a:r>
              <a:rPr lang="en-US" sz="2800" dirty="0">
                <a:ea typeface="Cambria Math" pitchFamily="18" charset="0"/>
              </a:rPr>
              <a:t>2</a:t>
            </a:r>
            <a:r>
              <a:rPr lang="en-US" sz="2800" i="1" baseline="30000" dirty="0"/>
              <a:t>n</a:t>
            </a:r>
            <a:r>
              <a:rPr lang="en-US" sz="2800" i="1" baseline="30000" dirty="0">
                <a:ea typeface="Cambria Math"/>
              </a:rPr>
              <a:t>−</a:t>
            </a:r>
            <a:r>
              <a:rPr lang="en-US" sz="2800" baseline="30000" dirty="0">
                <a:ea typeface="Cambria Math" pitchFamily="18" charset="0"/>
              </a:rPr>
              <a:t>2</a:t>
            </a:r>
            <a:r>
              <a:rPr lang="en-US" sz="2800" i="1" dirty="0"/>
              <a:t> + </a:t>
            </a:r>
            <a:r>
              <a:rPr lang="en-US" sz="2800" dirty="0">
                <a:ea typeface="Cambria Math" pitchFamily="18" charset="0"/>
              </a:rPr>
              <a:t>2</a:t>
            </a:r>
            <a:r>
              <a:rPr lang="en-US" sz="2800" i="1" baseline="30000" dirty="0"/>
              <a:t>n</a:t>
            </a:r>
            <a:r>
              <a:rPr lang="en-US" sz="2800" i="1" baseline="30000" dirty="0">
                <a:ea typeface="Cambria Math"/>
              </a:rPr>
              <a:t>−</a:t>
            </a:r>
            <a:r>
              <a:rPr lang="en-US" sz="2800" baseline="30000" dirty="0">
                <a:ea typeface="Cambria Math" pitchFamily="18" charset="0"/>
              </a:rPr>
              <a:t>3</a:t>
            </a:r>
            <a:r>
              <a:rPr lang="en-US" sz="2800" i="1" dirty="0"/>
              <a:t> + …. + </a:t>
            </a:r>
            <a:r>
              <a:rPr lang="en-US" sz="2800" dirty="0">
                <a:ea typeface="Cambria Math" pitchFamily="18" charset="0"/>
              </a:rPr>
              <a:t>2</a:t>
            </a:r>
            <a:r>
              <a:rPr lang="en-US" sz="2800" i="1" dirty="0"/>
              <a:t> + </a:t>
            </a:r>
            <a:r>
              <a:rPr lang="en-US" sz="2800" dirty="0">
                <a:ea typeface="Cambria Math" pitchFamily="18" charset="0"/>
              </a:rPr>
              <a:t>1       	</a:t>
            </a:r>
            <a:r>
              <a:rPr lang="en-US" sz="2800" i="1" dirty="0">
                <a:solidFill>
                  <a:srgbClr val="FF0000"/>
                </a:solidFill>
                <a:ea typeface="Cambria Math" pitchFamily="18" charset="0"/>
              </a:rPr>
              <a:t>since </a:t>
            </a:r>
            <a:r>
              <a:rPr lang="en-US" sz="2800" i="1" dirty="0">
                <a:solidFill>
                  <a:srgbClr val="FF0000"/>
                </a:solidFill>
              </a:rPr>
              <a:t>H</a:t>
            </a:r>
            <a:r>
              <a:rPr lang="en-US" sz="2800" baseline="-25000" dirty="0">
                <a:solidFill>
                  <a:srgbClr val="FF0000"/>
                </a:solidFill>
                <a:ea typeface="Cambria Math" pitchFamily="18" charset="0"/>
              </a:rPr>
              <a:t>1</a:t>
            </a:r>
            <a:r>
              <a:rPr lang="en-US" sz="2800" dirty="0">
                <a:solidFill>
                  <a:srgbClr val="FF0000"/>
                </a:solidFill>
              </a:rPr>
              <a:t>= </a:t>
            </a:r>
            <a:r>
              <a:rPr lang="en-US" sz="2800" dirty="0">
                <a:solidFill>
                  <a:srgbClr val="FF0000"/>
                </a:solidFill>
                <a:ea typeface="Cambria Math" pitchFamily="18" charset="0"/>
              </a:rPr>
              <a:t>1</a:t>
            </a:r>
            <a:r>
              <a:rPr lang="en-US" sz="2800" i="1" dirty="0">
                <a:solidFill>
                  <a:srgbClr val="FF0000"/>
                </a:solidFill>
                <a:ea typeface="Cambria Math" pitchFamily="18" charset="0"/>
              </a:rPr>
              <a:t> </a:t>
            </a:r>
            <a:endParaRPr lang="en-US" sz="2800" dirty="0">
              <a:solidFill>
                <a:srgbClr val="FF0000"/>
              </a:solidFill>
              <a:ea typeface="Cambria Math" pitchFamily="18" charset="0"/>
            </a:endParaRPr>
          </a:p>
          <a:p>
            <a:pPr lvl="2">
              <a:buNone/>
            </a:pPr>
            <a:r>
              <a:rPr lang="en-US" sz="2800" i="1" dirty="0"/>
              <a:t>     = </a:t>
            </a:r>
            <a:r>
              <a:rPr lang="en-US" sz="2800" dirty="0">
                <a:ea typeface="Cambria Math" pitchFamily="18" charset="0"/>
              </a:rPr>
              <a:t>2</a:t>
            </a:r>
            <a:r>
              <a:rPr lang="en-US" sz="2800" i="1" baseline="30000" dirty="0"/>
              <a:t>n</a:t>
            </a:r>
            <a:r>
              <a:rPr lang="en-US" sz="2800" i="1" dirty="0"/>
              <a:t> </a:t>
            </a:r>
            <a:r>
              <a:rPr lang="en-US" sz="2800" i="1" dirty="0">
                <a:ea typeface="Cambria Math"/>
              </a:rPr>
              <a:t>− </a:t>
            </a:r>
            <a:r>
              <a:rPr lang="en-US" sz="2800" dirty="0">
                <a:ea typeface="Cambria Math" pitchFamily="18" charset="0"/>
              </a:rPr>
              <a:t>1       				</a:t>
            </a:r>
            <a:r>
              <a:rPr lang="en-US" sz="2800" i="1" dirty="0">
                <a:solidFill>
                  <a:srgbClr val="FF0000"/>
                </a:solidFill>
                <a:ea typeface="Cambria Math" pitchFamily="18" charset="0"/>
              </a:rPr>
              <a:t>sum of the terms of a  </a:t>
            </a:r>
            <a:br>
              <a:rPr lang="en-US" sz="2800" i="1" dirty="0">
                <a:solidFill>
                  <a:srgbClr val="FF0000"/>
                </a:solidFill>
                <a:ea typeface="Cambria Math" pitchFamily="18" charset="0"/>
              </a:rPr>
            </a:br>
            <a:r>
              <a:rPr lang="en-US" sz="2800" i="1" dirty="0">
                <a:solidFill>
                  <a:srgbClr val="FF0000"/>
                </a:solidFill>
                <a:ea typeface="Cambria Math" pitchFamily="18" charset="0"/>
              </a:rPr>
              <a:t>						geometric series</a:t>
            </a:r>
            <a:endParaRPr lang="en-US" sz="2800" dirty="0">
              <a:ea typeface="Cambria Math" pitchFamily="18" charset="0"/>
            </a:endParaRPr>
          </a:p>
          <a:p>
            <a:pPr lvl="1"/>
            <a:endParaRPr lang="en-US" sz="2000" dirty="0"/>
          </a:p>
          <a:p>
            <a:pPr marL="0" indent="0">
              <a:buNone/>
            </a:pPr>
            <a:endParaRPr lang="en-US" sz="1800" dirty="0"/>
          </a:p>
        </p:txBody>
      </p:sp>
      <p:pic>
        <p:nvPicPr>
          <p:cNvPr id="4" name="Picture 3" descr="addin_tmp.png">
            <a:extLst>
              <a:ext uri="{FF2B5EF4-FFF2-40B4-BE49-F238E27FC236}">
                <a16:creationId xmlns:a16="http://schemas.microsoft.com/office/drawing/2014/main" id="{8F3B3872-92F6-274F-A3F6-05CC7DA68395}"/>
              </a:ext>
            </a:extLst>
          </p:cNvPr>
          <p:cNvPicPr>
            <a:picLocks noChangeAspect="1"/>
          </p:cNvPicPr>
          <p:nvPr>
            <p:custDataLst>
              <p:tags r:id="rId1"/>
            </p:custDataLst>
          </p:nvPr>
        </p:nvPicPr>
        <p:blipFill>
          <a:blip r:embed="rId3" cstate="print"/>
          <a:stretch>
            <a:fillRect/>
          </a:stretch>
        </p:blipFill>
        <p:spPr>
          <a:xfrm>
            <a:off x="7307826" y="5857394"/>
            <a:ext cx="2855478" cy="639138"/>
          </a:xfrm>
          <a:prstGeom prst="rect">
            <a:avLst/>
          </a:prstGeom>
        </p:spPr>
      </p:pic>
    </p:spTree>
    <p:extLst>
      <p:ext uri="{BB962C8B-B14F-4D97-AF65-F5344CB8AC3E}">
        <p14:creationId xmlns:p14="http://schemas.microsoft.com/office/powerpoint/2010/main" val="2013914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FFF37-5BC3-C84F-88EE-A8E00D415F9E}"/>
              </a:ext>
            </a:extLst>
          </p:cNvPr>
          <p:cNvSpPr>
            <a:spLocks noGrp="1"/>
          </p:cNvSpPr>
          <p:nvPr>
            <p:ph type="title"/>
          </p:nvPr>
        </p:nvSpPr>
        <p:spPr/>
        <p:txBody>
          <a:bodyPr/>
          <a:lstStyle/>
          <a:p>
            <a:r>
              <a:rPr lang="en-US" dirty="0"/>
              <a:t>The Tower of Hanoi - History</a:t>
            </a:r>
            <a:endParaRPr lang="en-US"/>
          </a:p>
        </p:txBody>
      </p:sp>
      <p:sp>
        <p:nvSpPr>
          <p:cNvPr id="3" name="Content Placeholder 2">
            <a:extLst>
              <a:ext uri="{FF2B5EF4-FFF2-40B4-BE49-F238E27FC236}">
                <a16:creationId xmlns:a16="http://schemas.microsoft.com/office/drawing/2014/main" id="{C570D7AC-BEAD-7746-92CC-D08A58E6975F}"/>
              </a:ext>
            </a:extLst>
          </p:cNvPr>
          <p:cNvSpPr>
            <a:spLocks noGrp="1"/>
          </p:cNvSpPr>
          <p:nvPr>
            <p:ph idx="1"/>
          </p:nvPr>
        </p:nvSpPr>
        <p:spPr/>
        <p:txBody>
          <a:bodyPr>
            <a:normAutofit/>
          </a:bodyPr>
          <a:lstStyle/>
          <a:p>
            <a:pPr marL="0" indent="0">
              <a:buNone/>
            </a:pPr>
            <a:r>
              <a:rPr lang="en-US" sz="2400" dirty="0"/>
              <a:t>There was a myth created around the puzzle:</a:t>
            </a:r>
          </a:p>
          <a:p>
            <a:pPr marL="0" indent="0">
              <a:buNone/>
            </a:pPr>
            <a:r>
              <a:rPr lang="en-US" sz="2400" dirty="0"/>
              <a:t>Monks  in a tower in Hanoi are transferring 64 golden disks from one peg to another following the rules of the puzzle.  They move one disk each day. When the puzzle is finished, the world will end. </a:t>
            </a:r>
          </a:p>
          <a:p>
            <a:pPr marL="0" indent="0">
              <a:buNone/>
            </a:pPr>
            <a:endParaRPr lang="en-US" sz="2400" dirty="0"/>
          </a:p>
          <a:p>
            <a:pPr marL="0" indent="0">
              <a:buNone/>
            </a:pPr>
            <a:r>
              <a:rPr lang="en-US" sz="2400" dirty="0"/>
              <a:t>Using the closed formula for the </a:t>
            </a:r>
            <a:r>
              <a:rPr lang="en-US" sz="2400" dirty="0">
                <a:ea typeface="Cambria Math" pitchFamily="18" charset="0"/>
              </a:rPr>
              <a:t>64</a:t>
            </a:r>
            <a:r>
              <a:rPr lang="en-US" sz="2400" dirty="0"/>
              <a:t> golden disks </a:t>
            </a:r>
          </a:p>
          <a:p>
            <a:pPr lvl="1">
              <a:buNone/>
            </a:pPr>
            <a:r>
              <a:rPr lang="en-US" sz="1800" dirty="0"/>
              <a:t>                 </a:t>
            </a:r>
            <a:r>
              <a:rPr lang="en-US" sz="1800" dirty="0">
                <a:ea typeface="Cambria Math" pitchFamily="18" charset="0"/>
              </a:rPr>
              <a:t>2</a:t>
            </a:r>
            <a:r>
              <a:rPr lang="en-US" sz="1800" baseline="30000" dirty="0">
                <a:ea typeface="Cambria Math" pitchFamily="18" charset="0"/>
              </a:rPr>
              <a:t>64</a:t>
            </a:r>
            <a:r>
              <a:rPr lang="en-US" sz="1800" dirty="0">
                <a:ea typeface="Cambria Math" pitchFamily="18" charset="0"/>
              </a:rPr>
              <a:t>  </a:t>
            </a:r>
            <a:r>
              <a:rPr lang="en-US" sz="1800" dirty="0">
                <a:ea typeface="Cambria Math"/>
              </a:rPr>
              <a:t>−</a:t>
            </a:r>
            <a:r>
              <a:rPr lang="en-US" sz="1800" dirty="0">
                <a:ea typeface="Cambria Math" pitchFamily="18" charset="0"/>
              </a:rPr>
              <a:t>1</a:t>
            </a:r>
            <a:r>
              <a:rPr lang="en-US" sz="1800" dirty="0"/>
              <a:t> = </a:t>
            </a:r>
            <a:r>
              <a:rPr lang="en-US" sz="1800" dirty="0">
                <a:ea typeface="Cambria Math" pitchFamily="18" charset="0"/>
              </a:rPr>
              <a:t>18,446, 744,073, 709,551,615 </a:t>
            </a:r>
          </a:p>
          <a:p>
            <a:pPr>
              <a:buNone/>
            </a:pPr>
            <a:r>
              <a:rPr lang="en-US" sz="2400" dirty="0"/>
              <a:t>days are needed to solve the puzzle, which is more than 500 billion years.</a:t>
            </a:r>
            <a:endParaRPr lang="en-US" sz="3600"/>
          </a:p>
        </p:txBody>
      </p:sp>
    </p:spTree>
    <p:extLst>
      <p:ext uri="{BB962C8B-B14F-4D97-AF65-F5344CB8AC3E}">
        <p14:creationId xmlns:p14="http://schemas.microsoft.com/office/powerpoint/2010/main" val="316919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Counting the Ways to Parenthesize a Product</a:t>
            </a:r>
          </a:p>
        </p:txBody>
      </p:sp>
      <p:sp>
        <p:nvSpPr>
          <p:cNvPr id="3" name="Content Placeholder 2"/>
          <p:cNvSpPr>
            <a:spLocks noGrp="1"/>
          </p:cNvSpPr>
          <p:nvPr>
            <p:ph idx="1"/>
          </p:nvPr>
        </p:nvSpPr>
        <p:spPr/>
        <p:txBody>
          <a:bodyPr>
            <a:normAutofit lnSpcReduction="10000"/>
          </a:bodyPr>
          <a:lstStyle/>
          <a:p>
            <a:pPr>
              <a:buNone/>
            </a:pPr>
            <a:r>
              <a:rPr lang="en-US" dirty="0"/>
              <a:t>Find a recurrence relation  for </a:t>
            </a:r>
            <a:r>
              <a:rPr lang="en-US" i="1" dirty="0" err="1"/>
              <a:t>C</a:t>
            </a:r>
            <a:r>
              <a:rPr lang="en-US" i="1" baseline="-25000" dirty="0" err="1"/>
              <a:t>n</a:t>
            </a:r>
            <a:r>
              <a:rPr lang="en-US" i="1" baseline="-25000" dirty="0"/>
              <a:t> </a:t>
            </a:r>
            <a:r>
              <a:rPr lang="en-US" dirty="0"/>
              <a:t>, the number of ways to parenthesize the product of </a:t>
            </a:r>
            <a:r>
              <a:rPr lang="en-US" i="1" dirty="0"/>
              <a:t>n</a:t>
            </a:r>
            <a:r>
              <a:rPr lang="en-US" dirty="0"/>
              <a:t> + </a:t>
            </a:r>
            <a:r>
              <a:rPr lang="en-US" dirty="0">
                <a:ea typeface="Cambria Math" pitchFamily="18" charset="0"/>
              </a:rPr>
              <a:t>1</a:t>
            </a:r>
            <a:r>
              <a:rPr lang="en-US" dirty="0"/>
              <a:t> numbers, </a:t>
            </a:r>
            <a:r>
              <a:rPr lang="en-US" i="1" dirty="0"/>
              <a:t>x</a:t>
            </a:r>
            <a:r>
              <a:rPr lang="en-US" baseline="-25000" dirty="0">
                <a:ea typeface="Cambria Math" pitchFamily="18" charset="0"/>
              </a:rPr>
              <a:t>0</a:t>
            </a:r>
            <a:r>
              <a:rPr lang="en-US" dirty="0"/>
              <a:t> </a:t>
            </a:r>
            <a:r>
              <a:rPr lang="en-US" dirty="0">
                <a:ea typeface="Cambria Math"/>
              </a:rPr>
              <a:t>∙</a:t>
            </a:r>
            <a:r>
              <a:rPr lang="en-US" i="1" dirty="0"/>
              <a:t> x</a:t>
            </a:r>
            <a:r>
              <a:rPr lang="en-US" baseline="-25000" dirty="0">
                <a:ea typeface="Cambria Math" pitchFamily="18" charset="0"/>
              </a:rPr>
              <a:t>1</a:t>
            </a:r>
            <a:r>
              <a:rPr lang="en-US" dirty="0">
                <a:ea typeface="Cambria Math"/>
              </a:rPr>
              <a:t> ∙</a:t>
            </a:r>
            <a:r>
              <a:rPr lang="en-US" i="1" dirty="0"/>
              <a:t> x</a:t>
            </a:r>
            <a:r>
              <a:rPr lang="en-US" baseline="-25000" dirty="0">
                <a:ea typeface="Cambria Math" pitchFamily="18" charset="0"/>
              </a:rPr>
              <a:t>2</a:t>
            </a:r>
            <a:r>
              <a:rPr lang="en-US" dirty="0">
                <a:ea typeface="Cambria Math"/>
              </a:rPr>
              <a:t> ∙ ⋯</a:t>
            </a:r>
            <a:r>
              <a:rPr lang="en-US" i="1" dirty="0"/>
              <a:t> </a:t>
            </a:r>
            <a:r>
              <a:rPr lang="en-US" dirty="0">
                <a:ea typeface="Cambria Math"/>
              </a:rPr>
              <a:t>∙ </a:t>
            </a:r>
            <a:r>
              <a:rPr lang="en-US" i="1" dirty="0" err="1"/>
              <a:t>x</a:t>
            </a:r>
            <a:r>
              <a:rPr lang="en-US" i="1" baseline="-25000" dirty="0" err="1">
                <a:ea typeface="Cambria Math" pitchFamily="18" charset="0"/>
              </a:rPr>
              <a:t>n</a:t>
            </a:r>
            <a:r>
              <a:rPr lang="en-US" dirty="0"/>
              <a:t>, to specify the order of multiplication. </a:t>
            </a:r>
          </a:p>
          <a:p>
            <a:pPr>
              <a:buNone/>
            </a:pPr>
            <a:r>
              <a:rPr lang="en-US" dirty="0"/>
              <a:t>For example, </a:t>
            </a:r>
            <a:r>
              <a:rPr lang="en-US" i="1" dirty="0"/>
              <a:t>C</a:t>
            </a:r>
            <a:r>
              <a:rPr lang="en-US" baseline="-25000" dirty="0">
                <a:ea typeface="Cambria Math" pitchFamily="18" charset="0"/>
              </a:rPr>
              <a:t>3 </a:t>
            </a:r>
            <a:r>
              <a:rPr lang="en-US" dirty="0"/>
              <a:t> = </a:t>
            </a:r>
            <a:r>
              <a:rPr lang="en-US" dirty="0">
                <a:ea typeface="Cambria Math" pitchFamily="18" charset="0"/>
              </a:rPr>
              <a:t>5, since all the possible ways to parenthesize 4 numbers are </a:t>
            </a:r>
          </a:p>
          <a:p>
            <a:pPr>
              <a:buNone/>
            </a:pPr>
            <a:r>
              <a:rPr lang="en-US" dirty="0">
                <a:ea typeface="Cambria Math" pitchFamily="18" charset="0"/>
              </a:rPr>
              <a:t>	</a:t>
            </a:r>
            <a:r>
              <a:rPr lang="en-US" dirty="0"/>
              <a:t>((</a:t>
            </a:r>
            <a:r>
              <a:rPr lang="en-US" i="1" dirty="0"/>
              <a:t>x</a:t>
            </a:r>
            <a:r>
              <a:rPr lang="en-US" baseline="-25000" dirty="0">
                <a:ea typeface="Cambria Math" pitchFamily="18" charset="0"/>
              </a:rPr>
              <a:t>0</a:t>
            </a:r>
            <a:r>
              <a:rPr lang="en-US" dirty="0"/>
              <a:t> </a:t>
            </a:r>
            <a:r>
              <a:rPr lang="en-US" dirty="0">
                <a:ea typeface="Cambria Math"/>
              </a:rPr>
              <a:t>∙</a:t>
            </a:r>
            <a:r>
              <a:rPr lang="en-US" i="1" dirty="0"/>
              <a:t> x</a:t>
            </a:r>
            <a:r>
              <a:rPr lang="en-US" baseline="-25000" dirty="0">
                <a:ea typeface="Cambria Math" pitchFamily="18" charset="0"/>
              </a:rPr>
              <a:t>1</a:t>
            </a:r>
            <a:r>
              <a:rPr lang="en-US" dirty="0">
                <a:ea typeface="Cambria Math"/>
              </a:rPr>
              <a:t> )∙</a:t>
            </a:r>
            <a:r>
              <a:rPr lang="en-US" i="1" dirty="0"/>
              <a:t> x</a:t>
            </a:r>
            <a:r>
              <a:rPr lang="en-US" baseline="-25000" dirty="0">
                <a:ea typeface="Cambria Math" pitchFamily="18" charset="0"/>
              </a:rPr>
              <a:t>2</a:t>
            </a:r>
            <a:r>
              <a:rPr lang="en-US" dirty="0">
                <a:ea typeface="Cambria Math"/>
              </a:rPr>
              <a:t> )∙ </a:t>
            </a:r>
            <a:r>
              <a:rPr lang="en-US" i="1" dirty="0"/>
              <a:t>x</a:t>
            </a:r>
            <a:r>
              <a:rPr lang="en-US" baseline="-25000" dirty="0">
                <a:ea typeface="Cambria Math" pitchFamily="18" charset="0"/>
              </a:rPr>
              <a:t>3</a:t>
            </a:r>
          </a:p>
          <a:p>
            <a:pPr>
              <a:buNone/>
            </a:pPr>
            <a:r>
              <a:rPr lang="en-US" dirty="0"/>
              <a:t>	(</a:t>
            </a:r>
            <a:r>
              <a:rPr lang="en-US" i="1" dirty="0"/>
              <a:t>x</a:t>
            </a:r>
            <a:r>
              <a:rPr lang="en-US" baseline="-25000" dirty="0">
                <a:ea typeface="Cambria Math" pitchFamily="18" charset="0"/>
              </a:rPr>
              <a:t>0</a:t>
            </a:r>
            <a:r>
              <a:rPr lang="en-US" dirty="0"/>
              <a:t> </a:t>
            </a:r>
            <a:r>
              <a:rPr lang="en-US" dirty="0">
                <a:ea typeface="Cambria Math"/>
              </a:rPr>
              <a:t>∙</a:t>
            </a:r>
            <a:r>
              <a:rPr lang="en-US" i="1" dirty="0"/>
              <a:t> </a:t>
            </a:r>
            <a:r>
              <a:rPr lang="en-US" dirty="0"/>
              <a:t>(</a:t>
            </a:r>
            <a:r>
              <a:rPr lang="en-US" i="1" dirty="0"/>
              <a:t>x</a:t>
            </a:r>
            <a:r>
              <a:rPr lang="en-US" baseline="-25000" dirty="0">
                <a:ea typeface="Cambria Math" pitchFamily="18" charset="0"/>
              </a:rPr>
              <a:t>1</a:t>
            </a:r>
            <a:r>
              <a:rPr lang="en-US" dirty="0">
                <a:ea typeface="Cambria Math"/>
              </a:rPr>
              <a:t> ∙</a:t>
            </a:r>
            <a:r>
              <a:rPr lang="en-US" i="1" dirty="0"/>
              <a:t> x</a:t>
            </a:r>
            <a:r>
              <a:rPr lang="en-US" baseline="-25000" dirty="0">
                <a:ea typeface="Cambria Math" pitchFamily="18" charset="0"/>
              </a:rPr>
              <a:t>2</a:t>
            </a:r>
            <a:r>
              <a:rPr lang="en-US" dirty="0">
                <a:ea typeface="Cambria Math"/>
              </a:rPr>
              <a:t> ))∙ </a:t>
            </a:r>
            <a:r>
              <a:rPr lang="en-US" i="1" dirty="0"/>
              <a:t>x</a:t>
            </a:r>
            <a:r>
              <a:rPr lang="en-US" baseline="-25000" dirty="0">
                <a:ea typeface="Cambria Math" pitchFamily="18" charset="0"/>
              </a:rPr>
              <a:t>3</a:t>
            </a:r>
          </a:p>
          <a:p>
            <a:pPr>
              <a:buNone/>
            </a:pPr>
            <a:r>
              <a:rPr lang="en-US" baseline="-25000" dirty="0">
                <a:ea typeface="Cambria Math" pitchFamily="18" charset="0"/>
              </a:rPr>
              <a:t>	</a:t>
            </a:r>
            <a:r>
              <a:rPr lang="en-US" dirty="0"/>
              <a:t>(</a:t>
            </a:r>
            <a:r>
              <a:rPr lang="en-US" i="1" dirty="0"/>
              <a:t>x</a:t>
            </a:r>
            <a:r>
              <a:rPr lang="en-US" baseline="-25000" dirty="0">
                <a:ea typeface="Cambria Math" pitchFamily="18" charset="0"/>
              </a:rPr>
              <a:t>0</a:t>
            </a:r>
            <a:r>
              <a:rPr lang="en-US" dirty="0"/>
              <a:t> </a:t>
            </a:r>
            <a:r>
              <a:rPr lang="en-US" dirty="0">
                <a:ea typeface="Cambria Math"/>
              </a:rPr>
              <a:t>∙</a:t>
            </a:r>
            <a:r>
              <a:rPr lang="en-US" i="1" dirty="0"/>
              <a:t> x</a:t>
            </a:r>
            <a:r>
              <a:rPr lang="en-US" baseline="-25000" dirty="0">
                <a:ea typeface="Cambria Math" pitchFamily="18" charset="0"/>
              </a:rPr>
              <a:t>1</a:t>
            </a:r>
            <a:r>
              <a:rPr lang="en-US" dirty="0">
                <a:ea typeface="Cambria Math"/>
              </a:rPr>
              <a:t> )∙</a:t>
            </a:r>
            <a:r>
              <a:rPr lang="en-US" i="1" dirty="0"/>
              <a:t> </a:t>
            </a:r>
            <a:r>
              <a:rPr lang="en-US" dirty="0"/>
              <a:t>(</a:t>
            </a:r>
            <a:r>
              <a:rPr lang="en-US" i="1" dirty="0"/>
              <a:t>x</a:t>
            </a:r>
            <a:r>
              <a:rPr lang="en-US" baseline="-25000" dirty="0">
                <a:ea typeface="Cambria Math" pitchFamily="18" charset="0"/>
              </a:rPr>
              <a:t>2</a:t>
            </a:r>
            <a:r>
              <a:rPr lang="en-US" dirty="0">
                <a:ea typeface="Cambria Math"/>
              </a:rPr>
              <a:t> ∙ </a:t>
            </a:r>
            <a:r>
              <a:rPr lang="en-US" i="1" dirty="0"/>
              <a:t>x</a:t>
            </a:r>
            <a:r>
              <a:rPr lang="en-US" baseline="-25000" dirty="0">
                <a:ea typeface="Cambria Math" pitchFamily="18" charset="0"/>
              </a:rPr>
              <a:t>3</a:t>
            </a:r>
            <a:r>
              <a:rPr lang="en-US" dirty="0">
                <a:ea typeface="Cambria Math"/>
              </a:rPr>
              <a:t> ) </a:t>
            </a:r>
          </a:p>
          <a:p>
            <a:pPr>
              <a:buNone/>
            </a:pPr>
            <a:r>
              <a:rPr lang="en-US" i="1" dirty="0">
                <a:ea typeface="Cambria Math"/>
              </a:rPr>
              <a:t>	</a:t>
            </a:r>
            <a:r>
              <a:rPr lang="en-US" i="1" dirty="0"/>
              <a:t>x</a:t>
            </a:r>
            <a:r>
              <a:rPr lang="en-US" baseline="-25000" dirty="0">
                <a:ea typeface="Cambria Math" pitchFamily="18" charset="0"/>
              </a:rPr>
              <a:t>0</a:t>
            </a:r>
            <a:r>
              <a:rPr lang="en-US" dirty="0"/>
              <a:t> </a:t>
            </a:r>
            <a:r>
              <a:rPr lang="en-US" dirty="0">
                <a:ea typeface="Cambria Math"/>
              </a:rPr>
              <a:t>∙</a:t>
            </a:r>
            <a:r>
              <a:rPr lang="en-US" i="1" dirty="0"/>
              <a:t> </a:t>
            </a:r>
            <a:r>
              <a:rPr lang="en-US" dirty="0"/>
              <a:t>(( </a:t>
            </a:r>
            <a:r>
              <a:rPr lang="en-US" i="1" dirty="0"/>
              <a:t>x</a:t>
            </a:r>
            <a:r>
              <a:rPr lang="en-US" baseline="-25000" dirty="0">
                <a:ea typeface="Cambria Math" pitchFamily="18" charset="0"/>
              </a:rPr>
              <a:t>1</a:t>
            </a:r>
            <a:r>
              <a:rPr lang="en-US" dirty="0">
                <a:ea typeface="Cambria Math"/>
              </a:rPr>
              <a:t> ∙</a:t>
            </a:r>
            <a:r>
              <a:rPr lang="en-US" i="1" dirty="0"/>
              <a:t> x</a:t>
            </a:r>
            <a:r>
              <a:rPr lang="en-US" baseline="-25000" dirty="0">
                <a:ea typeface="Cambria Math" pitchFamily="18" charset="0"/>
              </a:rPr>
              <a:t>2</a:t>
            </a:r>
            <a:r>
              <a:rPr lang="en-US" dirty="0">
                <a:ea typeface="Cambria Math"/>
              </a:rPr>
              <a:t> ) ∙ </a:t>
            </a:r>
            <a:r>
              <a:rPr lang="en-US" i="1" dirty="0"/>
              <a:t>x</a:t>
            </a:r>
            <a:r>
              <a:rPr lang="en-US" baseline="-25000" dirty="0">
                <a:ea typeface="Cambria Math" pitchFamily="18" charset="0"/>
              </a:rPr>
              <a:t>3</a:t>
            </a:r>
            <a:r>
              <a:rPr lang="en-US" dirty="0">
                <a:ea typeface="Cambria Math"/>
              </a:rPr>
              <a:t> )</a:t>
            </a:r>
            <a:r>
              <a:rPr lang="en-US" i="1" dirty="0"/>
              <a:t> </a:t>
            </a:r>
          </a:p>
          <a:p>
            <a:pPr>
              <a:buNone/>
            </a:pPr>
            <a:r>
              <a:rPr lang="en-US" i="1" dirty="0"/>
              <a:t>	x</a:t>
            </a:r>
            <a:r>
              <a:rPr lang="en-US" baseline="-25000" dirty="0">
                <a:ea typeface="Cambria Math" pitchFamily="18" charset="0"/>
              </a:rPr>
              <a:t>0</a:t>
            </a:r>
            <a:r>
              <a:rPr lang="en-US" dirty="0"/>
              <a:t> </a:t>
            </a:r>
            <a:r>
              <a:rPr lang="en-US" dirty="0">
                <a:ea typeface="Cambria Math"/>
              </a:rPr>
              <a:t>∙</a:t>
            </a:r>
            <a:r>
              <a:rPr lang="en-US" i="1" dirty="0"/>
              <a:t> </a:t>
            </a:r>
            <a:r>
              <a:rPr lang="en-US" dirty="0"/>
              <a:t>( </a:t>
            </a:r>
            <a:r>
              <a:rPr lang="en-US" i="1" dirty="0"/>
              <a:t>x</a:t>
            </a:r>
            <a:r>
              <a:rPr lang="en-US" baseline="-25000" dirty="0">
                <a:ea typeface="Cambria Math" pitchFamily="18" charset="0"/>
              </a:rPr>
              <a:t>1</a:t>
            </a:r>
            <a:r>
              <a:rPr lang="en-US" dirty="0">
                <a:ea typeface="Cambria Math"/>
              </a:rPr>
              <a:t> ∙</a:t>
            </a:r>
            <a:r>
              <a:rPr lang="en-US" i="1" dirty="0"/>
              <a:t> </a:t>
            </a:r>
            <a:r>
              <a:rPr lang="en-US" dirty="0"/>
              <a:t>( </a:t>
            </a:r>
            <a:r>
              <a:rPr lang="en-US" i="1" dirty="0"/>
              <a:t>x</a:t>
            </a:r>
            <a:r>
              <a:rPr lang="en-US" baseline="-25000" dirty="0">
                <a:ea typeface="Cambria Math" pitchFamily="18" charset="0"/>
              </a:rPr>
              <a:t>2</a:t>
            </a:r>
            <a:r>
              <a:rPr lang="en-US" dirty="0">
                <a:ea typeface="Cambria Math"/>
              </a:rPr>
              <a:t> ∙ </a:t>
            </a:r>
            <a:r>
              <a:rPr lang="en-US" i="1" dirty="0"/>
              <a:t>x</a:t>
            </a:r>
            <a:r>
              <a:rPr lang="en-US" baseline="-25000" dirty="0">
                <a:ea typeface="Cambria Math" pitchFamily="18" charset="0"/>
              </a:rPr>
              <a:t>3</a:t>
            </a:r>
            <a:r>
              <a:rPr lang="en-US" dirty="0">
                <a:ea typeface="Cambria Math"/>
              </a:rPr>
              <a:t> ))</a:t>
            </a:r>
            <a:endParaRPr lang="en-US" dirty="0">
              <a:ea typeface="Cambria Math" pitchFamily="18" charset="0"/>
            </a:endParaRPr>
          </a:p>
          <a:p>
            <a:pPr lvl="2"/>
            <a:endParaRPr lang="en-US" sz="2800" dirty="0">
              <a:latin typeface="Cambria Math" pitchFamily="18" charset="0"/>
              <a:ea typeface="Cambria Math" pitchFamily="18" charset="0"/>
            </a:endParaRPr>
          </a:p>
        </p:txBody>
      </p:sp>
    </p:spTree>
    <p:extLst>
      <p:ext uri="{BB962C8B-B14F-4D97-AF65-F5344CB8AC3E}">
        <p14:creationId xmlns:p14="http://schemas.microsoft.com/office/powerpoint/2010/main" val="3654862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8F9D-EF34-AC41-9F31-568C95E56580}"/>
              </a:ext>
            </a:extLst>
          </p:cNvPr>
          <p:cNvSpPr>
            <a:spLocks noGrp="1"/>
          </p:cNvSpPr>
          <p:nvPr>
            <p:ph type="title"/>
          </p:nvPr>
        </p:nvSpPr>
        <p:spPr/>
        <p:txBody>
          <a:bodyPr/>
          <a:lstStyle/>
          <a:p>
            <a:r>
              <a:rPr lang="en-US" dirty="0"/>
              <a:t>Counting the Ways to Parenthesize a Product</a:t>
            </a:r>
            <a:endParaRPr lang="en-US"/>
          </a:p>
        </p:txBody>
      </p:sp>
      <p:sp>
        <p:nvSpPr>
          <p:cNvPr id="3" name="Content Placeholder 2">
            <a:extLst>
              <a:ext uri="{FF2B5EF4-FFF2-40B4-BE49-F238E27FC236}">
                <a16:creationId xmlns:a16="http://schemas.microsoft.com/office/drawing/2014/main" id="{32D7F693-D1BA-A249-A820-7661CB9B98E3}"/>
              </a:ext>
            </a:extLst>
          </p:cNvPr>
          <p:cNvSpPr>
            <a:spLocks noGrp="1"/>
          </p:cNvSpPr>
          <p:nvPr>
            <p:ph idx="1"/>
          </p:nvPr>
        </p:nvSpPr>
        <p:spPr/>
        <p:txBody>
          <a:bodyPr>
            <a:normAutofit lnSpcReduction="10000"/>
          </a:bodyPr>
          <a:lstStyle/>
          <a:p>
            <a:pPr marL="0" indent="0">
              <a:buNone/>
            </a:pPr>
            <a:r>
              <a:rPr lang="en-US" sz="2400" dirty="0"/>
              <a:t>Note that however parentheses are inserted in </a:t>
            </a:r>
            <a:r>
              <a:rPr lang="en-US" sz="2400" i="1" dirty="0"/>
              <a:t>x</a:t>
            </a:r>
            <a:r>
              <a:rPr lang="en-US" sz="2400" baseline="-25000" dirty="0">
                <a:ea typeface="Cambria Math" pitchFamily="18" charset="0"/>
              </a:rPr>
              <a:t>0</a:t>
            </a:r>
            <a:r>
              <a:rPr lang="en-US" sz="2400" dirty="0"/>
              <a:t> </a:t>
            </a:r>
            <a:r>
              <a:rPr lang="en-US" sz="2400" dirty="0">
                <a:ea typeface="Cambria Math"/>
              </a:rPr>
              <a:t>∙</a:t>
            </a:r>
            <a:r>
              <a:rPr lang="en-US" sz="2400" i="1" dirty="0"/>
              <a:t> x</a:t>
            </a:r>
            <a:r>
              <a:rPr lang="en-US" sz="2400" baseline="-25000" dirty="0">
                <a:ea typeface="Cambria Math" pitchFamily="18" charset="0"/>
              </a:rPr>
              <a:t>1</a:t>
            </a:r>
            <a:r>
              <a:rPr lang="en-US" sz="2400" dirty="0">
                <a:ea typeface="Cambria Math"/>
              </a:rPr>
              <a:t> ∙</a:t>
            </a:r>
            <a:r>
              <a:rPr lang="en-US" sz="2400" i="1" dirty="0"/>
              <a:t> x</a:t>
            </a:r>
            <a:r>
              <a:rPr lang="en-US" sz="2400" baseline="-25000" dirty="0">
                <a:ea typeface="Cambria Math" pitchFamily="18" charset="0"/>
              </a:rPr>
              <a:t>2</a:t>
            </a:r>
            <a:r>
              <a:rPr lang="en-US" sz="2400" dirty="0">
                <a:ea typeface="Cambria Math"/>
              </a:rPr>
              <a:t> ∙ ⋯</a:t>
            </a:r>
            <a:r>
              <a:rPr lang="en-US" sz="2400" i="1" dirty="0"/>
              <a:t> </a:t>
            </a:r>
            <a:r>
              <a:rPr lang="en-US" sz="2400" dirty="0">
                <a:ea typeface="Cambria Math"/>
              </a:rPr>
              <a:t>∙ </a:t>
            </a:r>
            <a:r>
              <a:rPr lang="en-US" sz="2400" i="1" dirty="0" err="1"/>
              <a:t>x</a:t>
            </a:r>
            <a:r>
              <a:rPr lang="en-US" sz="2400" i="1" baseline="-25000" dirty="0" err="1">
                <a:ea typeface="Cambria Math" pitchFamily="18" charset="0"/>
              </a:rPr>
              <a:t>n</a:t>
            </a:r>
            <a:r>
              <a:rPr lang="en-US" sz="2400" dirty="0"/>
              <a:t>, </a:t>
            </a:r>
            <a:br>
              <a:rPr lang="en-US" sz="2400" dirty="0"/>
            </a:br>
            <a:r>
              <a:rPr lang="en-US" sz="2400" dirty="0"/>
              <a:t>one  multiplication</a:t>
            </a:r>
            <a:r>
              <a:rPr lang="en-US" sz="2400" dirty="0">
                <a:ea typeface="Cambria Math"/>
              </a:rPr>
              <a:t> operator remains outside all parentheses. </a:t>
            </a:r>
          </a:p>
          <a:p>
            <a:r>
              <a:rPr lang="en-US" sz="2400" dirty="0">
                <a:ea typeface="Cambria Math"/>
              </a:rPr>
              <a:t>This final operator appears between two of the </a:t>
            </a:r>
            <a:r>
              <a:rPr lang="en-US" sz="2400" i="1" dirty="0">
                <a:ea typeface="Cambria Math"/>
              </a:rPr>
              <a:t>n</a:t>
            </a:r>
            <a:r>
              <a:rPr lang="en-US" sz="2400" dirty="0">
                <a:ea typeface="Cambria Math"/>
              </a:rPr>
              <a:t> + 1 numbers, say </a:t>
            </a:r>
            <a:r>
              <a:rPr lang="en-US" sz="2400" i="1" dirty="0" err="1"/>
              <a:t>x</a:t>
            </a:r>
            <a:r>
              <a:rPr lang="en-US" sz="2400" i="1" baseline="-25000" dirty="0" err="1">
                <a:ea typeface="Cambria Math" pitchFamily="18" charset="0"/>
              </a:rPr>
              <a:t>k</a:t>
            </a:r>
            <a:r>
              <a:rPr lang="en-US" sz="2400" dirty="0"/>
              <a:t> and </a:t>
            </a:r>
            <a:r>
              <a:rPr lang="en-US" sz="2400" i="1" dirty="0"/>
              <a:t>x</a:t>
            </a:r>
            <a:r>
              <a:rPr lang="en-US" sz="2400" i="1" baseline="-25000" dirty="0">
                <a:ea typeface="Cambria Math" pitchFamily="18" charset="0"/>
              </a:rPr>
              <a:t>k+</a:t>
            </a:r>
            <a:r>
              <a:rPr lang="en-US" sz="2400" baseline="-25000" dirty="0">
                <a:ea typeface="Cambria Math" pitchFamily="18" charset="0"/>
              </a:rPr>
              <a:t>1</a:t>
            </a:r>
            <a:r>
              <a:rPr lang="en-US" sz="2400" dirty="0"/>
              <a:t>.</a:t>
            </a:r>
          </a:p>
          <a:p>
            <a:r>
              <a:rPr lang="en-US" sz="2400" dirty="0"/>
              <a:t>There are </a:t>
            </a:r>
            <a:r>
              <a:rPr lang="en-US" sz="2400" i="1" dirty="0"/>
              <a:t>C</a:t>
            </a:r>
            <a:r>
              <a:rPr lang="en-US" sz="2400" i="1" baseline="-25000" dirty="0"/>
              <a:t>k</a:t>
            </a:r>
            <a:r>
              <a:rPr lang="en-US" sz="2400" i="1" dirty="0"/>
              <a:t> </a:t>
            </a:r>
            <a:r>
              <a:rPr lang="en-US" sz="2400" dirty="0"/>
              <a:t>ways to insert parentheses in the product</a:t>
            </a:r>
            <a:r>
              <a:rPr lang="en-US" sz="2400" i="1" dirty="0"/>
              <a:t> x</a:t>
            </a:r>
            <a:r>
              <a:rPr lang="en-US" sz="2400" baseline="-25000" dirty="0">
                <a:ea typeface="Cambria Math" pitchFamily="18" charset="0"/>
              </a:rPr>
              <a:t>0</a:t>
            </a:r>
            <a:r>
              <a:rPr lang="en-US" sz="2400" dirty="0"/>
              <a:t> </a:t>
            </a:r>
            <a:r>
              <a:rPr lang="en-US" sz="2400" dirty="0">
                <a:ea typeface="Cambria Math"/>
              </a:rPr>
              <a:t>∙</a:t>
            </a:r>
            <a:r>
              <a:rPr lang="en-US" sz="2400" i="1" dirty="0"/>
              <a:t> x</a:t>
            </a:r>
            <a:r>
              <a:rPr lang="en-US" sz="2400" baseline="-25000" dirty="0">
                <a:ea typeface="Cambria Math" pitchFamily="18" charset="0"/>
              </a:rPr>
              <a:t>1</a:t>
            </a:r>
            <a:r>
              <a:rPr lang="en-US" sz="2400" dirty="0">
                <a:ea typeface="Cambria Math"/>
              </a:rPr>
              <a:t> ∙</a:t>
            </a:r>
            <a:r>
              <a:rPr lang="en-US" sz="2400" i="1" dirty="0"/>
              <a:t> x</a:t>
            </a:r>
            <a:r>
              <a:rPr lang="en-US" sz="2400" baseline="-25000" dirty="0">
                <a:ea typeface="Cambria Math" pitchFamily="18" charset="0"/>
              </a:rPr>
              <a:t>2</a:t>
            </a:r>
            <a:r>
              <a:rPr lang="en-US" sz="2400" dirty="0">
                <a:ea typeface="Cambria Math"/>
              </a:rPr>
              <a:t> ∙ ⋯</a:t>
            </a:r>
            <a:r>
              <a:rPr lang="en-US" sz="2400" i="1" dirty="0"/>
              <a:t> </a:t>
            </a:r>
            <a:r>
              <a:rPr lang="en-US" sz="2400" dirty="0">
                <a:ea typeface="Cambria Math"/>
              </a:rPr>
              <a:t>∙ </a:t>
            </a:r>
            <a:r>
              <a:rPr lang="en-US" sz="2400" i="1" dirty="0" err="1"/>
              <a:t>x</a:t>
            </a:r>
            <a:r>
              <a:rPr lang="en-US" sz="2400" i="1" baseline="-25000" dirty="0" err="1">
                <a:ea typeface="Cambria Math" pitchFamily="18" charset="0"/>
              </a:rPr>
              <a:t>k</a:t>
            </a:r>
            <a:r>
              <a:rPr lang="en-US" sz="2400" dirty="0"/>
              <a:t>  </a:t>
            </a:r>
          </a:p>
          <a:p>
            <a:r>
              <a:rPr lang="en-US" sz="2400" dirty="0"/>
              <a:t>There are </a:t>
            </a:r>
            <a:r>
              <a:rPr lang="en-US" sz="2400" i="1" dirty="0"/>
              <a:t>C</a:t>
            </a:r>
            <a:r>
              <a:rPr lang="en-US" sz="2400" i="1" baseline="-25000" dirty="0"/>
              <a:t>n</a:t>
            </a:r>
            <a:r>
              <a:rPr lang="en-US" sz="2400" i="1" baseline="-25000" dirty="0">
                <a:ea typeface="Cambria Math"/>
              </a:rPr>
              <a:t>−k−</a:t>
            </a:r>
            <a:r>
              <a:rPr lang="en-US" sz="2400" baseline="-25000" dirty="0">
                <a:ea typeface="Cambria Math" pitchFamily="18" charset="0"/>
              </a:rPr>
              <a:t>1</a:t>
            </a:r>
            <a:r>
              <a:rPr lang="en-US" sz="2400" dirty="0">
                <a:ea typeface="Cambria Math" pitchFamily="18" charset="0"/>
              </a:rPr>
              <a:t> </a:t>
            </a:r>
            <a:r>
              <a:rPr lang="en-US" sz="2400" i="1" dirty="0"/>
              <a:t> </a:t>
            </a:r>
            <a:r>
              <a:rPr lang="en-US" sz="2400" dirty="0"/>
              <a:t>ways  to insert parentheses in the product</a:t>
            </a:r>
            <a:r>
              <a:rPr lang="en-US" sz="2400" i="1" dirty="0"/>
              <a:t> x</a:t>
            </a:r>
            <a:r>
              <a:rPr lang="en-US" sz="2400" i="1" baseline="-25000" dirty="0">
                <a:ea typeface="Cambria Math" pitchFamily="18" charset="0"/>
              </a:rPr>
              <a:t>k</a:t>
            </a:r>
            <a:r>
              <a:rPr lang="en-US" sz="2400" baseline="-25000" dirty="0">
                <a:ea typeface="Cambria Math" pitchFamily="18" charset="0"/>
              </a:rPr>
              <a:t>+1</a:t>
            </a:r>
            <a:r>
              <a:rPr lang="en-US" sz="2400" dirty="0"/>
              <a:t> </a:t>
            </a:r>
            <a:r>
              <a:rPr lang="en-US" sz="2400" dirty="0">
                <a:ea typeface="Cambria Math"/>
              </a:rPr>
              <a:t>∙</a:t>
            </a:r>
            <a:r>
              <a:rPr lang="en-US" sz="2400" i="1" dirty="0"/>
              <a:t> x</a:t>
            </a:r>
            <a:r>
              <a:rPr lang="en-US" sz="2400" i="1" baseline="-25000" dirty="0">
                <a:ea typeface="Cambria Math" pitchFamily="18" charset="0"/>
              </a:rPr>
              <a:t>k</a:t>
            </a:r>
            <a:r>
              <a:rPr lang="en-US" sz="2400" baseline="-25000" dirty="0">
                <a:ea typeface="Cambria Math" pitchFamily="18" charset="0"/>
              </a:rPr>
              <a:t>+2</a:t>
            </a:r>
            <a:r>
              <a:rPr lang="en-US" sz="2400" dirty="0"/>
              <a:t> </a:t>
            </a:r>
            <a:r>
              <a:rPr lang="en-US" sz="2400" dirty="0">
                <a:ea typeface="Cambria Math"/>
              </a:rPr>
              <a:t> ∙ ⋯</a:t>
            </a:r>
            <a:r>
              <a:rPr lang="en-US" sz="2400" i="1" dirty="0"/>
              <a:t> </a:t>
            </a:r>
            <a:r>
              <a:rPr lang="en-US" sz="2400" dirty="0">
                <a:ea typeface="Cambria Math"/>
              </a:rPr>
              <a:t>∙ </a:t>
            </a:r>
            <a:r>
              <a:rPr lang="en-US" sz="2400" i="1" dirty="0" err="1"/>
              <a:t>x</a:t>
            </a:r>
            <a:r>
              <a:rPr lang="en-US" sz="2400" i="1" baseline="-25000" dirty="0" err="1">
                <a:ea typeface="Cambria Math" pitchFamily="18" charset="0"/>
              </a:rPr>
              <a:t>n</a:t>
            </a:r>
          </a:p>
          <a:p>
            <a:pPr marL="0" indent="0">
              <a:buNone/>
            </a:pPr>
            <a:r>
              <a:rPr lang="en-US" sz="2400" dirty="0">
                <a:ea typeface="Cambria Math" pitchFamily="18" charset="0"/>
              </a:rPr>
              <a:t>Therefore we </a:t>
            </a:r>
            <a:r>
              <a:rPr lang="en-US" sz="2400" dirty="0"/>
              <a:t>have </a:t>
            </a:r>
          </a:p>
          <a:p>
            <a:pPr marL="0" indent="0">
              <a:buNone/>
            </a:pPr>
            <a:endParaRPr lang="en-US" sz="2400" dirty="0">
              <a:ea typeface="Cambria Math" pitchFamily="18" charset="0"/>
            </a:endParaRPr>
          </a:p>
          <a:p>
            <a:pPr marL="0" indent="0">
              <a:buNone/>
            </a:pPr>
            <a:endParaRPr lang="en-US" sz="2400" dirty="0">
              <a:ea typeface="Cambria Math" pitchFamily="18" charset="0"/>
            </a:endParaRPr>
          </a:p>
          <a:p>
            <a:pPr marL="0" indent="0">
              <a:buNone/>
            </a:pPr>
            <a:r>
              <a:rPr lang="en-US" sz="2400" dirty="0">
                <a:ea typeface="Cambria Math" pitchFamily="18" charset="0"/>
              </a:rPr>
              <a:t>The initial conditions are </a:t>
            </a:r>
            <a:r>
              <a:rPr lang="en-US" sz="2400" i="1" dirty="0"/>
              <a:t>C</a:t>
            </a:r>
            <a:r>
              <a:rPr lang="en-US" sz="2400" baseline="-25000" dirty="0">
                <a:ea typeface="Cambria Math" pitchFamily="18" charset="0"/>
              </a:rPr>
              <a:t>0</a:t>
            </a:r>
            <a:r>
              <a:rPr lang="en-US" sz="2400" dirty="0"/>
              <a:t> = </a:t>
            </a:r>
            <a:r>
              <a:rPr lang="en-US" sz="2400" dirty="0">
                <a:ea typeface="Cambria Math" pitchFamily="18" charset="0"/>
              </a:rPr>
              <a:t>1 and </a:t>
            </a:r>
            <a:r>
              <a:rPr lang="en-US" sz="2400" i="1" dirty="0"/>
              <a:t>C</a:t>
            </a:r>
            <a:r>
              <a:rPr lang="en-US" sz="2400" baseline="-25000" dirty="0">
                <a:ea typeface="Cambria Math" pitchFamily="18" charset="0"/>
              </a:rPr>
              <a:t>1</a:t>
            </a:r>
            <a:r>
              <a:rPr lang="en-US" sz="2400" dirty="0"/>
              <a:t> = </a:t>
            </a:r>
            <a:r>
              <a:rPr lang="en-US" sz="2400" dirty="0">
                <a:ea typeface="Cambria Math" pitchFamily="18" charset="0"/>
              </a:rPr>
              <a:t>1.</a:t>
            </a:r>
          </a:p>
          <a:p>
            <a:pPr marL="0" indent="0">
              <a:buNone/>
            </a:pPr>
            <a:r>
              <a:rPr lang="en-US" sz="2400" dirty="0"/>
              <a:t>The sequence {</a:t>
            </a:r>
            <a:r>
              <a:rPr lang="en-US" sz="2400" i="1" dirty="0" err="1"/>
              <a:t>C</a:t>
            </a:r>
            <a:r>
              <a:rPr lang="en-US" sz="2400" i="1" baseline="-25000" dirty="0" err="1"/>
              <a:t>n</a:t>
            </a:r>
            <a:r>
              <a:rPr lang="en-US" sz="2400" i="1" baseline="-25000" dirty="0"/>
              <a:t> </a:t>
            </a:r>
            <a:r>
              <a:rPr lang="en-US" sz="2400" dirty="0"/>
              <a:t>} is the sequence of </a:t>
            </a:r>
            <a:r>
              <a:rPr lang="en-US" sz="2400" b="1" dirty="0"/>
              <a:t>Catalan Numbers</a:t>
            </a:r>
            <a:r>
              <a:rPr lang="en-US" sz="2400" dirty="0"/>
              <a:t>. </a:t>
            </a:r>
          </a:p>
          <a:p>
            <a:pPr marL="0" indent="0">
              <a:buNone/>
            </a:pPr>
            <a:endParaRPr lang="en-US" sz="2400" dirty="0">
              <a:ea typeface="Cambria Math" pitchFamily="18" charset="0"/>
            </a:endParaRPr>
          </a:p>
        </p:txBody>
      </p:sp>
      <p:pic>
        <p:nvPicPr>
          <p:cNvPr id="4" name="Picture 3" descr="addin_tmp.png">
            <a:extLst>
              <a:ext uri="{FF2B5EF4-FFF2-40B4-BE49-F238E27FC236}">
                <a16:creationId xmlns:a16="http://schemas.microsoft.com/office/drawing/2014/main" id="{3AE9145E-79BA-CF40-A26F-90D1E7CC5ED0}"/>
              </a:ext>
            </a:extLst>
          </p:cNvPr>
          <p:cNvPicPr>
            <a:picLocks noChangeAspect="1"/>
          </p:cNvPicPr>
          <p:nvPr>
            <p:custDataLst>
              <p:tags r:id="rId1"/>
            </p:custDataLst>
          </p:nvPr>
        </p:nvPicPr>
        <p:blipFill>
          <a:blip r:embed="rId4" cstate="print"/>
          <a:stretch>
            <a:fillRect/>
          </a:stretch>
        </p:blipFill>
        <p:spPr>
          <a:xfrm>
            <a:off x="2043952" y="4531244"/>
            <a:ext cx="5653966" cy="221350"/>
          </a:xfrm>
          <a:prstGeom prst="rect">
            <a:avLst/>
          </a:prstGeom>
        </p:spPr>
      </p:pic>
      <p:pic>
        <p:nvPicPr>
          <p:cNvPr id="5" name="Picture 4" descr="addin_tmp.png">
            <a:extLst>
              <a:ext uri="{FF2B5EF4-FFF2-40B4-BE49-F238E27FC236}">
                <a16:creationId xmlns:a16="http://schemas.microsoft.com/office/drawing/2014/main" id="{A1F90C4F-45CB-D543-9BD6-5F2FA85D06B1}"/>
              </a:ext>
            </a:extLst>
          </p:cNvPr>
          <p:cNvPicPr>
            <a:picLocks noChangeAspect="1"/>
          </p:cNvPicPr>
          <p:nvPr>
            <p:custDataLst>
              <p:tags r:id="rId2"/>
            </p:custDataLst>
          </p:nvPr>
        </p:nvPicPr>
        <p:blipFill>
          <a:blip r:embed="rId5" cstate="print"/>
          <a:stretch>
            <a:fillRect/>
          </a:stretch>
        </p:blipFill>
        <p:spPr>
          <a:xfrm>
            <a:off x="7869045" y="4308633"/>
            <a:ext cx="1555173" cy="642104"/>
          </a:xfrm>
          <a:prstGeom prst="rect">
            <a:avLst/>
          </a:prstGeom>
        </p:spPr>
      </p:pic>
    </p:spTree>
    <p:extLst>
      <p:ext uri="{BB962C8B-B14F-4D97-AF65-F5344CB8AC3E}">
        <p14:creationId xmlns:p14="http://schemas.microsoft.com/office/powerpoint/2010/main" val="2909056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5F344-6E7F-FA45-B98D-3CBB9D689437}"/>
              </a:ext>
            </a:extLst>
          </p:cNvPr>
          <p:cNvSpPr>
            <a:spLocks noGrp="1"/>
          </p:cNvSpPr>
          <p:nvPr>
            <p:ph type="title"/>
          </p:nvPr>
        </p:nvSpPr>
        <p:spPr/>
        <p:txBody>
          <a:bodyPr/>
          <a:lstStyle/>
          <a:p>
            <a:r>
              <a:rPr lang="en-US"/>
              <a:t>Summary</a:t>
            </a:r>
          </a:p>
        </p:txBody>
      </p:sp>
      <p:sp>
        <p:nvSpPr>
          <p:cNvPr id="3" name="Content Placeholder 2">
            <a:extLst>
              <a:ext uri="{FF2B5EF4-FFF2-40B4-BE49-F238E27FC236}">
                <a16:creationId xmlns:a16="http://schemas.microsoft.com/office/drawing/2014/main" id="{DB2FB871-9D46-674E-8202-94E3507FAE86}"/>
              </a:ext>
            </a:extLst>
          </p:cNvPr>
          <p:cNvSpPr>
            <a:spLocks noGrp="1"/>
          </p:cNvSpPr>
          <p:nvPr>
            <p:ph idx="1"/>
          </p:nvPr>
        </p:nvSpPr>
        <p:spPr/>
        <p:txBody>
          <a:bodyPr/>
          <a:lstStyle/>
          <a:p>
            <a:pPr marL="0" indent="0">
              <a:buNone/>
            </a:pPr>
            <a:r>
              <a:rPr lang="en-US" dirty="0"/>
              <a:t>Counting with Recurrence Relations</a:t>
            </a:r>
          </a:p>
          <a:p>
            <a:pPr lvl="1"/>
            <a:r>
              <a:rPr lang="en-US" dirty="0"/>
              <a:t>Counting Bitstrings – same recurrence for different problems</a:t>
            </a:r>
          </a:p>
          <a:p>
            <a:pPr lvl="1"/>
            <a:r>
              <a:rPr lang="en-US" dirty="0"/>
              <a:t>The Tower of Hanoi – recurrence we can solve</a:t>
            </a:r>
          </a:p>
          <a:p>
            <a:pPr lvl="1"/>
            <a:r>
              <a:rPr lang="en-US" dirty="0"/>
              <a:t>Counting Arrangments of Parantheses – recurrence hard to solve</a:t>
            </a:r>
          </a:p>
          <a:p>
            <a:endParaRPr lang="en-US"/>
          </a:p>
        </p:txBody>
      </p:sp>
    </p:spTree>
    <p:extLst>
      <p:ext uri="{BB962C8B-B14F-4D97-AF65-F5344CB8AC3E}">
        <p14:creationId xmlns:p14="http://schemas.microsoft.com/office/powerpoint/2010/main" val="1666823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Solving Linear Recurrence Relations</a:t>
            </a:r>
          </a:p>
        </p:txBody>
      </p:sp>
      <p:sp>
        <p:nvSpPr>
          <p:cNvPr id="3" name="Subtitle 2"/>
          <p:cNvSpPr>
            <a:spLocks noGrp="1"/>
          </p:cNvSpPr>
          <p:nvPr>
            <p:ph type="subTitle" idx="1"/>
          </p:nvPr>
        </p:nvSpPr>
        <p:spPr/>
        <p:txBody>
          <a:bodyPr/>
          <a:lstStyle/>
          <a:p>
            <a:r>
              <a:rPr lang="en-US" dirty="0"/>
              <a:t>Section </a:t>
            </a:r>
            <a:r>
              <a:rPr lang="en-US" dirty="0">
                <a:latin typeface="Cambria Math" pitchFamily="18" charset="0"/>
                <a:ea typeface="Cambria Math" pitchFamily="18" charset="0"/>
              </a:rPr>
              <a:t>8.2</a:t>
            </a:r>
          </a:p>
        </p:txBody>
      </p:sp>
    </p:spTree>
    <p:extLst>
      <p:ext uri="{BB962C8B-B14F-4D97-AF65-F5344CB8AC3E}">
        <p14:creationId xmlns:p14="http://schemas.microsoft.com/office/powerpoint/2010/main" val="2959454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Video 68: Linear Recurrence Relations</a:t>
            </a:r>
          </a:p>
        </p:txBody>
      </p:sp>
      <p:sp>
        <p:nvSpPr>
          <p:cNvPr id="3" name="Content Placeholder 2"/>
          <p:cNvSpPr>
            <a:spLocks noGrp="1"/>
          </p:cNvSpPr>
          <p:nvPr>
            <p:ph idx="1"/>
          </p:nvPr>
        </p:nvSpPr>
        <p:spPr/>
        <p:txBody>
          <a:bodyPr>
            <a:normAutofit/>
          </a:bodyPr>
          <a:lstStyle/>
          <a:p>
            <a:r>
              <a:rPr lang="en-US" dirty="0"/>
              <a:t>Linear Homogeneous Recurrence Relations</a:t>
            </a:r>
          </a:p>
          <a:p>
            <a:r>
              <a:rPr lang="en-US" dirty="0"/>
              <a:t>Solving Linear Homogeneous Recurrence Relations</a:t>
            </a:r>
          </a:p>
        </p:txBody>
      </p:sp>
    </p:spTree>
    <p:extLst>
      <p:ext uri="{BB962C8B-B14F-4D97-AF65-F5344CB8AC3E}">
        <p14:creationId xmlns:p14="http://schemas.microsoft.com/office/powerpoint/2010/main" val="12422422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Linear Homogeneous Recurrence Relations</a:t>
            </a:r>
          </a:p>
        </p:txBody>
      </p:sp>
      <p:sp>
        <p:nvSpPr>
          <p:cNvPr id="3" name="Content Placeholder 2"/>
          <p:cNvSpPr>
            <a:spLocks noGrp="1"/>
          </p:cNvSpPr>
          <p:nvPr>
            <p:ph idx="1"/>
          </p:nvPr>
        </p:nvSpPr>
        <p:spPr/>
        <p:txBody>
          <a:bodyPr>
            <a:normAutofit/>
          </a:bodyPr>
          <a:lstStyle/>
          <a:p>
            <a:pPr>
              <a:buNone/>
            </a:pPr>
            <a:r>
              <a:rPr lang="en-US" sz="2400" b="1" dirty="0"/>
              <a:t>Definition: </a:t>
            </a:r>
            <a:r>
              <a:rPr lang="en-US" sz="2400" dirty="0"/>
              <a:t>A </a:t>
            </a:r>
            <a:r>
              <a:rPr lang="en-US" sz="2400" b="1" dirty="0"/>
              <a:t>linear homogeneous recurrence relation of degree </a:t>
            </a:r>
            <a:r>
              <a:rPr lang="en-US" sz="2400" dirty="0"/>
              <a:t>k</a:t>
            </a:r>
            <a:r>
              <a:rPr lang="en-US" sz="2400" i="1" dirty="0"/>
              <a:t> </a:t>
            </a:r>
            <a:r>
              <a:rPr lang="en-US" sz="2400" b="1" dirty="0"/>
              <a:t>with constant coefficients </a:t>
            </a:r>
            <a:r>
              <a:rPr lang="en-US" sz="2400" dirty="0"/>
              <a:t>is a recurrence relation of the form </a:t>
            </a:r>
          </a:p>
          <a:p>
            <a:pPr>
              <a:buNone/>
            </a:pPr>
            <a:r>
              <a:rPr lang="en-US" sz="2400" i="1" dirty="0"/>
              <a:t>		a</a:t>
            </a:r>
            <a:r>
              <a:rPr lang="en-US" sz="2400" i="1" baseline="-25000" dirty="0"/>
              <a:t>n</a:t>
            </a:r>
            <a:r>
              <a:rPr lang="en-US" sz="2400" i="1" dirty="0"/>
              <a:t> = c</a:t>
            </a:r>
            <a:r>
              <a:rPr lang="en-US" sz="2400" baseline="-25000" dirty="0">
                <a:ea typeface="Cambria Math" pitchFamily="18" charset="0"/>
              </a:rPr>
              <a:t>1</a:t>
            </a:r>
            <a:r>
              <a:rPr lang="en-US" sz="2400" i="1" dirty="0"/>
              <a:t>a</a:t>
            </a:r>
            <a:r>
              <a:rPr lang="en-US" sz="2400" i="1" baseline="-25000" dirty="0"/>
              <a:t>n</a:t>
            </a:r>
            <a:r>
              <a:rPr lang="en-US" sz="2400" i="1" baseline="-25000" dirty="0">
                <a:ea typeface="Cambria Math"/>
              </a:rPr>
              <a:t>−</a:t>
            </a:r>
            <a:r>
              <a:rPr lang="en-US" sz="2400" baseline="-25000" dirty="0">
                <a:ea typeface="Cambria Math" pitchFamily="18" charset="0"/>
              </a:rPr>
              <a:t>1</a:t>
            </a:r>
            <a:r>
              <a:rPr lang="en-US" sz="2400" i="1" baseline="-25000" dirty="0"/>
              <a:t> </a:t>
            </a:r>
            <a:r>
              <a:rPr lang="en-US" sz="2400" i="1" dirty="0"/>
              <a:t>+ c</a:t>
            </a:r>
            <a:r>
              <a:rPr lang="en-US" sz="2400" baseline="-25000" dirty="0">
                <a:ea typeface="Cambria Math" pitchFamily="18" charset="0"/>
              </a:rPr>
              <a:t>2</a:t>
            </a:r>
            <a:r>
              <a:rPr lang="en-US" sz="2400" i="1" dirty="0"/>
              <a:t>a</a:t>
            </a:r>
            <a:r>
              <a:rPr lang="en-US" sz="2400" i="1" baseline="-25000" dirty="0"/>
              <a:t>n</a:t>
            </a:r>
            <a:r>
              <a:rPr lang="en-US" sz="2400" i="1" baseline="-25000" dirty="0">
                <a:ea typeface="Cambria Math"/>
              </a:rPr>
              <a:t>−</a:t>
            </a:r>
            <a:r>
              <a:rPr lang="en-US" sz="2400" baseline="-25000" dirty="0">
                <a:ea typeface="Cambria Math" pitchFamily="18" charset="0"/>
              </a:rPr>
              <a:t>2</a:t>
            </a:r>
            <a:r>
              <a:rPr lang="en-US" sz="2400" i="1" dirty="0"/>
              <a:t> + ….. + c</a:t>
            </a:r>
            <a:r>
              <a:rPr lang="en-US" sz="2400" i="1" baseline="-25000" dirty="0"/>
              <a:t>k</a:t>
            </a:r>
            <a:r>
              <a:rPr lang="en-US" sz="2400" i="1" dirty="0"/>
              <a:t> a</a:t>
            </a:r>
            <a:r>
              <a:rPr lang="en-US" sz="2400" i="1" baseline="-25000" dirty="0"/>
              <a:t>n</a:t>
            </a:r>
            <a:r>
              <a:rPr lang="en-US" sz="2400" i="1" baseline="-25000" dirty="0">
                <a:ea typeface="Cambria Math"/>
              </a:rPr>
              <a:t>−</a:t>
            </a:r>
            <a:r>
              <a:rPr lang="en-US" sz="2400" i="1" baseline="-25000" dirty="0"/>
              <a:t>k </a:t>
            </a:r>
          </a:p>
          <a:p>
            <a:pPr>
              <a:buNone/>
            </a:pPr>
            <a:r>
              <a:rPr lang="en-US" sz="2400" i="1" baseline="-25000" dirty="0"/>
              <a:t>	</a:t>
            </a:r>
            <a:r>
              <a:rPr lang="en-US" sz="2400" dirty="0"/>
              <a:t>where </a:t>
            </a:r>
            <a:r>
              <a:rPr lang="en-US" sz="2400" i="1" dirty="0"/>
              <a:t>c</a:t>
            </a:r>
            <a:r>
              <a:rPr lang="en-US" sz="2400" baseline="-25000" dirty="0">
                <a:ea typeface="Cambria Math" pitchFamily="18" charset="0"/>
              </a:rPr>
              <a:t>1</a:t>
            </a:r>
            <a:r>
              <a:rPr lang="en-US" sz="2400" i="1" dirty="0"/>
              <a:t>, c</a:t>
            </a:r>
            <a:r>
              <a:rPr lang="en-US" sz="2400" baseline="-25000" dirty="0">
                <a:ea typeface="Cambria Math" pitchFamily="18" charset="0"/>
              </a:rPr>
              <a:t>2</a:t>
            </a:r>
            <a:r>
              <a:rPr lang="en-US" sz="2400" i="1" dirty="0"/>
              <a:t>, ….,c</a:t>
            </a:r>
            <a:r>
              <a:rPr lang="en-US" sz="2400" i="1" baseline="-25000" dirty="0"/>
              <a:t>k</a:t>
            </a:r>
            <a:r>
              <a:rPr lang="en-US" sz="2400" i="1" dirty="0"/>
              <a:t> </a:t>
            </a:r>
            <a:r>
              <a:rPr lang="en-US" sz="2400" dirty="0"/>
              <a:t>are real numbers, and </a:t>
            </a:r>
            <a:r>
              <a:rPr lang="en-US" sz="2400" i="1" dirty="0"/>
              <a:t>c</a:t>
            </a:r>
            <a:r>
              <a:rPr lang="en-US" sz="2400" i="1" baseline="-25000" dirty="0"/>
              <a:t>k</a:t>
            </a:r>
            <a:r>
              <a:rPr lang="en-US" sz="2400" i="1" dirty="0"/>
              <a:t> </a:t>
            </a:r>
            <a:r>
              <a:rPr lang="en-US" sz="2400" dirty="0">
                <a:ea typeface="Cambria Math"/>
              </a:rPr>
              <a:t>≠ </a:t>
            </a:r>
            <a:r>
              <a:rPr lang="en-US" sz="2400" dirty="0">
                <a:ea typeface="Cambria Math" pitchFamily="18" charset="0"/>
              </a:rPr>
              <a:t>0</a:t>
            </a:r>
          </a:p>
          <a:p>
            <a:pPr marL="0" indent="0">
              <a:buNone/>
            </a:pPr>
            <a:endParaRPr lang="en-US" sz="2400" dirty="0"/>
          </a:p>
          <a:p>
            <a:pPr marL="0" indent="0">
              <a:buNone/>
            </a:pPr>
            <a:endParaRPr lang="en-US" sz="2400" dirty="0"/>
          </a:p>
          <a:p>
            <a:pPr marL="0" indent="0">
              <a:buNone/>
            </a:pPr>
            <a:r>
              <a:rPr lang="en-US" sz="2400" dirty="0"/>
              <a:t>By strong induction, a sequence satisfying such a recurrence relation is uniquely determined by the recurrence relation and the </a:t>
            </a:r>
            <a:r>
              <a:rPr lang="en-US" sz="2400" i="1" dirty="0"/>
              <a:t>k</a:t>
            </a:r>
            <a:r>
              <a:rPr lang="en-US" sz="2400" dirty="0"/>
              <a:t> initial conditions </a:t>
            </a:r>
            <a:br>
              <a:rPr lang="en-US" sz="2400" dirty="0"/>
            </a:br>
            <a:r>
              <a:rPr lang="en-US" sz="2400" i="1" dirty="0"/>
              <a:t>a</a:t>
            </a:r>
            <a:r>
              <a:rPr lang="en-US" sz="2400" baseline="-25000" dirty="0">
                <a:ea typeface="Cambria Math" pitchFamily="18" charset="0"/>
              </a:rPr>
              <a:t>0</a:t>
            </a:r>
            <a:r>
              <a:rPr lang="en-US" sz="2400" baseline="-25000" dirty="0"/>
              <a:t> </a:t>
            </a:r>
            <a:r>
              <a:rPr lang="en-US" sz="2400" dirty="0"/>
              <a:t> = </a:t>
            </a:r>
            <a:r>
              <a:rPr lang="en-US" sz="2400" i="1" dirty="0"/>
              <a:t>C</a:t>
            </a:r>
            <a:r>
              <a:rPr lang="en-US" sz="2400" baseline="-25000" dirty="0">
                <a:ea typeface="Cambria Math" pitchFamily="18" charset="0"/>
              </a:rPr>
              <a:t>1</a:t>
            </a:r>
            <a:r>
              <a:rPr lang="en-US" sz="2400" dirty="0"/>
              <a:t>, </a:t>
            </a:r>
            <a:r>
              <a:rPr lang="en-US" sz="2400" i="1" dirty="0"/>
              <a:t>a</a:t>
            </a:r>
            <a:r>
              <a:rPr lang="en-US" sz="2400" baseline="-25000" dirty="0">
                <a:ea typeface="Cambria Math" pitchFamily="18" charset="0"/>
              </a:rPr>
              <a:t>0</a:t>
            </a:r>
            <a:r>
              <a:rPr lang="en-US" sz="2400" baseline="-25000" dirty="0"/>
              <a:t> </a:t>
            </a:r>
            <a:r>
              <a:rPr lang="en-US" sz="2400" dirty="0"/>
              <a:t> = </a:t>
            </a:r>
            <a:r>
              <a:rPr lang="en-US" sz="2400" i="1" dirty="0"/>
              <a:t>C</a:t>
            </a:r>
            <a:r>
              <a:rPr lang="en-US" sz="2400" baseline="-25000" dirty="0">
                <a:ea typeface="Cambria Math" pitchFamily="18" charset="0"/>
              </a:rPr>
              <a:t>1</a:t>
            </a:r>
            <a:r>
              <a:rPr lang="en-US" sz="2400" dirty="0"/>
              <a:t> ,</a:t>
            </a:r>
            <a:r>
              <a:rPr lang="en-US" sz="2400" dirty="0">
                <a:ea typeface="Cambria Math"/>
              </a:rPr>
              <a:t>…</a:t>
            </a:r>
            <a:r>
              <a:rPr lang="en-US" sz="2400" dirty="0"/>
              <a:t> , </a:t>
            </a:r>
            <a:r>
              <a:rPr lang="en-US" sz="2400" i="1" dirty="0"/>
              <a:t>a</a:t>
            </a:r>
            <a:r>
              <a:rPr lang="en-US" sz="2400" i="1" baseline="-25000" dirty="0">
                <a:ea typeface="Cambria Math" pitchFamily="18" charset="0"/>
              </a:rPr>
              <a:t>k</a:t>
            </a:r>
            <a:r>
              <a:rPr lang="en-US" sz="2400" baseline="-25000" dirty="0">
                <a:ea typeface="Cambria Math"/>
              </a:rPr>
              <a:t>−1</a:t>
            </a:r>
            <a:r>
              <a:rPr lang="en-US" sz="2400" dirty="0"/>
              <a:t> = </a:t>
            </a:r>
            <a:r>
              <a:rPr lang="en-US" sz="2400" i="1" dirty="0"/>
              <a:t>C</a:t>
            </a:r>
            <a:r>
              <a:rPr lang="en-US" sz="2400" i="1" baseline="-25000" dirty="0">
                <a:ea typeface="Cambria Math" pitchFamily="18" charset="0"/>
              </a:rPr>
              <a:t>k</a:t>
            </a:r>
            <a:r>
              <a:rPr lang="en-US" sz="2400" baseline="-25000" dirty="0">
                <a:ea typeface="Cambria Math"/>
              </a:rPr>
              <a:t>−1</a:t>
            </a:r>
            <a:r>
              <a:rPr lang="en-US" sz="2400" dirty="0"/>
              <a:t>.</a:t>
            </a:r>
          </a:p>
          <a:p>
            <a:endParaRPr lang="en-US" sz="2400" dirty="0">
              <a:latin typeface="Cambria Math" pitchFamily="18" charset="0"/>
              <a:ea typeface="Cambria Math" pitchFamily="18" charset="0"/>
            </a:endParaRPr>
          </a:p>
        </p:txBody>
      </p:sp>
    </p:spTree>
    <p:extLst>
      <p:ext uri="{BB962C8B-B14F-4D97-AF65-F5344CB8AC3E}">
        <p14:creationId xmlns:p14="http://schemas.microsoft.com/office/powerpoint/2010/main" val="2909865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2D672-44DD-7B49-8073-071EB9E026F9}"/>
              </a:ext>
            </a:extLst>
          </p:cNvPr>
          <p:cNvSpPr>
            <a:spLocks noGrp="1"/>
          </p:cNvSpPr>
          <p:nvPr>
            <p:ph type="title"/>
          </p:nvPr>
        </p:nvSpPr>
        <p:spPr/>
        <p:txBody>
          <a:bodyPr/>
          <a:lstStyle/>
          <a:p>
            <a:r>
              <a:rPr lang="en-US" dirty="0"/>
              <a:t>Terminology explained</a:t>
            </a:r>
            <a:endParaRPr lang="en-US"/>
          </a:p>
        </p:txBody>
      </p:sp>
      <p:sp>
        <p:nvSpPr>
          <p:cNvPr id="3" name="Content Placeholder 2">
            <a:extLst>
              <a:ext uri="{FF2B5EF4-FFF2-40B4-BE49-F238E27FC236}">
                <a16:creationId xmlns:a16="http://schemas.microsoft.com/office/drawing/2014/main" id="{7D63CAA4-AB65-7144-8258-5CBBB0E34615}"/>
              </a:ext>
            </a:extLst>
          </p:cNvPr>
          <p:cNvSpPr>
            <a:spLocks noGrp="1"/>
          </p:cNvSpPr>
          <p:nvPr>
            <p:ph idx="1"/>
          </p:nvPr>
        </p:nvSpPr>
        <p:spPr/>
        <p:txBody>
          <a:bodyPr/>
          <a:lstStyle/>
          <a:p>
            <a:pPr marL="0" indent="0">
              <a:buNone/>
            </a:pPr>
            <a:r>
              <a:rPr lang="en-US" i="1" dirty="0"/>
              <a:t>a</a:t>
            </a:r>
            <a:r>
              <a:rPr lang="en-US" i="1" baseline="-25000" dirty="0"/>
              <a:t>n</a:t>
            </a:r>
            <a:r>
              <a:rPr lang="en-US" i="1" dirty="0"/>
              <a:t> = c</a:t>
            </a:r>
            <a:r>
              <a:rPr lang="en-US" baseline="-25000" dirty="0">
                <a:ea typeface="Cambria Math" pitchFamily="18" charset="0"/>
              </a:rPr>
              <a:t>1</a:t>
            </a:r>
            <a:r>
              <a:rPr lang="en-US" i="1" dirty="0"/>
              <a:t>a</a:t>
            </a:r>
            <a:r>
              <a:rPr lang="en-US" i="1" baseline="-25000" dirty="0"/>
              <a:t>n</a:t>
            </a:r>
            <a:r>
              <a:rPr lang="en-US" i="1" baseline="-25000" dirty="0">
                <a:ea typeface="Cambria Math"/>
              </a:rPr>
              <a:t>−</a:t>
            </a:r>
            <a:r>
              <a:rPr lang="en-US" baseline="-25000" dirty="0">
                <a:ea typeface="Cambria Math" pitchFamily="18" charset="0"/>
              </a:rPr>
              <a:t>1</a:t>
            </a:r>
            <a:r>
              <a:rPr lang="en-US" i="1" baseline="-25000" dirty="0"/>
              <a:t> </a:t>
            </a:r>
            <a:r>
              <a:rPr lang="en-US" i="1" dirty="0"/>
              <a:t>+ c</a:t>
            </a:r>
            <a:r>
              <a:rPr lang="en-US" baseline="-25000" dirty="0">
                <a:ea typeface="Cambria Math" pitchFamily="18" charset="0"/>
              </a:rPr>
              <a:t>2</a:t>
            </a:r>
            <a:r>
              <a:rPr lang="en-US" i="1" dirty="0"/>
              <a:t>a</a:t>
            </a:r>
            <a:r>
              <a:rPr lang="en-US" i="1" baseline="-25000" dirty="0"/>
              <a:t>n</a:t>
            </a:r>
            <a:r>
              <a:rPr lang="en-US" i="1" baseline="-25000" dirty="0">
                <a:ea typeface="Cambria Math"/>
              </a:rPr>
              <a:t>−</a:t>
            </a:r>
            <a:r>
              <a:rPr lang="en-US" baseline="-25000" dirty="0">
                <a:ea typeface="Cambria Math" pitchFamily="18" charset="0"/>
              </a:rPr>
              <a:t>2</a:t>
            </a:r>
            <a:r>
              <a:rPr lang="en-US" i="1" dirty="0"/>
              <a:t> + ….. + c</a:t>
            </a:r>
            <a:r>
              <a:rPr lang="en-US" i="1" baseline="-25000" dirty="0"/>
              <a:t>k</a:t>
            </a:r>
            <a:r>
              <a:rPr lang="en-US" i="1" dirty="0"/>
              <a:t> a</a:t>
            </a:r>
            <a:r>
              <a:rPr lang="en-US" i="1" baseline="-25000" dirty="0"/>
              <a:t>n</a:t>
            </a:r>
            <a:r>
              <a:rPr lang="en-US" i="1" baseline="-25000" dirty="0">
                <a:ea typeface="Cambria Math"/>
              </a:rPr>
              <a:t>−</a:t>
            </a:r>
            <a:r>
              <a:rPr lang="en-US" i="1" baseline="-25000" dirty="0"/>
              <a:t>k </a:t>
            </a:r>
            <a:endParaRPr lang="en-US" dirty="0"/>
          </a:p>
          <a:p>
            <a:r>
              <a:rPr lang="en-US" dirty="0"/>
              <a:t>is </a:t>
            </a:r>
            <a:r>
              <a:rPr lang="en-US" b="1" dirty="0"/>
              <a:t>linear</a:t>
            </a:r>
            <a:r>
              <a:rPr lang="en-US" i="1" dirty="0"/>
              <a:t> </a:t>
            </a:r>
            <a:r>
              <a:rPr lang="en-US" dirty="0"/>
              <a:t>because the right-hand side is a sum of the previous terms of the sequence each multiplied by a function of </a:t>
            </a:r>
            <a:r>
              <a:rPr lang="en-US" i="1" dirty="0"/>
              <a:t>n</a:t>
            </a:r>
            <a:r>
              <a:rPr lang="en-US" dirty="0"/>
              <a:t>.</a:t>
            </a:r>
          </a:p>
          <a:p>
            <a:r>
              <a:rPr lang="en-US" dirty="0"/>
              <a:t>is </a:t>
            </a:r>
            <a:r>
              <a:rPr lang="en-US" b="1" dirty="0"/>
              <a:t>homogeneous</a:t>
            </a:r>
            <a:r>
              <a:rPr lang="en-US" i="1" dirty="0"/>
              <a:t> </a:t>
            </a:r>
            <a:r>
              <a:rPr lang="en-US" dirty="0"/>
              <a:t>because no terms occur that are not multiples of the </a:t>
            </a:r>
            <a:r>
              <a:rPr lang="en-US" i="1" dirty="0" err="1"/>
              <a:t>a</a:t>
            </a:r>
            <a:r>
              <a:rPr lang="en-US" i="1" baseline="-25000" dirty="0" err="1"/>
              <a:t>j</a:t>
            </a:r>
            <a:r>
              <a:rPr lang="en-US" dirty="0" err="1"/>
              <a:t>s</a:t>
            </a:r>
            <a:r>
              <a:rPr lang="en-US" dirty="0"/>
              <a:t>. </a:t>
            </a:r>
          </a:p>
          <a:p>
            <a:r>
              <a:rPr lang="en-US" dirty="0"/>
              <a:t>has </a:t>
            </a:r>
            <a:r>
              <a:rPr lang="en-US" b="1" dirty="0"/>
              <a:t>constant coefficients </a:t>
            </a:r>
            <a:r>
              <a:rPr lang="en-US" i="1" dirty="0"/>
              <a:t>c</a:t>
            </a:r>
            <a:r>
              <a:rPr lang="en-US" baseline="-25000" dirty="0">
                <a:ea typeface="Cambria Math" pitchFamily="18" charset="0"/>
              </a:rPr>
              <a:t>1</a:t>
            </a:r>
            <a:r>
              <a:rPr lang="en-US" i="1" dirty="0"/>
              <a:t>, c</a:t>
            </a:r>
            <a:r>
              <a:rPr lang="en-US" baseline="-25000" dirty="0">
                <a:ea typeface="Cambria Math" pitchFamily="18" charset="0"/>
              </a:rPr>
              <a:t>2</a:t>
            </a:r>
            <a:r>
              <a:rPr lang="en-US" i="1" dirty="0"/>
              <a:t>, ….,c</a:t>
            </a:r>
            <a:r>
              <a:rPr lang="en-US" i="1" baseline="-25000" dirty="0"/>
              <a:t>k</a:t>
            </a:r>
            <a:r>
              <a:rPr lang="en-US" i="1" dirty="0"/>
              <a:t>.</a:t>
            </a:r>
            <a:endParaRPr lang="en-US" dirty="0"/>
          </a:p>
          <a:p>
            <a:r>
              <a:rPr lang="en-US" dirty="0"/>
              <a:t>the </a:t>
            </a:r>
            <a:r>
              <a:rPr lang="en-US" b="1" dirty="0"/>
              <a:t>degree</a:t>
            </a:r>
            <a:r>
              <a:rPr lang="en-US" i="1" dirty="0"/>
              <a:t> </a:t>
            </a:r>
            <a:r>
              <a:rPr lang="en-US" dirty="0"/>
              <a:t>is</a:t>
            </a:r>
            <a:r>
              <a:rPr lang="en-US" i="1" dirty="0"/>
              <a:t> k </a:t>
            </a:r>
            <a:r>
              <a:rPr lang="en-US" dirty="0"/>
              <a:t>because </a:t>
            </a:r>
            <a:r>
              <a:rPr lang="en-US" i="1" dirty="0"/>
              <a:t>a</a:t>
            </a:r>
            <a:r>
              <a:rPr lang="en-US" i="1" baseline="-25000" dirty="0"/>
              <a:t>n</a:t>
            </a:r>
            <a:r>
              <a:rPr lang="en-US" i="1" dirty="0"/>
              <a:t> </a:t>
            </a:r>
            <a:r>
              <a:rPr lang="en-US" dirty="0"/>
              <a:t>is expressed in terms of the previous </a:t>
            </a:r>
            <a:r>
              <a:rPr lang="en-US" i="1" dirty="0"/>
              <a:t>k</a:t>
            </a:r>
            <a:r>
              <a:rPr lang="en-US" dirty="0"/>
              <a:t> terms of the sequence.</a:t>
            </a:r>
          </a:p>
          <a:p>
            <a:endParaRPr lang="en-US"/>
          </a:p>
        </p:txBody>
      </p:sp>
    </p:spTree>
    <p:extLst>
      <p:ext uri="{BB962C8B-B14F-4D97-AF65-F5344CB8AC3E}">
        <p14:creationId xmlns:p14="http://schemas.microsoft.com/office/powerpoint/2010/main" val="4188189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US" sz="2400" i="1" dirty="0" err="1"/>
                  <a:t>P</a:t>
                </a:r>
                <a:r>
                  <a:rPr lang="en-US" sz="2400" i="1" baseline="-25000" dirty="0" err="1"/>
                  <a:t>n</a:t>
                </a:r>
                <a:r>
                  <a:rPr lang="en-US" sz="2400" i="1" dirty="0"/>
                  <a:t> = </a:t>
                </a:r>
                <a:r>
                  <a:rPr lang="en-US" sz="2400" dirty="0">
                    <a:ea typeface="Cambria Math" pitchFamily="18" charset="0"/>
                  </a:rPr>
                  <a:t>(1.11)</a:t>
                </a:r>
                <a:r>
                  <a:rPr lang="en-US" sz="2400" i="1" dirty="0"/>
                  <a:t>P</a:t>
                </a:r>
                <a:r>
                  <a:rPr lang="en-US" sz="2400" i="1" baseline="-25000" dirty="0"/>
                  <a:t>n-1 </a:t>
                </a:r>
                <a:r>
                  <a:rPr lang="en-US" sz="2400" i="1" dirty="0"/>
                  <a:t>    	</a:t>
                </a:r>
                <a:r>
                  <a:rPr lang="en-US" sz="2400" dirty="0">
                    <a:solidFill>
                      <a:srgbClr val="FF0000"/>
                    </a:solidFill>
                  </a:rPr>
                  <a:t>linear homogeneous recurrence relation of degree one</a:t>
                </a:r>
              </a:p>
              <a:p>
                <a:pPr marL="0" indent="0">
                  <a:buNone/>
                </a:pPr>
                <a:r>
                  <a:rPr lang="en-US" sz="2400" dirty="0"/>
                  <a:t> </a:t>
                </a:r>
                <a:r>
                  <a:rPr lang="en-US" sz="2400" i="1" dirty="0"/>
                  <a:t>f</a:t>
                </a:r>
                <a:r>
                  <a:rPr lang="en-US" sz="2400" i="1" baseline="-25000" dirty="0"/>
                  <a:t>n</a:t>
                </a:r>
                <a:r>
                  <a:rPr lang="en-US" sz="2400" i="1" dirty="0"/>
                  <a:t> = f</a:t>
                </a:r>
                <a:r>
                  <a:rPr lang="en-US" sz="2400" i="1" baseline="-25000" dirty="0"/>
                  <a:t>n-1 </a:t>
                </a:r>
                <a:r>
                  <a:rPr lang="en-US" sz="2400" i="1" dirty="0"/>
                  <a:t> + f</a:t>
                </a:r>
                <a:r>
                  <a:rPr lang="en-US" sz="2400" i="1" baseline="-25000" dirty="0"/>
                  <a:t>n-2</a:t>
                </a:r>
                <a:r>
                  <a:rPr lang="en-US" sz="2400" dirty="0">
                    <a:solidFill>
                      <a:srgbClr val="FF0000"/>
                    </a:solidFill>
                  </a:rPr>
                  <a:t> 		linear homogeneous recurrence relation of degree two</a:t>
                </a:r>
                <a:endParaRPr lang="en-US" sz="2400" i="1" baseline="-25000" dirty="0"/>
              </a:p>
              <a:p>
                <a:pPr marL="0" indent="0">
                  <a:buNone/>
                </a:pPr>
                <a14:m>
                  <m:oMath xmlns:m="http://schemas.openxmlformats.org/officeDocument/2006/math">
                    <m:sSub>
                      <m:sSubPr>
                        <m:ctrlPr>
                          <a:rPr lang="en-US" sz="2400" i="1" dirty="0">
                            <a:latin typeface="Cambria Math" panose="02040503050406030204" pitchFamily="18" charset="0"/>
                          </a:rPr>
                        </m:ctrlPr>
                      </m:sSubPr>
                      <m:e>
                        <m:r>
                          <a:rPr lang="fr-CH" sz="2400" b="0" i="1" dirty="0">
                            <a:latin typeface="Cambria Math" panose="02040503050406030204" pitchFamily="18" charset="0"/>
                          </a:rPr>
                          <m:t>𝑎</m:t>
                        </m:r>
                      </m:e>
                      <m:sub>
                        <m:r>
                          <a:rPr lang="fr-CH" sz="2400" b="0" i="1" dirty="0">
                            <a:latin typeface="Cambria Math" panose="02040503050406030204" pitchFamily="18" charset="0"/>
                          </a:rPr>
                          <m:t>𝑛</m:t>
                        </m:r>
                      </m:sub>
                    </m:sSub>
                    <m:r>
                      <a:rPr lang="fr-CH" sz="2400" b="0" i="1" dirty="0">
                        <a:latin typeface="Cambria Math" panose="02040503050406030204" pitchFamily="18" charset="0"/>
                      </a:rPr>
                      <m:t>=</m:t>
                    </m:r>
                    <m:sSub>
                      <m:sSubPr>
                        <m:ctrlPr>
                          <a:rPr lang="en-US" sz="2400" i="1" dirty="0">
                            <a:latin typeface="Cambria Math" panose="02040503050406030204" pitchFamily="18" charset="0"/>
                          </a:rPr>
                        </m:ctrlPr>
                      </m:sSubPr>
                      <m:e>
                        <m:r>
                          <a:rPr lang="fr-CH" sz="2400" i="1" dirty="0">
                            <a:latin typeface="Cambria Math" panose="02040503050406030204" pitchFamily="18" charset="0"/>
                          </a:rPr>
                          <m:t>𝑎</m:t>
                        </m:r>
                      </m:e>
                      <m:sub>
                        <m:r>
                          <a:rPr lang="fr-CH" sz="2400" i="1" dirty="0">
                            <a:latin typeface="Cambria Math" panose="02040503050406030204" pitchFamily="18" charset="0"/>
                          </a:rPr>
                          <m:t>𝑛</m:t>
                        </m:r>
                        <m:r>
                          <a:rPr lang="fr-CH" sz="2400" b="0" i="1" dirty="0">
                            <a:latin typeface="Cambria Math" panose="02040503050406030204" pitchFamily="18" charset="0"/>
                          </a:rPr>
                          <m:t>−1</m:t>
                        </m:r>
                      </m:sub>
                    </m:sSub>
                    <m:r>
                      <a:rPr lang="fr-CH" sz="2400" b="0" i="1" dirty="0">
                        <a:latin typeface="Cambria Math" panose="02040503050406030204" pitchFamily="18" charset="0"/>
                      </a:rPr>
                      <m:t>+</m:t>
                    </m:r>
                    <m:sSubSup>
                      <m:sSubSupPr>
                        <m:ctrlPr>
                          <a:rPr lang="fr-CH" sz="2400" b="0" i="1" dirty="0">
                            <a:latin typeface="Cambria Math" panose="02040503050406030204" pitchFamily="18" charset="0"/>
                          </a:rPr>
                        </m:ctrlPr>
                      </m:sSubSupPr>
                      <m:e>
                        <m:r>
                          <a:rPr lang="fr-CH" sz="2400" b="0" i="1" dirty="0">
                            <a:latin typeface="Cambria Math" panose="02040503050406030204" pitchFamily="18" charset="0"/>
                          </a:rPr>
                          <m:t>𝑎</m:t>
                        </m:r>
                      </m:e>
                      <m:sub>
                        <m:r>
                          <a:rPr lang="fr-CH" sz="2400" b="0" i="1" dirty="0">
                            <a:latin typeface="Cambria Math" panose="02040503050406030204" pitchFamily="18" charset="0"/>
                          </a:rPr>
                          <m:t>𝑛</m:t>
                        </m:r>
                        <m:r>
                          <a:rPr lang="fr-CH" sz="2400" b="0" i="1" dirty="0">
                            <a:latin typeface="Cambria Math" panose="02040503050406030204" pitchFamily="18" charset="0"/>
                          </a:rPr>
                          <m:t>−2</m:t>
                        </m:r>
                      </m:sub>
                      <m:sup>
                        <m:r>
                          <a:rPr lang="fr-CH" sz="2400" b="0" i="1" dirty="0">
                            <a:latin typeface="Cambria Math" panose="02040503050406030204" pitchFamily="18" charset="0"/>
                          </a:rPr>
                          <m:t>2</m:t>
                        </m:r>
                      </m:sup>
                    </m:sSubSup>
                  </m:oMath>
                </a14:m>
                <a:r>
                  <a:rPr lang="en-US" sz="2400" dirty="0"/>
                  <a:t>	</a:t>
                </a:r>
                <a:r>
                  <a:rPr lang="en-US" sz="2400" dirty="0">
                    <a:solidFill>
                      <a:srgbClr val="FF0000"/>
                    </a:solidFill>
                  </a:rPr>
                  <a:t>not linear</a:t>
                </a:r>
                <a:endParaRPr lang="en-US" sz="2400" i="1" baseline="-25000" dirty="0">
                  <a:solidFill>
                    <a:srgbClr val="FF0000"/>
                  </a:solidFill>
                </a:endParaRPr>
              </a:p>
              <a:p>
                <a:pPr marL="0" indent="0">
                  <a:buNone/>
                </a:pPr>
                <a:r>
                  <a:rPr lang="en-US" sz="2400" i="1" dirty="0" err="1"/>
                  <a:t>H</a:t>
                </a:r>
                <a:r>
                  <a:rPr lang="en-US" sz="2400" i="1" baseline="-25000" dirty="0" err="1"/>
                  <a:t>n</a:t>
                </a:r>
                <a:r>
                  <a:rPr lang="en-US" sz="2400" i="1" dirty="0"/>
                  <a:t> = </a:t>
                </a:r>
                <a:r>
                  <a:rPr lang="en-US" sz="2400" dirty="0">
                    <a:ea typeface="Cambria Math" pitchFamily="18" charset="0"/>
                  </a:rPr>
                  <a:t>2</a:t>
                </a:r>
                <a:r>
                  <a:rPr lang="en-US" sz="2400" i="1" dirty="0"/>
                  <a:t>H</a:t>
                </a:r>
                <a:r>
                  <a:rPr lang="en-US" sz="2400" i="1" baseline="-25000" dirty="0"/>
                  <a:t>n</a:t>
                </a:r>
                <a:r>
                  <a:rPr lang="en-US" sz="2400" i="1" baseline="-25000" dirty="0">
                    <a:ea typeface="Cambria Math"/>
                  </a:rPr>
                  <a:t>−</a:t>
                </a:r>
                <a:r>
                  <a:rPr lang="en-US" sz="2400" baseline="-25000" dirty="0">
                    <a:ea typeface="Cambria Math" pitchFamily="18" charset="0"/>
                  </a:rPr>
                  <a:t>1</a:t>
                </a:r>
                <a:r>
                  <a:rPr lang="en-US" sz="2400" i="1" dirty="0"/>
                  <a:t> + </a:t>
                </a:r>
                <a:r>
                  <a:rPr lang="en-US" sz="2400" dirty="0">
                    <a:ea typeface="Cambria Math" pitchFamily="18" charset="0"/>
                  </a:rPr>
                  <a:t>1</a:t>
                </a:r>
                <a:r>
                  <a:rPr lang="en-US" sz="2400" i="1" dirty="0"/>
                  <a:t>   	</a:t>
                </a:r>
                <a:r>
                  <a:rPr lang="en-US" sz="2400" dirty="0">
                    <a:solidFill>
                      <a:srgbClr val="FF0000"/>
                    </a:solidFill>
                  </a:rPr>
                  <a:t>not homogeneous</a:t>
                </a:r>
                <a:endParaRPr lang="en-US" sz="2400" i="1" dirty="0">
                  <a:solidFill>
                    <a:srgbClr val="FF0000"/>
                  </a:solidFill>
                </a:endParaRPr>
              </a:p>
              <a:p>
                <a:pPr marL="0" indent="0">
                  <a:buNone/>
                </a:pPr>
                <a:r>
                  <a:rPr lang="en-US" sz="2400" i="1" dirty="0" err="1"/>
                  <a:t>B</a:t>
                </a:r>
                <a:r>
                  <a:rPr lang="en-US" sz="2400" i="1" baseline="-25000" dirty="0" err="1"/>
                  <a:t>n</a:t>
                </a:r>
                <a:r>
                  <a:rPr lang="en-US" sz="2400" i="1" dirty="0"/>
                  <a:t> = nB</a:t>
                </a:r>
                <a:r>
                  <a:rPr lang="en-US" sz="2400" i="1" baseline="-25000" dirty="0"/>
                  <a:t>n</a:t>
                </a:r>
                <a:r>
                  <a:rPr lang="en-US" sz="2400" i="1" baseline="-25000" dirty="0">
                    <a:ea typeface="Cambria Math"/>
                  </a:rPr>
                  <a:t>−</a:t>
                </a:r>
                <a:r>
                  <a:rPr lang="en-US" sz="2400" baseline="-25000" dirty="0">
                    <a:ea typeface="Cambria Math" pitchFamily="18" charset="0"/>
                  </a:rPr>
                  <a:t>1 </a:t>
                </a:r>
                <a:r>
                  <a:rPr lang="en-US" sz="2400" i="1" baseline="-25000" dirty="0"/>
                  <a:t> 		</a:t>
                </a:r>
                <a:r>
                  <a:rPr lang="en-US" sz="2400" dirty="0">
                    <a:solidFill>
                      <a:srgbClr val="FF0000"/>
                    </a:solidFill>
                  </a:rPr>
                  <a:t>coefficients are not constants </a:t>
                </a:r>
                <a:endParaRPr lang="en-US" sz="2400" i="1" baseline="-25000"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44" t="-2047"/>
                </a:stretch>
              </a:blipFill>
            </p:spPr>
            <p:txBody>
              <a:bodyPr/>
              <a:lstStyle/>
              <a:p>
                <a:r>
                  <a:rPr lang="en-US">
                    <a:noFill/>
                  </a:rPr>
                  <a:t> </a:t>
                </a:r>
              </a:p>
            </p:txBody>
          </p:sp>
        </mc:Fallback>
      </mc:AlternateContent>
    </p:spTree>
    <p:extLst>
      <p:ext uri="{BB962C8B-B14F-4D97-AF65-F5344CB8AC3E}">
        <p14:creationId xmlns:p14="http://schemas.microsoft.com/office/powerpoint/2010/main" val="9324694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 Equation</a:t>
            </a:r>
          </a:p>
        </p:txBody>
      </p:sp>
      <p:sp>
        <p:nvSpPr>
          <p:cNvPr id="3" name="Content Placeholder 2"/>
          <p:cNvSpPr>
            <a:spLocks noGrp="1"/>
          </p:cNvSpPr>
          <p:nvPr>
            <p:ph idx="1"/>
          </p:nvPr>
        </p:nvSpPr>
        <p:spPr/>
        <p:txBody>
          <a:bodyPr>
            <a:normAutofit/>
          </a:bodyPr>
          <a:lstStyle/>
          <a:p>
            <a:pPr marL="0" indent="0">
              <a:buNone/>
            </a:pPr>
            <a:r>
              <a:rPr lang="en-US" dirty="0"/>
              <a:t>Given the recurrence relation </a:t>
            </a:r>
            <a:r>
              <a:rPr lang="en-US" i="1" dirty="0"/>
              <a:t>a</a:t>
            </a:r>
            <a:r>
              <a:rPr lang="en-US" i="1" baseline="-25000" dirty="0"/>
              <a:t>n</a:t>
            </a:r>
            <a:r>
              <a:rPr lang="en-US" i="1" dirty="0"/>
              <a:t> = c</a:t>
            </a:r>
            <a:r>
              <a:rPr lang="en-US" baseline="-25000" dirty="0">
                <a:ea typeface="Cambria Math" pitchFamily="18" charset="0"/>
              </a:rPr>
              <a:t>1</a:t>
            </a:r>
            <a:r>
              <a:rPr lang="en-US" i="1" dirty="0"/>
              <a:t>a</a:t>
            </a:r>
            <a:r>
              <a:rPr lang="en-US" i="1" baseline="-25000" dirty="0"/>
              <a:t>n</a:t>
            </a:r>
            <a:r>
              <a:rPr lang="en-US" i="1" baseline="-25000" dirty="0">
                <a:ea typeface="Cambria Math"/>
              </a:rPr>
              <a:t>−</a:t>
            </a:r>
            <a:r>
              <a:rPr lang="en-US" baseline="-25000" dirty="0">
                <a:ea typeface="Cambria Math" pitchFamily="18" charset="0"/>
              </a:rPr>
              <a:t>1</a:t>
            </a:r>
            <a:r>
              <a:rPr lang="en-US" i="1" baseline="-25000" dirty="0"/>
              <a:t> </a:t>
            </a:r>
            <a:r>
              <a:rPr lang="en-US" i="1" dirty="0"/>
              <a:t>+ c</a:t>
            </a:r>
            <a:r>
              <a:rPr lang="en-US" baseline="-25000" dirty="0">
                <a:ea typeface="Cambria Math" pitchFamily="18" charset="0"/>
              </a:rPr>
              <a:t>2</a:t>
            </a:r>
            <a:r>
              <a:rPr lang="en-US" i="1" dirty="0"/>
              <a:t>a</a:t>
            </a:r>
            <a:r>
              <a:rPr lang="en-US" i="1" baseline="-25000" dirty="0"/>
              <a:t>n</a:t>
            </a:r>
            <a:r>
              <a:rPr lang="en-US" i="1" baseline="-25000" dirty="0">
                <a:ea typeface="Cambria Math"/>
              </a:rPr>
              <a:t>−</a:t>
            </a:r>
            <a:r>
              <a:rPr lang="en-US" baseline="-25000" dirty="0">
                <a:ea typeface="Cambria Math" pitchFamily="18" charset="0"/>
              </a:rPr>
              <a:t>2</a:t>
            </a:r>
            <a:r>
              <a:rPr lang="en-US" i="1" dirty="0"/>
              <a:t> + </a:t>
            </a:r>
            <a:r>
              <a:rPr lang="en-US" dirty="0">
                <a:ea typeface="Cambria Math"/>
              </a:rPr>
              <a:t>⋯</a:t>
            </a:r>
            <a:r>
              <a:rPr lang="en-US" i="1" dirty="0"/>
              <a:t> + c</a:t>
            </a:r>
            <a:r>
              <a:rPr lang="en-US" i="1" baseline="-25000" dirty="0"/>
              <a:t>k</a:t>
            </a:r>
            <a:r>
              <a:rPr lang="en-US" i="1" dirty="0"/>
              <a:t> a</a:t>
            </a:r>
            <a:r>
              <a:rPr lang="en-US" i="1" baseline="-25000" dirty="0"/>
              <a:t>n</a:t>
            </a:r>
            <a:r>
              <a:rPr lang="en-US" i="1" baseline="-25000" dirty="0">
                <a:ea typeface="Cambria Math"/>
              </a:rPr>
              <a:t>−</a:t>
            </a:r>
            <a:r>
              <a:rPr lang="en-US" i="1" baseline="-25000" dirty="0"/>
              <a:t>k</a:t>
            </a:r>
            <a:r>
              <a:rPr lang="en-US" dirty="0"/>
              <a:t> assume </a:t>
            </a:r>
            <a:br>
              <a:rPr lang="en-US" dirty="0"/>
            </a:br>
            <a:r>
              <a:rPr lang="en-US" i="1" dirty="0"/>
              <a:t>a</a:t>
            </a:r>
            <a:r>
              <a:rPr lang="en-US" i="1" baseline="-25000" dirty="0"/>
              <a:t>n</a:t>
            </a:r>
            <a:r>
              <a:rPr lang="en-US" dirty="0"/>
              <a:t> = </a:t>
            </a:r>
            <a:r>
              <a:rPr lang="en-US" i="1" dirty="0" err="1"/>
              <a:t>r</a:t>
            </a:r>
            <a:r>
              <a:rPr lang="en-US" i="1" baseline="30000" dirty="0" err="1"/>
              <a:t>n</a:t>
            </a:r>
            <a:r>
              <a:rPr lang="en-US" dirty="0"/>
              <a:t> , where </a:t>
            </a:r>
            <a:r>
              <a:rPr lang="en-US" i="1" dirty="0"/>
              <a:t>r</a:t>
            </a:r>
            <a:r>
              <a:rPr lang="en-US" dirty="0"/>
              <a:t> is a constant</a:t>
            </a:r>
          </a:p>
          <a:p>
            <a:pPr marL="0" indent="0">
              <a:buNone/>
            </a:pPr>
            <a:endParaRPr lang="en-US" i="1" dirty="0"/>
          </a:p>
          <a:p>
            <a:pPr marL="0" indent="0">
              <a:buNone/>
            </a:pPr>
            <a:r>
              <a:rPr lang="en-US" dirty="0"/>
              <a:t>Substituting into the recurrence relation gives</a:t>
            </a:r>
          </a:p>
          <a:p>
            <a:pPr marL="0" indent="0">
              <a:buNone/>
            </a:pPr>
            <a:r>
              <a:rPr lang="en-US" i="1" dirty="0" err="1"/>
              <a:t>		r</a:t>
            </a:r>
            <a:r>
              <a:rPr lang="en-US" i="1" baseline="30000" dirty="0" err="1"/>
              <a:t>n</a:t>
            </a:r>
            <a:r>
              <a:rPr lang="en-US" dirty="0"/>
              <a:t> </a:t>
            </a:r>
            <a:r>
              <a:rPr lang="en-US" sz="2600" i="1" dirty="0"/>
              <a:t>= c</a:t>
            </a:r>
            <a:r>
              <a:rPr lang="en-US" sz="2600" baseline="-25000" dirty="0">
                <a:ea typeface="Cambria Math" pitchFamily="18" charset="0"/>
              </a:rPr>
              <a:t>1</a:t>
            </a:r>
            <a:r>
              <a:rPr lang="en-US" sz="2600" i="1" dirty="0"/>
              <a:t>r</a:t>
            </a:r>
            <a:r>
              <a:rPr lang="en-US" sz="2600" i="1" baseline="30000" dirty="0"/>
              <a:t>n</a:t>
            </a:r>
            <a:r>
              <a:rPr lang="en-US" sz="2600" i="1" baseline="30000" dirty="0">
                <a:ea typeface="Cambria Math"/>
              </a:rPr>
              <a:t>−</a:t>
            </a:r>
            <a:r>
              <a:rPr lang="en-US" sz="2600" baseline="30000" dirty="0">
                <a:ea typeface="Cambria Math" pitchFamily="18" charset="0"/>
              </a:rPr>
              <a:t>1</a:t>
            </a:r>
            <a:r>
              <a:rPr lang="en-US" sz="2600" i="1" baseline="30000" dirty="0"/>
              <a:t> </a:t>
            </a:r>
            <a:r>
              <a:rPr lang="en-US" sz="2600" i="1" dirty="0"/>
              <a:t>+ c</a:t>
            </a:r>
            <a:r>
              <a:rPr lang="en-US" sz="2600" baseline="-25000" dirty="0">
                <a:ea typeface="Cambria Math" pitchFamily="18" charset="0"/>
              </a:rPr>
              <a:t>2</a:t>
            </a:r>
            <a:r>
              <a:rPr lang="en-US" sz="2600" i="1" dirty="0"/>
              <a:t>r</a:t>
            </a:r>
            <a:r>
              <a:rPr lang="en-US" sz="2600" i="1" baseline="30000" dirty="0"/>
              <a:t>n</a:t>
            </a:r>
            <a:r>
              <a:rPr lang="en-US" sz="2600" i="1" baseline="30000" dirty="0">
                <a:ea typeface="Cambria Math"/>
              </a:rPr>
              <a:t>−</a:t>
            </a:r>
            <a:r>
              <a:rPr lang="en-US" sz="2600" baseline="30000" dirty="0">
                <a:ea typeface="Cambria Math" pitchFamily="18" charset="0"/>
              </a:rPr>
              <a:t>2</a:t>
            </a:r>
            <a:r>
              <a:rPr lang="en-US" sz="2600" i="1" baseline="30000" dirty="0"/>
              <a:t> </a:t>
            </a:r>
            <a:r>
              <a:rPr lang="en-US" sz="2600" i="1" dirty="0"/>
              <a:t>+ </a:t>
            </a:r>
            <a:r>
              <a:rPr lang="en-US" sz="2600" dirty="0">
                <a:ea typeface="Cambria Math"/>
              </a:rPr>
              <a:t>⋯ </a:t>
            </a:r>
            <a:r>
              <a:rPr lang="en-US" sz="2600" i="1" dirty="0"/>
              <a:t>+ c</a:t>
            </a:r>
            <a:r>
              <a:rPr lang="en-US" sz="2600" i="1" baseline="-25000" dirty="0"/>
              <a:t>k</a:t>
            </a:r>
            <a:r>
              <a:rPr lang="en-US" sz="2600" i="1" dirty="0"/>
              <a:t> </a:t>
            </a:r>
            <a:r>
              <a:rPr lang="en-US" sz="2600" i="1" dirty="0" err="1"/>
              <a:t>r</a:t>
            </a:r>
            <a:r>
              <a:rPr lang="en-US" sz="2600" i="1" baseline="30000" dirty="0" err="1"/>
              <a:t>n</a:t>
            </a:r>
            <a:r>
              <a:rPr lang="en-US" sz="2600" baseline="30000" dirty="0">
                <a:ea typeface="Cambria Math"/>
              </a:rPr>
              <a:t>−</a:t>
            </a:r>
            <a:r>
              <a:rPr lang="en-US" sz="2600" i="1" baseline="30000" dirty="0"/>
              <a:t>k</a:t>
            </a:r>
            <a:r>
              <a:rPr lang="en-US" sz="2600" baseline="30000" dirty="0"/>
              <a:t> </a:t>
            </a:r>
            <a:endParaRPr lang="en-US" dirty="0"/>
          </a:p>
          <a:p>
            <a:pPr marL="0" indent="0">
              <a:buNone/>
            </a:pPr>
            <a:endParaRPr lang="en-US" dirty="0"/>
          </a:p>
          <a:p>
            <a:pPr marL="0" indent="0">
              <a:buNone/>
            </a:pPr>
            <a:r>
              <a:rPr lang="en-US" dirty="0"/>
              <a:t>Algebraic manipulation yields the </a:t>
            </a:r>
            <a:r>
              <a:rPr lang="en-US" b="1" dirty="0"/>
              <a:t>characteristic equation</a:t>
            </a:r>
            <a:r>
              <a:rPr lang="en-US" dirty="0"/>
              <a:t>: </a:t>
            </a:r>
          </a:p>
          <a:p>
            <a:pPr>
              <a:buNone/>
            </a:pPr>
            <a:r>
              <a:rPr lang="en-US" dirty="0"/>
              <a:t>      		</a:t>
            </a:r>
            <a:r>
              <a:rPr lang="en-US" i="1" dirty="0" err="1"/>
              <a:t>r</a:t>
            </a:r>
            <a:r>
              <a:rPr lang="en-US" i="1" baseline="30000" dirty="0" err="1"/>
              <a:t>k</a:t>
            </a:r>
            <a:r>
              <a:rPr lang="en-US" dirty="0"/>
              <a:t> </a:t>
            </a:r>
            <a:r>
              <a:rPr lang="en-US" dirty="0">
                <a:ea typeface="Cambria Math"/>
              </a:rPr>
              <a:t>−</a:t>
            </a:r>
            <a:r>
              <a:rPr lang="en-US" i="1" dirty="0"/>
              <a:t> c</a:t>
            </a:r>
            <a:r>
              <a:rPr lang="en-US" baseline="-25000" dirty="0">
                <a:ea typeface="Cambria Math" pitchFamily="18" charset="0"/>
              </a:rPr>
              <a:t>1</a:t>
            </a:r>
            <a:r>
              <a:rPr lang="en-US" i="1" dirty="0"/>
              <a:t>r</a:t>
            </a:r>
            <a:r>
              <a:rPr lang="en-US" i="1" baseline="30000" dirty="0"/>
              <a:t>k</a:t>
            </a:r>
            <a:r>
              <a:rPr lang="en-US" i="1" baseline="30000" dirty="0">
                <a:ea typeface="Cambria Math"/>
              </a:rPr>
              <a:t>−</a:t>
            </a:r>
            <a:r>
              <a:rPr lang="en-US" baseline="30000" dirty="0">
                <a:ea typeface="Cambria Math" pitchFamily="18" charset="0"/>
              </a:rPr>
              <a:t>1</a:t>
            </a:r>
            <a:r>
              <a:rPr lang="en-US" i="1" baseline="30000" dirty="0"/>
              <a:t> </a:t>
            </a:r>
            <a:r>
              <a:rPr lang="en-US" i="1" dirty="0"/>
              <a:t> </a:t>
            </a:r>
            <a:r>
              <a:rPr lang="en-US" i="1" dirty="0">
                <a:ea typeface="Cambria Math"/>
              </a:rPr>
              <a:t>−</a:t>
            </a:r>
            <a:r>
              <a:rPr lang="en-US" i="1" dirty="0"/>
              <a:t> c</a:t>
            </a:r>
            <a:r>
              <a:rPr lang="en-US" baseline="-25000" dirty="0">
                <a:ea typeface="Cambria Math" pitchFamily="18" charset="0"/>
              </a:rPr>
              <a:t>2</a:t>
            </a:r>
            <a:r>
              <a:rPr lang="en-US" i="1" dirty="0"/>
              <a:t>r</a:t>
            </a:r>
            <a:r>
              <a:rPr lang="en-US" i="1" baseline="30000" dirty="0"/>
              <a:t>k</a:t>
            </a:r>
            <a:r>
              <a:rPr lang="en-US" i="1" baseline="30000" dirty="0">
                <a:ea typeface="Cambria Math"/>
              </a:rPr>
              <a:t>−</a:t>
            </a:r>
            <a:r>
              <a:rPr lang="en-US" baseline="30000" dirty="0">
                <a:ea typeface="Cambria Math" pitchFamily="18" charset="0"/>
              </a:rPr>
              <a:t>2</a:t>
            </a:r>
            <a:r>
              <a:rPr lang="en-US" i="1" baseline="30000" dirty="0"/>
              <a:t> </a:t>
            </a:r>
            <a:r>
              <a:rPr lang="en-US" i="1" dirty="0">
                <a:ea typeface="Cambria Math"/>
              </a:rPr>
              <a:t>−</a:t>
            </a:r>
            <a:r>
              <a:rPr lang="en-US" i="1" dirty="0"/>
              <a:t> </a:t>
            </a:r>
            <a:r>
              <a:rPr lang="en-US" dirty="0">
                <a:ea typeface="Cambria Math"/>
              </a:rPr>
              <a:t>⋯</a:t>
            </a:r>
            <a:r>
              <a:rPr lang="en-US" i="1" dirty="0"/>
              <a:t> </a:t>
            </a:r>
            <a:r>
              <a:rPr lang="en-US" i="1" dirty="0">
                <a:ea typeface="Cambria Math"/>
              </a:rPr>
              <a:t>−</a:t>
            </a:r>
            <a:r>
              <a:rPr lang="en-US" i="1" dirty="0"/>
              <a:t> c</a:t>
            </a:r>
            <a:r>
              <a:rPr lang="en-US" i="1" baseline="-25000" dirty="0"/>
              <a:t>k</a:t>
            </a:r>
            <a:r>
              <a:rPr lang="en-US" i="1" baseline="-25000" dirty="0">
                <a:ea typeface="Cambria Math"/>
              </a:rPr>
              <a:t>−</a:t>
            </a:r>
            <a:r>
              <a:rPr lang="en-US" baseline="-25000" dirty="0">
                <a:ea typeface="Cambria Math" pitchFamily="18" charset="0"/>
              </a:rPr>
              <a:t>1</a:t>
            </a:r>
            <a:r>
              <a:rPr lang="en-US" i="1" dirty="0"/>
              <a:t>r</a:t>
            </a:r>
            <a:r>
              <a:rPr lang="en-US" baseline="30000" dirty="0"/>
              <a:t>  </a:t>
            </a:r>
            <a:r>
              <a:rPr lang="en-US" dirty="0">
                <a:ea typeface="Cambria Math"/>
              </a:rPr>
              <a:t>− </a:t>
            </a:r>
            <a:r>
              <a:rPr lang="en-US" i="1" dirty="0"/>
              <a:t>c</a:t>
            </a:r>
            <a:r>
              <a:rPr lang="en-US" sz="2400" i="1" baseline="-25000" dirty="0"/>
              <a:t>k   </a:t>
            </a:r>
            <a:r>
              <a:rPr lang="en-US" sz="2400" dirty="0"/>
              <a:t>= </a:t>
            </a:r>
            <a:r>
              <a:rPr lang="en-US" sz="2400" dirty="0">
                <a:ea typeface="Cambria Math" pitchFamily="18" charset="0"/>
              </a:rPr>
              <a:t>0</a:t>
            </a:r>
            <a:endParaRPr lang="en-US" dirty="0"/>
          </a:p>
          <a:p>
            <a:endParaRPr lang="en-US" dirty="0"/>
          </a:p>
          <a:p>
            <a:pPr>
              <a:buNone/>
            </a:pPr>
            <a:endParaRPr lang="en-US" dirty="0"/>
          </a:p>
        </p:txBody>
      </p:sp>
    </p:spTree>
    <p:extLst>
      <p:ext uri="{BB962C8B-B14F-4D97-AF65-F5344CB8AC3E}">
        <p14:creationId xmlns:p14="http://schemas.microsoft.com/office/powerpoint/2010/main" val="1810354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A463F-91A3-CB4C-8B6F-414D47585461}"/>
              </a:ext>
            </a:extLst>
          </p:cNvPr>
          <p:cNvSpPr>
            <a:spLocks noGrp="1"/>
          </p:cNvSpPr>
          <p:nvPr>
            <p:ph type="title"/>
          </p:nvPr>
        </p:nvSpPr>
        <p:spPr/>
        <p:txBody>
          <a:bodyPr/>
          <a:lstStyle/>
          <a:p>
            <a:r>
              <a:rPr lang="en-US"/>
              <a:t>Solving </a:t>
            </a:r>
            <a:r>
              <a:rPr lang="en-US" dirty="0"/>
              <a:t>Linear Homogeneous Recurrence Relations</a:t>
            </a:r>
            <a:endParaRPr lang="en-US"/>
          </a:p>
        </p:txBody>
      </p:sp>
      <p:sp>
        <p:nvSpPr>
          <p:cNvPr id="3" name="Content Placeholder 2">
            <a:extLst>
              <a:ext uri="{FF2B5EF4-FFF2-40B4-BE49-F238E27FC236}">
                <a16:creationId xmlns:a16="http://schemas.microsoft.com/office/drawing/2014/main" id="{DB92FD08-B766-7B43-94B3-4D5AF0A12959}"/>
              </a:ext>
            </a:extLst>
          </p:cNvPr>
          <p:cNvSpPr>
            <a:spLocks noGrp="1"/>
          </p:cNvSpPr>
          <p:nvPr>
            <p:ph idx="1"/>
          </p:nvPr>
        </p:nvSpPr>
        <p:spPr/>
        <p:txBody>
          <a:bodyPr/>
          <a:lstStyle/>
          <a:p>
            <a:pPr marL="0" indent="0">
              <a:buNone/>
            </a:pPr>
            <a:r>
              <a:rPr lang="en-US" dirty="0"/>
              <a:t>The sequence {</a:t>
            </a:r>
            <a:r>
              <a:rPr lang="en-US" i="1" dirty="0"/>
              <a:t>a</a:t>
            </a:r>
            <a:r>
              <a:rPr lang="en-US" i="1" baseline="-25000" dirty="0"/>
              <a:t>n</a:t>
            </a:r>
            <a:r>
              <a:rPr lang="en-US" dirty="0"/>
              <a:t>} with </a:t>
            </a:r>
            <a:r>
              <a:rPr lang="en-US" i="1" dirty="0"/>
              <a:t>a</a:t>
            </a:r>
            <a:r>
              <a:rPr lang="en-US" i="1" baseline="-25000" dirty="0"/>
              <a:t>n</a:t>
            </a:r>
            <a:r>
              <a:rPr lang="en-US" dirty="0"/>
              <a:t> = </a:t>
            </a:r>
            <a:r>
              <a:rPr lang="en-US" i="1" dirty="0" err="1"/>
              <a:t>r</a:t>
            </a:r>
            <a:r>
              <a:rPr lang="en-US" i="1" baseline="30000" dirty="0" err="1"/>
              <a:t>n</a:t>
            </a:r>
            <a:r>
              <a:rPr lang="en-US" dirty="0"/>
              <a:t>  is a solution if and only if </a:t>
            </a:r>
            <a:r>
              <a:rPr lang="en-US" i="1" dirty="0"/>
              <a:t>r</a:t>
            </a:r>
            <a:r>
              <a:rPr lang="en-US" dirty="0"/>
              <a:t> is a solution to the characteristic equation. </a:t>
            </a:r>
          </a:p>
          <a:p>
            <a:r>
              <a:rPr lang="en-US" dirty="0"/>
              <a:t>The solutions to the characteristic equation are called the </a:t>
            </a:r>
            <a:r>
              <a:rPr lang="en-US" b="1" dirty="0"/>
              <a:t>characteristic roots </a:t>
            </a:r>
            <a:r>
              <a:rPr lang="en-US" dirty="0"/>
              <a:t>of the recurrence relation. </a:t>
            </a:r>
          </a:p>
          <a:p>
            <a:r>
              <a:rPr lang="en-US" dirty="0"/>
              <a:t>The roots can be used to give an </a:t>
            </a:r>
            <a:r>
              <a:rPr lang="en-US" b="1" dirty="0"/>
              <a:t>closed formula </a:t>
            </a:r>
            <a:r>
              <a:rPr lang="en-US" dirty="0"/>
              <a:t>for the recurrence relation. </a:t>
            </a:r>
          </a:p>
          <a:p>
            <a:endParaRPr lang="en-US"/>
          </a:p>
        </p:txBody>
      </p:sp>
    </p:spTree>
    <p:extLst>
      <p:ext uri="{BB962C8B-B14F-4D97-AF65-F5344CB8AC3E}">
        <p14:creationId xmlns:p14="http://schemas.microsoft.com/office/powerpoint/2010/main" val="640524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a:t>Solving </a:t>
            </a:r>
            <a:r>
              <a:rPr lang="en-US" sz="3600" dirty="0"/>
              <a:t>Linear Homogeneous Recurrence Relations of Degree Two</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a:buNone/>
                </a:pPr>
                <a:r>
                  <a:rPr lang="en-US" b="1" dirty="0"/>
                  <a:t>Theorem </a:t>
                </a:r>
                <a:r>
                  <a:rPr lang="en-US" b="1" dirty="0">
                    <a:ea typeface="Cambria Math" pitchFamily="18" charset="0"/>
                  </a:rPr>
                  <a:t>1</a:t>
                </a:r>
                <a:r>
                  <a:rPr lang="en-US" dirty="0"/>
                  <a:t>:  Let </a:t>
                </a:r>
                <a14:m>
                  <m:oMath xmlns:m="http://schemas.openxmlformats.org/officeDocument/2006/math">
                    <m:r>
                      <a:rPr lang="en-US" i="1" dirty="0">
                        <a:latin typeface="Cambria Math" panose="02040503050406030204" pitchFamily="18" charset="0"/>
                      </a:rPr>
                      <m:t>𝑐</m:t>
                    </m:r>
                    <m:r>
                      <a:rPr lang="en-US" i="1" baseline="-25000" dirty="0">
                        <a:latin typeface="Cambria Math" panose="02040503050406030204" pitchFamily="18" charset="0"/>
                        <a:ea typeface="Cambria Math" pitchFamily="18" charset="0"/>
                      </a:rPr>
                      <m:t>1</m:t>
                    </m:r>
                  </m:oMath>
                </a14:m>
                <a:r>
                  <a:rPr lang="en-US" dirty="0"/>
                  <a:t> and </a:t>
                </a:r>
                <a14:m>
                  <m:oMath xmlns:m="http://schemas.openxmlformats.org/officeDocument/2006/math">
                    <m:r>
                      <a:rPr lang="en-US" i="1" dirty="0">
                        <a:latin typeface="Cambria Math" panose="02040503050406030204" pitchFamily="18" charset="0"/>
                      </a:rPr>
                      <m:t>𝑐</m:t>
                    </m:r>
                    <m:r>
                      <a:rPr lang="en-US" i="1" baseline="-25000" dirty="0">
                        <a:latin typeface="Cambria Math" panose="02040503050406030204" pitchFamily="18" charset="0"/>
                        <a:ea typeface="Cambria Math" pitchFamily="18" charset="0"/>
                      </a:rPr>
                      <m:t>2</m:t>
                    </m:r>
                  </m:oMath>
                </a14:m>
                <a:r>
                  <a:rPr lang="en-US" i="1" dirty="0"/>
                  <a:t> </a:t>
                </a:r>
                <a:r>
                  <a:rPr lang="en-US" dirty="0"/>
                  <a:t>be real numbers. Suppose that </a:t>
                </a:r>
              </a:p>
              <a:p>
                <a:pPr>
                  <a:buNone/>
                </a:pPr>
                <a:r>
                  <a:rPr lang="en-US" dirty="0"/>
                  <a:t>		</a:t>
                </a:r>
                <a14:m>
                  <m:oMath xmlns:m="http://schemas.openxmlformats.org/officeDocument/2006/math">
                    <m:r>
                      <a:rPr lang="en-US" i="1" dirty="0">
                        <a:latin typeface="Cambria Math" panose="02040503050406030204" pitchFamily="18" charset="0"/>
                      </a:rPr>
                      <m:t>𝑟</m:t>
                    </m:r>
                    <m:r>
                      <a:rPr lang="en-US" i="1" baseline="30000" dirty="0">
                        <a:latin typeface="Cambria Math" panose="02040503050406030204" pitchFamily="18" charset="0"/>
                        <a:ea typeface="Cambria Math" pitchFamily="18" charset="0"/>
                      </a:rPr>
                      <m:t>2</m:t>
                    </m:r>
                    <m:r>
                      <a:rPr lang="en-US" i="1" dirty="0">
                        <a:latin typeface="Cambria Math" panose="02040503050406030204" pitchFamily="18" charset="0"/>
                      </a:rPr>
                      <m:t> – </m:t>
                    </m:r>
                    <m:r>
                      <a:rPr lang="en-US" i="1" dirty="0">
                        <a:latin typeface="Cambria Math" panose="02040503050406030204" pitchFamily="18" charset="0"/>
                      </a:rPr>
                      <m:t>𝑐</m:t>
                    </m:r>
                    <m:r>
                      <a:rPr lang="en-US" i="1" baseline="-25000" dirty="0">
                        <a:latin typeface="Cambria Math" panose="02040503050406030204" pitchFamily="18" charset="0"/>
                        <a:ea typeface="Cambria Math" pitchFamily="18" charset="0"/>
                      </a:rPr>
                      <m:t>1</m:t>
                    </m:r>
                    <m:r>
                      <a:rPr lang="en-US" i="1" dirty="0">
                        <a:latin typeface="Cambria Math" panose="02040503050406030204" pitchFamily="18" charset="0"/>
                      </a:rPr>
                      <m:t>𝑟</m:t>
                    </m:r>
                    <m:r>
                      <a:rPr lang="en-US" i="1" dirty="0">
                        <a:latin typeface="Cambria Math" panose="02040503050406030204" pitchFamily="18" charset="0"/>
                      </a:rPr>
                      <m:t> – </m:t>
                    </m:r>
                    <m:r>
                      <a:rPr lang="en-US" i="1" dirty="0">
                        <a:latin typeface="Cambria Math" panose="02040503050406030204" pitchFamily="18" charset="0"/>
                      </a:rPr>
                      <m:t>𝑐</m:t>
                    </m:r>
                    <m:r>
                      <a:rPr lang="en-US" i="1" baseline="-25000" dirty="0">
                        <a:latin typeface="Cambria Math" panose="02040503050406030204" pitchFamily="18" charset="0"/>
                        <a:ea typeface="Cambria Math" pitchFamily="18" charset="0"/>
                      </a:rPr>
                      <m:t>2</m:t>
                    </m:r>
                    <m:r>
                      <a:rPr lang="en-US" i="1" dirty="0">
                        <a:latin typeface="Cambria Math" panose="02040503050406030204" pitchFamily="18" charset="0"/>
                      </a:rPr>
                      <m:t> = </m:t>
                    </m:r>
                    <m:r>
                      <a:rPr lang="en-US" i="1" dirty="0">
                        <a:latin typeface="Cambria Math" panose="02040503050406030204" pitchFamily="18" charset="0"/>
                        <a:ea typeface="Cambria Math" pitchFamily="18" charset="0"/>
                      </a:rPr>
                      <m:t>0</m:t>
                    </m:r>
                  </m:oMath>
                </a14:m>
                <a:br>
                  <a:rPr lang="en-US" i="1" dirty="0"/>
                </a:br>
                <a:br>
                  <a:rPr lang="en-US" i="1" dirty="0"/>
                </a:br>
                <a:r>
                  <a:rPr lang="en-US" dirty="0"/>
                  <a:t>has two distinct roots </a:t>
                </a:r>
                <a14:m>
                  <m:oMath xmlns:m="http://schemas.openxmlformats.org/officeDocument/2006/math">
                    <m:r>
                      <a:rPr lang="en-US" i="1" dirty="0">
                        <a:latin typeface="Cambria Math" panose="02040503050406030204" pitchFamily="18" charset="0"/>
                      </a:rPr>
                      <m:t>𝑟</m:t>
                    </m:r>
                    <m:r>
                      <a:rPr lang="en-US" i="1" baseline="-25000" dirty="0">
                        <a:latin typeface="Cambria Math" panose="02040503050406030204" pitchFamily="18" charset="0"/>
                      </a:rPr>
                      <m:t>1</m:t>
                    </m:r>
                  </m:oMath>
                </a14:m>
                <a:r>
                  <a:rPr lang="en-US" dirty="0"/>
                  <a:t> and </a:t>
                </a:r>
                <a14:m>
                  <m:oMath xmlns:m="http://schemas.openxmlformats.org/officeDocument/2006/math">
                    <m:r>
                      <a:rPr lang="en-US" i="1" dirty="0">
                        <a:latin typeface="Cambria Math" panose="02040503050406030204" pitchFamily="18" charset="0"/>
                      </a:rPr>
                      <m:t>𝑟</m:t>
                    </m:r>
                    <m:r>
                      <a:rPr lang="en-US" i="1" baseline="-25000" dirty="0">
                        <a:latin typeface="Cambria Math" panose="02040503050406030204" pitchFamily="18" charset="0"/>
                      </a:rPr>
                      <m:t>2</m:t>
                    </m:r>
                  </m:oMath>
                </a14:m>
                <a:r>
                  <a:rPr lang="en-US" dirty="0"/>
                  <a:t>. Then the sequence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𝑎𝑛</m:t>
                    </m:r>
                    <m:r>
                      <a:rPr lang="en-US" i="1" dirty="0">
                        <a:latin typeface="Cambria Math" panose="02040503050406030204" pitchFamily="18" charset="0"/>
                      </a:rPr>
                      <m:t>} </m:t>
                    </m:r>
                  </m:oMath>
                </a14:m>
                <a:r>
                  <a:rPr lang="en-US" dirty="0"/>
                  <a:t>is a solution to the recurrence relation </a:t>
                </a:r>
                <a14:m>
                  <m:oMath xmlns:m="http://schemas.openxmlformats.org/officeDocument/2006/math">
                    <m:r>
                      <a:rPr lang="en-US" i="1" dirty="0">
                        <a:latin typeface="Cambria Math" panose="02040503050406030204" pitchFamily="18" charset="0"/>
                      </a:rPr>
                      <m:t>𝑎</m:t>
                    </m:r>
                    <m:r>
                      <a:rPr lang="en-US" i="1" baseline="-25000" dirty="0">
                        <a:latin typeface="Cambria Math" panose="02040503050406030204" pitchFamily="18" charset="0"/>
                      </a:rPr>
                      <m:t>𝑛</m:t>
                    </m:r>
                    <m:r>
                      <a:rPr lang="en-US" i="1" dirty="0">
                        <a:latin typeface="Cambria Math" panose="02040503050406030204" pitchFamily="18" charset="0"/>
                      </a:rPr>
                      <m:t> = </m:t>
                    </m:r>
                    <m:r>
                      <a:rPr lang="en-US" i="1" dirty="0">
                        <a:latin typeface="Cambria Math" panose="02040503050406030204" pitchFamily="18" charset="0"/>
                      </a:rPr>
                      <m:t>𝑐</m:t>
                    </m:r>
                    <m:r>
                      <a:rPr lang="en-US" i="1" baseline="-25000" dirty="0">
                        <a:latin typeface="Cambria Math" panose="02040503050406030204" pitchFamily="18" charset="0"/>
                        <a:ea typeface="Cambria Math" pitchFamily="18" charset="0"/>
                      </a:rPr>
                      <m:t>1</m:t>
                    </m:r>
                    <m:sSub>
                      <m:sSubPr>
                        <m:ctrlPr>
                          <a:rPr lang="en-US" i="1" dirty="0">
                            <a:latin typeface="Cambria Math" panose="02040503050406030204" pitchFamily="18" charset="0"/>
                          </a:rPr>
                        </m:ctrlPr>
                      </m:sSubPr>
                      <m:e>
                        <m:r>
                          <a:rPr lang="fr-CH" b="0" i="1" dirty="0">
                            <a:latin typeface="Cambria Math" panose="02040503050406030204" pitchFamily="18" charset="0"/>
                          </a:rPr>
                          <m:t>𝑎</m:t>
                        </m:r>
                      </m:e>
                      <m:sub>
                        <m:r>
                          <a:rPr lang="fr-CH" b="0" i="1" dirty="0">
                            <a:latin typeface="Cambria Math" panose="02040503050406030204" pitchFamily="18" charset="0"/>
                          </a:rPr>
                          <m:t>𝑛</m:t>
                        </m:r>
                        <m:r>
                          <a:rPr lang="fr-CH" b="0" i="1" dirty="0">
                            <a:latin typeface="Cambria Math" panose="02040503050406030204" pitchFamily="18" charset="0"/>
                          </a:rPr>
                          <m:t>−1</m:t>
                        </m:r>
                      </m:sub>
                    </m:sSub>
                    <m:r>
                      <a:rPr lang="en-US" i="1" dirty="0">
                        <a:latin typeface="Cambria Math" panose="02040503050406030204" pitchFamily="18" charset="0"/>
                      </a:rPr>
                      <m:t> + </m:t>
                    </m:r>
                    <m:r>
                      <a:rPr lang="en-US" i="1" dirty="0">
                        <a:latin typeface="Cambria Math" panose="02040503050406030204" pitchFamily="18" charset="0"/>
                      </a:rPr>
                      <m:t>𝑐</m:t>
                    </m:r>
                    <m:r>
                      <a:rPr lang="en-US" i="1" baseline="-25000" dirty="0">
                        <a:latin typeface="Cambria Math" panose="02040503050406030204" pitchFamily="18" charset="0"/>
                        <a:ea typeface="Cambria Math" pitchFamily="18" charset="0"/>
                      </a:rPr>
                      <m:t>2</m:t>
                    </m:r>
                    <m:sSub>
                      <m:sSubPr>
                        <m:ctrlPr>
                          <a:rPr lang="en-US" i="1" dirty="0">
                            <a:latin typeface="Cambria Math" panose="02040503050406030204" pitchFamily="18" charset="0"/>
                          </a:rPr>
                        </m:ctrlPr>
                      </m:sSubPr>
                      <m:e>
                        <m:r>
                          <a:rPr lang="fr-CH" i="1" dirty="0">
                            <a:latin typeface="Cambria Math" panose="02040503050406030204" pitchFamily="18" charset="0"/>
                          </a:rPr>
                          <m:t>𝑎</m:t>
                        </m:r>
                      </m:e>
                      <m:sub>
                        <m:r>
                          <a:rPr lang="fr-CH" i="1" dirty="0">
                            <a:latin typeface="Cambria Math" panose="02040503050406030204" pitchFamily="18" charset="0"/>
                          </a:rPr>
                          <m:t>𝑛</m:t>
                        </m:r>
                        <m:r>
                          <a:rPr lang="fr-CH" i="1" dirty="0">
                            <a:latin typeface="Cambria Math" panose="02040503050406030204" pitchFamily="18" charset="0"/>
                          </a:rPr>
                          <m:t>−2</m:t>
                        </m:r>
                      </m:sub>
                    </m:sSub>
                  </m:oMath>
                </a14:m>
                <a:r>
                  <a:rPr lang="en-US" dirty="0"/>
                  <a:t> if and only if</a:t>
                </a:r>
              </a:p>
              <a:p>
                <a:pPr marL="0" indent="0">
                  <a:buNone/>
                </a:pPr>
                <a:endParaRPr lang="en-US" dirty="0"/>
              </a:p>
              <a:p>
                <a:endParaRPr lang="en-US" dirty="0"/>
              </a:p>
              <a:p>
                <a:pPr>
                  <a:buNone/>
                </a:pPr>
                <a:r>
                  <a:rPr lang="en-US" dirty="0"/>
                  <a:t>    for </a:t>
                </a:r>
                <a14:m>
                  <m:oMath xmlns:m="http://schemas.openxmlformats.org/officeDocument/2006/math">
                    <m:r>
                      <a:rPr lang="en-US" i="1" dirty="0">
                        <a:latin typeface="Cambria Math" panose="02040503050406030204" pitchFamily="18" charset="0"/>
                      </a:rPr>
                      <m:t>𝑛</m:t>
                    </m:r>
                    <m:r>
                      <a:rPr lang="en-US" i="1" dirty="0">
                        <a:latin typeface="Cambria Math" panose="02040503050406030204" pitchFamily="18" charset="0"/>
                      </a:rPr>
                      <m:t> = 0, 1</m:t>
                    </m:r>
                    <m:r>
                      <a:rPr lang="en-US" i="1" dirty="0">
                        <a:latin typeface="Cambria Math" panose="02040503050406030204" pitchFamily="18" charset="0"/>
                      </a:rPr>
                      <m:t>, </m:t>
                    </m:r>
                    <m:r>
                      <a:rPr lang="en-US" i="1" dirty="0">
                        <a:latin typeface="Cambria Math" panose="02040503050406030204" pitchFamily="18" charset="0"/>
                        <a:ea typeface="Cambria Math" pitchFamily="18" charset="0"/>
                      </a:rPr>
                      <m:t>2</m:t>
                    </m:r>
                    <m:r>
                      <a:rPr lang="en-US" i="1" dirty="0">
                        <a:latin typeface="Cambria Math" panose="02040503050406030204" pitchFamily="18" charset="0"/>
                      </a:rPr>
                      <m:t>,… </m:t>
                    </m:r>
                  </m:oMath>
                </a14:m>
                <a:r>
                  <a:rPr lang="en-US" dirty="0"/>
                  <a:t>, where </a:t>
                </a:r>
                <a14:m>
                  <m:oMath xmlns:m="http://schemas.openxmlformats.org/officeDocument/2006/math">
                    <m:r>
                      <a:rPr lang="el-GR" i="1" dirty="0">
                        <a:latin typeface="Cambria Math" panose="02040503050406030204" pitchFamily="18" charset="0"/>
                      </a:rPr>
                      <m:t>𝛼</m:t>
                    </m:r>
                    <m:r>
                      <a:rPr lang="en-US" i="1" baseline="-25000" dirty="0">
                        <a:latin typeface="Cambria Math" panose="02040503050406030204" pitchFamily="18" charset="0"/>
                        <a:ea typeface="Cambria Math" pitchFamily="18" charset="0"/>
                      </a:rPr>
                      <m:t>1</m:t>
                    </m:r>
                  </m:oMath>
                </a14:m>
                <a:r>
                  <a:rPr lang="en-US" baseline="-25000" dirty="0"/>
                  <a:t> </a:t>
                </a:r>
                <a:r>
                  <a:rPr lang="en-US" dirty="0"/>
                  <a:t>and</a:t>
                </a:r>
                <a:r>
                  <a:rPr lang="en-US" baseline="-25000" dirty="0"/>
                  <a:t> </a:t>
                </a:r>
                <a14:m>
                  <m:oMath xmlns:m="http://schemas.openxmlformats.org/officeDocument/2006/math">
                    <m:r>
                      <a:rPr lang="el-GR" i="1" dirty="0">
                        <a:latin typeface="Cambria Math" panose="02040503050406030204" pitchFamily="18" charset="0"/>
                      </a:rPr>
                      <m:t>𝛼</m:t>
                    </m:r>
                    <m:r>
                      <a:rPr lang="en-US" i="1" baseline="-25000" dirty="0">
                        <a:latin typeface="Cambria Math" panose="02040503050406030204" pitchFamily="18" charset="0"/>
                        <a:ea typeface="Cambria Math" pitchFamily="18" charset="0"/>
                      </a:rPr>
                      <m:t>2</m:t>
                    </m:r>
                    <m:r>
                      <a:rPr lang="en-US" i="1" dirty="0">
                        <a:latin typeface="Cambria Math" panose="02040503050406030204" pitchFamily="18" charset="0"/>
                      </a:rPr>
                      <m:t> </m:t>
                    </m:r>
                  </m:oMath>
                </a14:m>
                <a:r>
                  <a:rPr lang="en-US" dirty="0"/>
                  <a:t>are constants.</a:t>
                </a:r>
                <a:endParaRPr lang="en-US" baseline="-250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86" t="-2632" r="-121"/>
                </a:stretch>
              </a:blipFill>
            </p:spPr>
            <p:txBody>
              <a:bodyPr/>
              <a:lstStyle/>
              <a:p>
                <a:r>
                  <a:rPr lang="en-US">
                    <a:noFill/>
                  </a:rPr>
                  <a:t> </a:t>
                </a:r>
              </a:p>
            </p:txBody>
          </p:sp>
        </mc:Fallback>
      </mc:AlternateContent>
      <p:pic>
        <p:nvPicPr>
          <p:cNvPr id="5" name="Picture 4" descr="addin_tmp.png"/>
          <p:cNvPicPr>
            <a:picLocks noChangeAspect="1"/>
          </p:cNvPicPr>
          <p:nvPr>
            <p:custDataLst>
              <p:tags r:id="rId1"/>
            </p:custDataLst>
          </p:nvPr>
        </p:nvPicPr>
        <p:blipFill>
          <a:blip r:embed="rId4" cstate="print"/>
          <a:stretch>
            <a:fillRect/>
          </a:stretch>
        </p:blipFill>
        <p:spPr>
          <a:xfrm>
            <a:off x="1750141" y="4144298"/>
            <a:ext cx="2768918" cy="348615"/>
          </a:xfrm>
          <a:prstGeom prst="rect">
            <a:avLst/>
          </a:prstGeom>
        </p:spPr>
      </p:pic>
    </p:spTree>
    <p:extLst>
      <p:ext uri="{BB962C8B-B14F-4D97-AF65-F5344CB8AC3E}">
        <p14:creationId xmlns:p14="http://schemas.microsoft.com/office/powerpoint/2010/main" val="31580067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fontScale="92500" lnSpcReduction="20000"/>
          </a:bodyPr>
          <a:lstStyle/>
          <a:p>
            <a:pPr>
              <a:buNone/>
            </a:pPr>
            <a:r>
              <a:rPr lang="en-US" dirty="0"/>
              <a:t>What is the solution to the recurrence relation </a:t>
            </a:r>
            <a:r>
              <a:rPr lang="en-US" i="1" dirty="0"/>
              <a:t>a</a:t>
            </a:r>
            <a:r>
              <a:rPr lang="en-US" i="1" baseline="-25000" dirty="0"/>
              <a:t>n</a:t>
            </a:r>
            <a:r>
              <a:rPr lang="en-US" dirty="0"/>
              <a:t> = </a:t>
            </a:r>
            <a:r>
              <a:rPr lang="en-US" i="1" dirty="0"/>
              <a:t>a</a:t>
            </a:r>
            <a:r>
              <a:rPr lang="en-US" i="1" baseline="-25000" dirty="0"/>
              <a:t>n</a:t>
            </a:r>
            <a:r>
              <a:rPr lang="en-US" baseline="-25000" dirty="0">
                <a:ea typeface="Cambria Math"/>
              </a:rPr>
              <a:t>−</a:t>
            </a:r>
            <a:r>
              <a:rPr lang="en-US" baseline="-25000" dirty="0">
                <a:ea typeface="Cambria Math" pitchFamily="18" charset="0"/>
              </a:rPr>
              <a:t>1</a:t>
            </a:r>
            <a:r>
              <a:rPr lang="en-US" dirty="0"/>
              <a:t> + </a:t>
            </a:r>
            <a:r>
              <a:rPr lang="en-US" dirty="0">
                <a:ea typeface="Cambria Math" pitchFamily="18" charset="0"/>
              </a:rPr>
              <a:t>2</a:t>
            </a:r>
            <a:r>
              <a:rPr lang="en-US" i="1" dirty="0"/>
              <a:t>a</a:t>
            </a:r>
            <a:r>
              <a:rPr lang="en-US" i="1" baseline="-25000" dirty="0"/>
              <a:t>n</a:t>
            </a:r>
            <a:r>
              <a:rPr lang="en-US" baseline="-25000" dirty="0">
                <a:ea typeface="Cambria Math"/>
              </a:rPr>
              <a:t>−</a:t>
            </a:r>
            <a:r>
              <a:rPr lang="en-US" baseline="-25000" dirty="0">
                <a:ea typeface="Cambria Math" pitchFamily="18" charset="0"/>
              </a:rPr>
              <a:t>2</a:t>
            </a:r>
            <a:r>
              <a:rPr lang="en-US" dirty="0"/>
              <a:t> with </a:t>
            </a:r>
            <a:r>
              <a:rPr lang="en-US" i="1" dirty="0"/>
              <a:t>a</a:t>
            </a:r>
            <a:r>
              <a:rPr lang="en-US" baseline="-25000" dirty="0">
                <a:ea typeface="Cambria Math" pitchFamily="18" charset="0"/>
              </a:rPr>
              <a:t>0</a:t>
            </a:r>
            <a:r>
              <a:rPr lang="en-US" dirty="0"/>
              <a:t> = </a:t>
            </a:r>
            <a:r>
              <a:rPr lang="en-US" dirty="0">
                <a:ea typeface="Cambria Math" pitchFamily="18" charset="0"/>
              </a:rPr>
              <a:t>2</a:t>
            </a:r>
            <a:r>
              <a:rPr lang="en-US" dirty="0"/>
              <a:t> and </a:t>
            </a:r>
            <a:r>
              <a:rPr lang="en-US" i="1" dirty="0">
                <a:ea typeface="Cambria Math" pitchFamily="18" charset="0"/>
              </a:rPr>
              <a:t>a</a:t>
            </a:r>
            <a:r>
              <a:rPr lang="en-US" baseline="-25000" dirty="0">
                <a:ea typeface="Cambria Math" pitchFamily="18" charset="0"/>
              </a:rPr>
              <a:t>1</a:t>
            </a:r>
            <a:r>
              <a:rPr lang="en-US" dirty="0"/>
              <a:t> = </a:t>
            </a:r>
            <a:r>
              <a:rPr lang="en-US" dirty="0">
                <a:ea typeface="Cambria Math" pitchFamily="18" charset="0"/>
              </a:rPr>
              <a:t>7</a:t>
            </a:r>
            <a:r>
              <a:rPr lang="en-US" dirty="0"/>
              <a:t>? </a:t>
            </a:r>
          </a:p>
          <a:p>
            <a:pPr>
              <a:buNone/>
            </a:pPr>
            <a:endParaRPr lang="en-US" dirty="0"/>
          </a:p>
          <a:p>
            <a:pPr>
              <a:buNone/>
            </a:pPr>
            <a:r>
              <a:rPr lang="en-US" dirty="0"/>
              <a:t>The characteristic equation is  </a:t>
            </a:r>
            <a:r>
              <a:rPr lang="en-US" i="1" dirty="0"/>
              <a:t>r</a:t>
            </a:r>
            <a:r>
              <a:rPr lang="en-US" baseline="30000" dirty="0">
                <a:ea typeface="Cambria Math" pitchFamily="18" charset="0"/>
              </a:rPr>
              <a:t>2</a:t>
            </a:r>
            <a:r>
              <a:rPr lang="en-US" i="1" dirty="0"/>
              <a:t> </a:t>
            </a:r>
            <a:r>
              <a:rPr lang="en-US" i="1" dirty="0">
                <a:ea typeface="Cambria Math"/>
              </a:rPr>
              <a:t>−</a:t>
            </a:r>
            <a:r>
              <a:rPr lang="en-US" i="1" dirty="0"/>
              <a:t>  r </a:t>
            </a:r>
            <a:r>
              <a:rPr lang="en-US" i="1" dirty="0">
                <a:ea typeface="Cambria Math"/>
              </a:rPr>
              <a:t>−</a:t>
            </a:r>
            <a:r>
              <a:rPr lang="en-US" i="1" dirty="0"/>
              <a:t> </a:t>
            </a:r>
            <a:r>
              <a:rPr lang="en-US" dirty="0">
                <a:ea typeface="Cambria Math" pitchFamily="18" charset="0"/>
              </a:rPr>
              <a:t>2</a:t>
            </a:r>
            <a:r>
              <a:rPr lang="en-US" i="1" dirty="0"/>
              <a:t> = </a:t>
            </a:r>
            <a:r>
              <a:rPr lang="en-US" dirty="0">
                <a:ea typeface="Cambria Math" pitchFamily="18" charset="0"/>
              </a:rPr>
              <a:t>0. </a:t>
            </a:r>
            <a:r>
              <a:rPr lang="en-US" i="1" dirty="0"/>
              <a:t>  </a:t>
            </a:r>
          </a:p>
          <a:p>
            <a:pPr>
              <a:buNone/>
            </a:pPr>
            <a:r>
              <a:rPr lang="en-US" dirty="0"/>
              <a:t>Its roots are </a:t>
            </a:r>
            <a:r>
              <a:rPr lang="en-US" i="1" dirty="0"/>
              <a:t>r = </a:t>
            </a:r>
            <a:r>
              <a:rPr lang="en-US" dirty="0">
                <a:ea typeface="Cambria Math" pitchFamily="18" charset="0"/>
              </a:rPr>
              <a:t>2 </a:t>
            </a:r>
            <a:r>
              <a:rPr lang="en-US" dirty="0"/>
              <a:t>and </a:t>
            </a:r>
            <a:r>
              <a:rPr lang="en-US" i="1" dirty="0"/>
              <a:t>r = </a:t>
            </a:r>
            <a:r>
              <a:rPr lang="en-US" i="1" dirty="0">
                <a:ea typeface="Cambria Math"/>
              </a:rPr>
              <a:t>−</a:t>
            </a:r>
            <a:r>
              <a:rPr lang="en-US" dirty="0">
                <a:ea typeface="Cambria Math" pitchFamily="18" charset="0"/>
              </a:rPr>
              <a:t>1</a:t>
            </a:r>
            <a:r>
              <a:rPr lang="en-US" i="1" dirty="0"/>
              <a:t> . </a:t>
            </a:r>
          </a:p>
          <a:p>
            <a:pPr>
              <a:buNone/>
            </a:pPr>
            <a:r>
              <a:rPr lang="en-US" dirty="0"/>
              <a:t>Therefore, {</a:t>
            </a:r>
            <a:r>
              <a:rPr lang="en-US" i="1" dirty="0"/>
              <a:t>a</a:t>
            </a:r>
            <a:r>
              <a:rPr lang="en-US" i="1" baseline="-25000" dirty="0"/>
              <a:t>n</a:t>
            </a:r>
            <a:r>
              <a:rPr lang="en-US" dirty="0"/>
              <a:t>}</a:t>
            </a:r>
            <a:r>
              <a:rPr lang="en-US" i="1" dirty="0"/>
              <a:t> </a:t>
            </a:r>
            <a:r>
              <a:rPr lang="en-US" dirty="0"/>
              <a:t>is a solution to the recurrence relation if and only if  </a:t>
            </a:r>
            <a:br>
              <a:rPr lang="en-US" dirty="0"/>
            </a:br>
            <a:r>
              <a:rPr lang="en-US" i="1" dirty="0"/>
              <a:t>a</a:t>
            </a:r>
            <a:r>
              <a:rPr lang="en-US" i="1" baseline="-25000" dirty="0"/>
              <a:t>n</a:t>
            </a:r>
            <a:r>
              <a:rPr lang="en-US" i="1" dirty="0"/>
              <a:t> = </a:t>
            </a:r>
            <a:r>
              <a:rPr lang="el-GR" i="1" dirty="0"/>
              <a:t>α</a:t>
            </a:r>
            <a:r>
              <a:rPr lang="en-US" baseline="-25000" dirty="0">
                <a:ea typeface="Cambria Math" pitchFamily="18" charset="0"/>
              </a:rPr>
              <a:t>1</a:t>
            </a:r>
            <a:r>
              <a:rPr lang="en-US" dirty="0">
                <a:ea typeface="Cambria Math" pitchFamily="18" charset="0"/>
              </a:rPr>
              <a:t>2</a:t>
            </a:r>
            <a:r>
              <a:rPr lang="en-US" i="1" baseline="30000" dirty="0"/>
              <a:t>n</a:t>
            </a:r>
            <a:r>
              <a:rPr lang="en-US" i="1" dirty="0"/>
              <a:t> + </a:t>
            </a:r>
            <a:r>
              <a:rPr lang="el-GR" i="1" dirty="0"/>
              <a:t>α</a:t>
            </a:r>
            <a:r>
              <a:rPr lang="en-US" baseline="-25000" dirty="0">
                <a:ea typeface="Cambria Math" pitchFamily="18" charset="0"/>
              </a:rPr>
              <a:t>2</a:t>
            </a:r>
            <a:r>
              <a:rPr lang="en-US" dirty="0"/>
              <a:t>(</a:t>
            </a:r>
            <a:r>
              <a:rPr lang="en-US" i="1" dirty="0">
                <a:ea typeface="Cambria Math"/>
              </a:rPr>
              <a:t>−</a:t>
            </a:r>
            <a:r>
              <a:rPr lang="en-US" dirty="0">
                <a:ea typeface="Cambria Math" pitchFamily="18" charset="0"/>
              </a:rPr>
              <a:t>1</a:t>
            </a:r>
            <a:r>
              <a:rPr lang="en-US" i="1" dirty="0"/>
              <a:t>)</a:t>
            </a:r>
            <a:r>
              <a:rPr lang="en-US" i="1" baseline="30000" dirty="0"/>
              <a:t>n</a:t>
            </a:r>
            <a:r>
              <a:rPr lang="en-US" dirty="0"/>
              <a:t>, for some constants </a:t>
            </a:r>
            <a:r>
              <a:rPr lang="el-GR" i="1" dirty="0"/>
              <a:t>α</a:t>
            </a:r>
            <a:r>
              <a:rPr lang="en-US" baseline="-25000" dirty="0">
                <a:ea typeface="Cambria Math" pitchFamily="18" charset="0"/>
              </a:rPr>
              <a:t>1</a:t>
            </a:r>
            <a:r>
              <a:rPr lang="en-US" i="1" dirty="0"/>
              <a:t> </a:t>
            </a:r>
            <a:r>
              <a:rPr lang="en-US" dirty="0"/>
              <a:t>and</a:t>
            </a:r>
            <a:r>
              <a:rPr lang="en-US" i="1" dirty="0"/>
              <a:t> </a:t>
            </a:r>
            <a:r>
              <a:rPr lang="el-GR" i="1" dirty="0"/>
              <a:t>α</a:t>
            </a:r>
            <a:r>
              <a:rPr lang="en-US" baseline="-25000" dirty="0">
                <a:ea typeface="Cambria Math" pitchFamily="18" charset="0"/>
              </a:rPr>
              <a:t>2</a:t>
            </a:r>
            <a:r>
              <a:rPr lang="en-US" dirty="0"/>
              <a:t>.</a:t>
            </a:r>
          </a:p>
          <a:p>
            <a:pPr>
              <a:buNone/>
            </a:pPr>
            <a:r>
              <a:rPr lang="en-US" dirty="0"/>
              <a:t>To find the constants  </a:t>
            </a:r>
            <a:r>
              <a:rPr lang="el-GR" dirty="0"/>
              <a:t>α</a:t>
            </a:r>
            <a:r>
              <a:rPr lang="en-US" baseline="-25000" dirty="0">
                <a:ea typeface="Cambria Math" pitchFamily="18" charset="0"/>
              </a:rPr>
              <a:t>1</a:t>
            </a:r>
            <a:r>
              <a:rPr lang="en-US" dirty="0"/>
              <a:t> and </a:t>
            </a:r>
            <a:r>
              <a:rPr lang="el-GR" dirty="0"/>
              <a:t>α</a:t>
            </a:r>
            <a:r>
              <a:rPr lang="en-US" baseline="-25000" dirty="0">
                <a:ea typeface="Cambria Math" pitchFamily="18" charset="0"/>
              </a:rPr>
              <a:t>2</a:t>
            </a:r>
            <a:r>
              <a:rPr lang="en-US" dirty="0"/>
              <a:t>, note that</a:t>
            </a:r>
          </a:p>
          <a:p>
            <a:pPr>
              <a:buNone/>
            </a:pPr>
            <a:r>
              <a:rPr lang="en-US" dirty="0"/>
              <a:t>            </a:t>
            </a:r>
            <a:r>
              <a:rPr lang="en-US" i="1" dirty="0"/>
              <a:t>a</a:t>
            </a:r>
            <a:r>
              <a:rPr lang="en-US" baseline="-25000" dirty="0">
                <a:ea typeface="Cambria Math" pitchFamily="18" charset="0"/>
              </a:rPr>
              <a:t>0</a:t>
            </a:r>
            <a:r>
              <a:rPr lang="en-US" dirty="0"/>
              <a:t> = </a:t>
            </a:r>
            <a:r>
              <a:rPr lang="en-US" dirty="0">
                <a:ea typeface="Cambria Math" pitchFamily="18" charset="0"/>
              </a:rPr>
              <a:t>2</a:t>
            </a:r>
            <a:r>
              <a:rPr lang="en-US" dirty="0"/>
              <a:t> = </a:t>
            </a:r>
            <a:r>
              <a:rPr lang="el-GR" i="1" dirty="0"/>
              <a:t>α</a:t>
            </a:r>
            <a:r>
              <a:rPr lang="en-US" baseline="-25000" dirty="0">
                <a:ea typeface="Cambria Math" pitchFamily="18" charset="0"/>
              </a:rPr>
              <a:t>1</a:t>
            </a:r>
            <a:r>
              <a:rPr lang="en-US" i="1" dirty="0"/>
              <a:t> + </a:t>
            </a:r>
            <a:r>
              <a:rPr lang="el-GR" i="1" dirty="0"/>
              <a:t>α</a:t>
            </a:r>
            <a:r>
              <a:rPr lang="en-US" baseline="-25000" dirty="0">
                <a:ea typeface="Cambria Math" pitchFamily="18" charset="0"/>
              </a:rPr>
              <a:t>2</a:t>
            </a:r>
            <a:r>
              <a:rPr lang="en-US" dirty="0"/>
              <a:t>  and  </a:t>
            </a:r>
            <a:r>
              <a:rPr lang="en-US" i="1" dirty="0"/>
              <a:t>a</a:t>
            </a:r>
            <a:r>
              <a:rPr lang="en-US" baseline="-25000" dirty="0">
                <a:ea typeface="Cambria Math" pitchFamily="18" charset="0"/>
              </a:rPr>
              <a:t>1</a:t>
            </a:r>
            <a:r>
              <a:rPr lang="en-US" dirty="0"/>
              <a:t> = </a:t>
            </a:r>
            <a:r>
              <a:rPr lang="en-US" dirty="0">
                <a:ea typeface="Cambria Math" pitchFamily="18" charset="0"/>
              </a:rPr>
              <a:t>7</a:t>
            </a:r>
            <a:r>
              <a:rPr lang="en-US" dirty="0"/>
              <a:t> = </a:t>
            </a:r>
            <a:r>
              <a:rPr lang="el-GR" dirty="0"/>
              <a:t>α</a:t>
            </a:r>
            <a:r>
              <a:rPr lang="en-US" baseline="-25000" dirty="0">
                <a:ea typeface="Cambria Math" pitchFamily="18" charset="0"/>
              </a:rPr>
              <a:t>1</a:t>
            </a:r>
            <a:r>
              <a:rPr lang="en-US" dirty="0">
                <a:ea typeface="Cambria Math" pitchFamily="18" charset="0"/>
              </a:rPr>
              <a:t>2</a:t>
            </a:r>
            <a:r>
              <a:rPr lang="en-US" dirty="0"/>
              <a:t> + </a:t>
            </a:r>
            <a:r>
              <a:rPr lang="el-GR" dirty="0"/>
              <a:t>α</a:t>
            </a:r>
            <a:r>
              <a:rPr lang="en-US" baseline="-25000" dirty="0">
                <a:ea typeface="Cambria Math" pitchFamily="18" charset="0"/>
              </a:rPr>
              <a:t>2</a:t>
            </a:r>
            <a:r>
              <a:rPr lang="en-US" dirty="0"/>
              <a:t>(</a:t>
            </a:r>
            <a:r>
              <a:rPr lang="en-US" dirty="0">
                <a:ea typeface="Cambria Math"/>
              </a:rPr>
              <a:t>−</a:t>
            </a:r>
            <a:r>
              <a:rPr lang="en-US" dirty="0">
                <a:ea typeface="Cambria Math" pitchFamily="18" charset="0"/>
              </a:rPr>
              <a:t>1</a:t>
            </a:r>
            <a:r>
              <a:rPr lang="en-US" dirty="0"/>
              <a:t>).</a:t>
            </a:r>
          </a:p>
          <a:p>
            <a:pPr>
              <a:buNone/>
            </a:pPr>
            <a:r>
              <a:rPr lang="en-US" dirty="0"/>
              <a:t>Solving these equations, we find that  </a:t>
            </a:r>
            <a:r>
              <a:rPr lang="el-GR" dirty="0"/>
              <a:t>α</a:t>
            </a:r>
            <a:r>
              <a:rPr lang="en-US" baseline="-25000" dirty="0">
                <a:ea typeface="Cambria Math" pitchFamily="18" charset="0"/>
              </a:rPr>
              <a:t>1</a:t>
            </a:r>
            <a:r>
              <a:rPr lang="en-US" baseline="-25000" dirty="0"/>
              <a:t> </a:t>
            </a:r>
            <a:r>
              <a:rPr lang="en-US" dirty="0"/>
              <a:t> = </a:t>
            </a:r>
            <a:r>
              <a:rPr lang="en-US" dirty="0">
                <a:ea typeface="Cambria Math" pitchFamily="18" charset="0"/>
              </a:rPr>
              <a:t>3</a:t>
            </a:r>
            <a:r>
              <a:rPr lang="en-US" dirty="0"/>
              <a:t> and </a:t>
            </a:r>
            <a:r>
              <a:rPr lang="el-GR" dirty="0"/>
              <a:t>α</a:t>
            </a:r>
            <a:r>
              <a:rPr lang="en-US" baseline="-25000" dirty="0">
                <a:ea typeface="Cambria Math" pitchFamily="18" charset="0"/>
              </a:rPr>
              <a:t>2</a:t>
            </a:r>
            <a:r>
              <a:rPr lang="en-US" baseline="-25000" dirty="0"/>
              <a:t> </a:t>
            </a:r>
            <a:r>
              <a:rPr lang="en-US" dirty="0"/>
              <a:t> = </a:t>
            </a:r>
            <a:r>
              <a:rPr lang="en-US" dirty="0">
                <a:ea typeface="Cambria Math"/>
              </a:rPr>
              <a:t>−</a:t>
            </a:r>
            <a:r>
              <a:rPr lang="en-US" dirty="0">
                <a:ea typeface="Cambria Math" pitchFamily="18" charset="0"/>
              </a:rPr>
              <a:t>1. </a:t>
            </a:r>
            <a:r>
              <a:rPr lang="en-US" dirty="0"/>
              <a:t> </a:t>
            </a:r>
            <a:endParaRPr lang="en-US" baseline="-25000" dirty="0"/>
          </a:p>
          <a:p>
            <a:pPr>
              <a:buNone/>
            </a:pPr>
            <a:r>
              <a:rPr lang="en-US" dirty="0"/>
              <a:t>Hence, the solution is the sequence {</a:t>
            </a:r>
            <a:r>
              <a:rPr lang="en-US" i="1" dirty="0"/>
              <a:t>a</a:t>
            </a:r>
            <a:r>
              <a:rPr lang="en-US" i="1" baseline="-25000" dirty="0"/>
              <a:t>n</a:t>
            </a:r>
            <a:r>
              <a:rPr lang="en-US" dirty="0"/>
              <a:t>}</a:t>
            </a:r>
            <a:r>
              <a:rPr lang="en-US" i="1" dirty="0"/>
              <a:t> </a:t>
            </a:r>
            <a:r>
              <a:rPr lang="en-US" dirty="0"/>
              <a:t>with   </a:t>
            </a:r>
            <a:r>
              <a:rPr lang="en-US" i="1" dirty="0"/>
              <a:t>a</a:t>
            </a:r>
            <a:r>
              <a:rPr lang="en-US" i="1" baseline="-25000" dirty="0"/>
              <a:t>n</a:t>
            </a:r>
            <a:r>
              <a:rPr lang="en-US" dirty="0"/>
              <a:t> = </a:t>
            </a:r>
            <a:r>
              <a:rPr lang="en-US" dirty="0">
                <a:ea typeface="Cambria Math" pitchFamily="18" charset="0"/>
              </a:rPr>
              <a:t>3∙2</a:t>
            </a:r>
            <a:r>
              <a:rPr lang="en-US" i="1" baseline="30000" dirty="0"/>
              <a:t>n</a:t>
            </a:r>
            <a:r>
              <a:rPr lang="en-US" dirty="0"/>
              <a:t> </a:t>
            </a:r>
            <a:r>
              <a:rPr lang="en-US" dirty="0">
                <a:ea typeface="Cambria Math"/>
              </a:rPr>
              <a:t>−</a:t>
            </a:r>
            <a:r>
              <a:rPr lang="en-US" dirty="0"/>
              <a:t> (</a:t>
            </a:r>
            <a:r>
              <a:rPr lang="en-US" dirty="0">
                <a:ea typeface="Cambria Math"/>
              </a:rPr>
              <a:t>−</a:t>
            </a:r>
            <a:r>
              <a:rPr lang="en-US" dirty="0">
                <a:ea typeface="Cambria Math" pitchFamily="18" charset="0"/>
              </a:rPr>
              <a:t>1</a:t>
            </a:r>
            <a:r>
              <a:rPr lang="en-US" dirty="0"/>
              <a:t>)</a:t>
            </a:r>
            <a:r>
              <a:rPr lang="en-US" i="1" baseline="30000" dirty="0"/>
              <a:t>n</a:t>
            </a:r>
            <a:r>
              <a:rPr lang="en-US" dirty="0"/>
              <a:t>.</a:t>
            </a:r>
          </a:p>
        </p:txBody>
      </p:sp>
    </p:spTree>
    <p:extLst>
      <p:ext uri="{BB962C8B-B14F-4D97-AF65-F5344CB8AC3E}">
        <p14:creationId xmlns:p14="http://schemas.microsoft.com/office/powerpoint/2010/main" val="21825466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9545-3C54-6B40-B374-67F1B7E6A10D}"/>
              </a:ext>
            </a:extLst>
          </p:cNvPr>
          <p:cNvSpPr>
            <a:spLocks noGrp="1"/>
          </p:cNvSpPr>
          <p:nvPr>
            <p:ph type="title"/>
          </p:nvPr>
        </p:nvSpPr>
        <p:spPr/>
        <p:txBody>
          <a:bodyPr/>
          <a:lstStyle/>
          <a:p>
            <a:r>
              <a:rPr lang="en-US"/>
              <a:t>Example: Fibonacci Numbers</a:t>
            </a:r>
          </a:p>
        </p:txBody>
      </p:sp>
      <p:sp>
        <p:nvSpPr>
          <p:cNvPr id="3" name="Content Placeholder 2">
            <a:extLst>
              <a:ext uri="{FF2B5EF4-FFF2-40B4-BE49-F238E27FC236}">
                <a16:creationId xmlns:a16="http://schemas.microsoft.com/office/drawing/2014/main" id="{16745695-A2B7-2448-A6EE-404600CF008C}"/>
              </a:ext>
            </a:extLst>
          </p:cNvPr>
          <p:cNvSpPr>
            <a:spLocks noGrp="1"/>
          </p:cNvSpPr>
          <p:nvPr>
            <p:ph idx="1"/>
          </p:nvPr>
        </p:nvSpPr>
        <p:spPr/>
        <p:txBody>
          <a:bodyPr>
            <a:normAutofit fontScale="70000" lnSpcReduction="20000"/>
          </a:bodyPr>
          <a:lstStyle/>
          <a:p>
            <a:pPr marL="0" indent="0">
              <a:lnSpc>
                <a:spcPct val="120000"/>
              </a:lnSpc>
              <a:buNone/>
            </a:pPr>
            <a:r>
              <a:rPr lang="en-US" sz="2900" dirty="0"/>
              <a:t>The sequence of Fibonacci numbers satisfies the recurrence relation   </a:t>
            </a:r>
            <a:br>
              <a:rPr lang="en-US" sz="2900" dirty="0"/>
            </a:br>
            <a:r>
              <a:rPr lang="en-US" sz="2900" dirty="0"/>
              <a:t>	</a:t>
            </a:r>
            <a:r>
              <a:rPr lang="en-US" sz="2900" i="1" dirty="0"/>
              <a:t>f</a:t>
            </a:r>
            <a:r>
              <a:rPr lang="en-US" sz="2900" i="1" baseline="-25000" dirty="0"/>
              <a:t>n</a:t>
            </a:r>
            <a:r>
              <a:rPr lang="en-US" sz="2900" i="1" dirty="0"/>
              <a:t> = f</a:t>
            </a:r>
            <a:r>
              <a:rPr lang="en-US" sz="2900" i="1" baseline="-25000" dirty="0"/>
              <a:t>n</a:t>
            </a:r>
            <a:r>
              <a:rPr lang="en-US" sz="2900" i="1" baseline="-25000" dirty="0">
                <a:ea typeface="Cambria Math"/>
              </a:rPr>
              <a:t>−</a:t>
            </a:r>
            <a:r>
              <a:rPr lang="en-US" sz="2900" baseline="-25000" dirty="0">
                <a:ea typeface="Cambria Math" pitchFamily="18" charset="0"/>
              </a:rPr>
              <a:t>1</a:t>
            </a:r>
            <a:r>
              <a:rPr lang="en-US" sz="2900" i="1" dirty="0"/>
              <a:t> +  f</a:t>
            </a:r>
            <a:r>
              <a:rPr lang="en-US" sz="2900" i="1" baseline="-25000" dirty="0"/>
              <a:t>n</a:t>
            </a:r>
            <a:r>
              <a:rPr lang="en-US" sz="2900" i="1" baseline="-25000" dirty="0">
                <a:ea typeface="Cambria Math"/>
              </a:rPr>
              <a:t>−</a:t>
            </a:r>
            <a:r>
              <a:rPr lang="en-US" sz="2900" baseline="-25000" dirty="0">
                <a:ea typeface="Cambria Math" pitchFamily="18" charset="0"/>
              </a:rPr>
              <a:t>2</a:t>
            </a:r>
            <a:r>
              <a:rPr lang="en-US" sz="2900" dirty="0"/>
              <a:t> with the initial conditions:</a:t>
            </a:r>
            <a:r>
              <a:rPr lang="en-US" sz="2900" i="1" baseline="-25000" dirty="0"/>
              <a:t> </a:t>
            </a:r>
            <a:r>
              <a:rPr lang="en-US" sz="2900" i="1" dirty="0"/>
              <a:t> f</a:t>
            </a:r>
            <a:r>
              <a:rPr lang="en-US" sz="2900" baseline="-25000" dirty="0">
                <a:ea typeface="Cambria Math" pitchFamily="18" charset="0"/>
              </a:rPr>
              <a:t>0</a:t>
            </a:r>
            <a:r>
              <a:rPr lang="en-US" sz="2900" i="1" dirty="0"/>
              <a:t> = </a:t>
            </a:r>
            <a:r>
              <a:rPr lang="en-US" sz="2900" dirty="0">
                <a:ea typeface="Cambria Math" pitchFamily="18" charset="0"/>
              </a:rPr>
              <a:t>0  </a:t>
            </a:r>
            <a:r>
              <a:rPr lang="en-US" sz="2900" dirty="0"/>
              <a:t>and </a:t>
            </a:r>
            <a:r>
              <a:rPr lang="en-US" sz="2900" i="1" dirty="0"/>
              <a:t>f</a:t>
            </a:r>
            <a:r>
              <a:rPr lang="en-US" sz="2900" baseline="-25000" dirty="0">
                <a:ea typeface="Cambria Math" pitchFamily="18" charset="0"/>
              </a:rPr>
              <a:t>1</a:t>
            </a:r>
            <a:r>
              <a:rPr lang="en-US" sz="2900" i="1" dirty="0"/>
              <a:t> = </a:t>
            </a:r>
            <a:r>
              <a:rPr lang="en-US" sz="2900" dirty="0">
                <a:ea typeface="Cambria Math" pitchFamily="18" charset="0"/>
              </a:rPr>
              <a:t>1</a:t>
            </a:r>
            <a:r>
              <a:rPr lang="en-US" sz="2900" dirty="0"/>
              <a:t>.</a:t>
            </a:r>
          </a:p>
          <a:p>
            <a:pPr marL="0" indent="0">
              <a:lnSpc>
                <a:spcPct val="120000"/>
              </a:lnSpc>
              <a:buNone/>
            </a:pPr>
            <a:r>
              <a:rPr lang="en-US" sz="2900" dirty="0"/>
              <a:t>The characteristic equation is	</a:t>
            </a:r>
            <a:r>
              <a:rPr lang="en-US" sz="2900" i="1" dirty="0"/>
              <a:t>r</a:t>
            </a:r>
            <a:r>
              <a:rPr lang="en-US" sz="2900" baseline="30000" dirty="0">
                <a:ea typeface="Cambria Math" pitchFamily="18" charset="0"/>
              </a:rPr>
              <a:t>2</a:t>
            </a:r>
            <a:r>
              <a:rPr lang="en-US" sz="2900" dirty="0">
                <a:ea typeface="Cambria Math" pitchFamily="18" charset="0"/>
              </a:rPr>
              <a:t> </a:t>
            </a:r>
            <a:r>
              <a:rPr lang="en-US" sz="2900" i="1" dirty="0"/>
              <a:t>– r – </a:t>
            </a:r>
            <a:r>
              <a:rPr lang="en-US" sz="2900" dirty="0">
                <a:ea typeface="Cambria Math" pitchFamily="18" charset="0"/>
              </a:rPr>
              <a:t>1</a:t>
            </a:r>
          </a:p>
          <a:p>
            <a:pPr marL="0" indent="0">
              <a:lnSpc>
                <a:spcPct val="120000"/>
              </a:lnSpc>
              <a:buNone/>
            </a:pPr>
            <a:r>
              <a:rPr lang="en-US" sz="2900" dirty="0">
                <a:ea typeface="Cambria Math" pitchFamily="18" charset="0"/>
              </a:rPr>
              <a:t>And it’s roots are</a:t>
            </a:r>
          </a:p>
          <a:p>
            <a:pPr marL="0" indent="0">
              <a:lnSpc>
                <a:spcPct val="120000"/>
              </a:lnSpc>
              <a:buNone/>
            </a:pPr>
            <a:r>
              <a:rPr lang="en-US" sz="2900" dirty="0">
                <a:ea typeface="Cambria Math" pitchFamily="18" charset="0"/>
              </a:rPr>
              <a:t>Therefore</a:t>
            </a:r>
          </a:p>
          <a:p>
            <a:pPr marL="0" indent="0">
              <a:lnSpc>
                <a:spcPct val="120000"/>
              </a:lnSpc>
              <a:buNone/>
            </a:pPr>
            <a:r>
              <a:rPr lang="en-US" sz="2900" dirty="0"/>
              <a:t>Using the initial conditions </a:t>
            </a:r>
            <a:r>
              <a:rPr lang="en-US" sz="2900" i="1" dirty="0"/>
              <a:t>f</a:t>
            </a:r>
            <a:r>
              <a:rPr lang="en-US" sz="2900" baseline="-25000" dirty="0">
                <a:ea typeface="Cambria Math" pitchFamily="18" charset="0"/>
              </a:rPr>
              <a:t>0</a:t>
            </a:r>
            <a:r>
              <a:rPr lang="en-US" sz="2900" i="1" dirty="0"/>
              <a:t> = </a:t>
            </a:r>
            <a:r>
              <a:rPr lang="en-US" sz="2900" dirty="0">
                <a:ea typeface="Cambria Math" pitchFamily="18" charset="0"/>
              </a:rPr>
              <a:t>0 </a:t>
            </a:r>
            <a:r>
              <a:rPr lang="en-US" sz="2900" dirty="0"/>
              <a:t>and </a:t>
            </a:r>
            <a:r>
              <a:rPr lang="en-US" sz="2900" i="1" dirty="0"/>
              <a:t>f</a:t>
            </a:r>
            <a:r>
              <a:rPr lang="en-US" sz="2900" baseline="-25000" dirty="0">
                <a:ea typeface="Cambria Math" pitchFamily="18" charset="0"/>
              </a:rPr>
              <a:t>1</a:t>
            </a:r>
            <a:r>
              <a:rPr lang="en-US" sz="2900" i="1" dirty="0"/>
              <a:t> = </a:t>
            </a:r>
            <a:r>
              <a:rPr lang="en-US" sz="2900" dirty="0">
                <a:ea typeface="Cambria Math" pitchFamily="18" charset="0"/>
              </a:rPr>
              <a:t>1</a:t>
            </a:r>
            <a:r>
              <a:rPr lang="en-US" sz="2900" dirty="0"/>
              <a:t> , we have</a:t>
            </a:r>
          </a:p>
          <a:p>
            <a:pPr marL="0" indent="0">
              <a:lnSpc>
                <a:spcPct val="120000"/>
              </a:lnSpc>
              <a:buNone/>
            </a:pPr>
            <a:endParaRPr lang="en-US" sz="2900" dirty="0"/>
          </a:p>
          <a:p>
            <a:pPr marL="0" indent="0">
              <a:lnSpc>
                <a:spcPct val="120000"/>
              </a:lnSpc>
              <a:buNone/>
            </a:pPr>
            <a:endParaRPr lang="en-US" sz="2900" dirty="0"/>
          </a:p>
          <a:p>
            <a:pPr marL="0" indent="0">
              <a:lnSpc>
                <a:spcPct val="120000"/>
              </a:lnSpc>
              <a:buNone/>
            </a:pPr>
            <a:r>
              <a:rPr lang="en-US" sz="2900" dirty="0"/>
              <a:t>Solving for </a:t>
            </a:r>
            <a:r>
              <a:rPr lang="el-GR" sz="3200" dirty="0"/>
              <a:t>α</a:t>
            </a:r>
            <a:r>
              <a:rPr lang="en-US" sz="3200" baseline="-25000" dirty="0">
                <a:ea typeface="Cambria Math" pitchFamily="18" charset="0"/>
              </a:rPr>
              <a:t>1</a:t>
            </a:r>
            <a:r>
              <a:rPr lang="en-US" sz="3200" dirty="0"/>
              <a:t> and </a:t>
            </a:r>
            <a:r>
              <a:rPr lang="el-GR" sz="3200" dirty="0"/>
              <a:t>α</a:t>
            </a:r>
            <a:r>
              <a:rPr lang="en-US" sz="3200" baseline="-25000" dirty="0">
                <a:ea typeface="Cambria Math" pitchFamily="18" charset="0"/>
              </a:rPr>
              <a:t>2</a:t>
            </a:r>
            <a:r>
              <a:rPr lang="en-US" sz="2900" dirty="0"/>
              <a:t> </a:t>
            </a:r>
          </a:p>
          <a:p>
            <a:pPr marL="0" indent="0">
              <a:lnSpc>
                <a:spcPct val="120000"/>
              </a:lnSpc>
              <a:buNone/>
            </a:pPr>
            <a:r>
              <a:rPr lang="en-US" sz="2900" dirty="0"/>
              <a:t>Hence  </a:t>
            </a:r>
          </a:p>
          <a:p>
            <a:endParaRPr lang="en-US"/>
          </a:p>
        </p:txBody>
      </p:sp>
      <p:pic>
        <p:nvPicPr>
          <p:cNvPr id="4" name="Picture 3" descr="addin_tmp.png">
            <a:extLst>
              <a:ext uri="{FF2B5EF4-FFF2-40B4-BE49-F238E27FC236}">
                <a16:creationId xmlns:a16="http://schemas.microsoft.com/office/drawing/2014/main" id="{9280B611-FACB-074D-8412-F588E3E5E625}"/>
              </a:ext>
            </a:extLst>
          </p:cNvPr>
          <p:cNvPicPr>
            <a:picLocks noChangeAspect="1"/>
          </p:cNvPicPr>
          <p:nvPr>
            <p:custDataLst>
              <p:tags r:id="rId1"/>
            </p:custDataLst>
          </p:nvPr>
        </p:nvPicPr>
        <p:blipFill>
          <a:blip r:embed="rId10" cstate="print"/>
          <a:stretch>
            <a:fillRect/>
          </a:stretch>
        </p:blipFill>
        <p:spPr>
          <a:xfrm>
            <a:off x="4508961" y="3012477"/>
            <a:ext cx="1122537" cy="347315"/>
          </a:xfrm>
          <a:prstGeom prst="rect">
            <a:avLst/>
          </a:prstGeom>
        </p:spPr>
      </p:pic>
      <p:pic>
        <p:nvPicPr>
          <p:cNvPr id="5" name="Picture 4" descr="addin_tmp.png">
            <a:extLst>
              <a:ext uri="{FF2B5EF4-FFF2-40B4-BE49-F238E27FC236}">
                <a16:creationId xmlns:a16="http://schemas.microsoft.com/office/drawing/2014/main" id="{E4C19816-903E-A042-97EA-58C3A8B9AE2D}"/>
              </a:ext>
            </a:extLst>
          </p:cNvPr>
          <p:cNvPicPr>
            <a:picLocks noChangeAspect="1"/>
          </p:cNvPicPr>
          <p:nvPr>
            <p:custDataLst>
              <p:tags r:id="rId2"/>
            </p:custDataLst>
          </p:nvPr>
        </p:nvPicPr>
        <p:blipFill>
          <a:blip r:embed="rId11" cstate="print"/>
          <a:stretch>
            <a:fillRect/>
          </a:stretch>
        </p:blipFill>
        <p:spPr>
          <a:xfrm>
            <a:off x="6095999" y="3012477"/>
            <a:ext cx="1126376" cy="347315"/>
          </a:xfrm>
          <a:prstGeom prst="rect">
            <a:avLst/>
          </a:prstGeom>
        </p:spPr>
      </p:pic>
      <p:pic>
        <p:nvPicPr>
          <p:cNvPr id="6" name="Picture 5" descr="addin_tmp.png">
            <a:extLst>
              <a:ext uri="{FF2B5EF4-FFF2-40B4-BE49-F238E27FC236}">
                <a16:creationId xmlns:a16="http://schemas.microsoft.com/office/drawing/2014/main" id="{528927BD-5667-084A-A445-1B2F29683172}"/>
              </a:ext>
            </a:extLst>
          </p:cNvPr>
          <p:cNvPicPr>
            <a:picLocks noChangeAspect="1"/>
          </p:cNvPicPr>
          <p:nvPr>
            <p:custDataLst>
              <p:tags r:id="rId3"/>
            </p:custDataLst>
          </p:nvPr>
        </p:nvPicPr>
        <p:blipFill>
          <a:blip r:embed="rId12" cstate="print"/>
          <a:stretch>
            <a:fillRect/>
          </a:stretch>
        </p:blipFill>
        <p:spPr>
          <a:xfrm>
            <a:off x="4508961" y="3418358"/>
            <a:ext cx="3562350" cy="472440"/>
          </a:xfrm>
          <a:prstGeom prst="rect">
            <a:avLst/>
          </a:prstGeom>
        </p:spPr>
      </p:pic>
      <p:pic>
        <p:nvPicPr>
          <p:cNvPr id="7" name="Picture 6" descr="addin_tmp.png">
            <a:extLst>
              <a:ext uri="{FF2B5EF4-FFF2-40B4-BE49-F238E27FC236}">
                <a16:creationId xmlns:a16="http://schemas.microsoft.com/office/drawing/2014/main" id="{264FAC8E-33A1-1B48-B100-57995CE92B84}"/>
              </a:ext>
            </a:extLst>
          </p:cNvPr>
          <p:cNvPicPr>
            <a:picLocks noChangeAspect="1"/>
          </p:cNvPicPr>
          <p:nvPr>
            <p:custDataLst>
              <p:tags r:id="rId4"/>
            </p:custDataLst>
          </p:nvPr>
        </p:nvPicPr>
        <p:blipFill>
          <a:blip r:embed="rId13" cstate="print"/>
          <a:stretch>
            <a:fillRect/>
          </a:stretch>
        </p:blipFill>
        <p:spPr>
          <a:xfrm>
            <a:off x="4411806" y="4309930"/>
            <a:ext cx="1878330" cy="230505"/>
          </a:xfrm>
          <a:prstGeom prst="rect">
            <a:avLst/>
          </a:prstGeom>
        </p:spPr>
      </p:pic>
      <p:pic>
        <p:nvPicPr>
          <p:cNvPr id="8" name="Picture 7" descr="addin_tmp.png">
            <a:extLst>
              <a:ext uri="{FF2B5EF4-FFF2-40B4-BE49-F238E27FC236}">
                <a16:creationId xmlns:a16="http://schemas.microsoft.com/office/drawing/2014/main" id="{3CCFEA85-DC70-3F4F-ACB5-EB10CF01267F}"/>
              </a:ext>
            </a:extLst>
          </p:cNvPr>
          <p:cNvPicPr>
            <a:picLocks noChangeAspect="1"/>
          </p:cNvPicPr>
          <p:nvPr>
            <p:custDataLst>
              <p:tags r:id="rId5"/>
            </p:custDataLst>
          </p:nvPr>
        </p:nvPicPr>
        <p:blipFill>
          <a:blip r:embed="rId14" cstate="print"/>
          <a:stretch>
            <a:fillRect/>
          </a:stretch>
        </p:blipFill>
        <p:spPr>
          <a:xfrm>
            <a:off x="4390650" y="4595207"/>
            <a:ext cx="3726180" cy="457200"/>
          </a:xfrm>
          <a:prstGeom prst="rect">
            <a:avLst/>
          </a:prstGeom>
        </p:spPr>
      </p:pic>
      <p:pic>
        <p:nvPicPr>
          <p:cNvPr id="9" name="Picture 8" descr="addin_tmp.png">
            <a:extLst>
              <a:ext uri="{FF2B5EF4-FFF2-40B4-BE49-F238E27FC236}">
                <a16:creationId xmlns:a16="http://schemas.microsoft.com/office/drawing/2014/main" id="{B665AD43-ABE1-C245-BB78-2BE04DA09951}"/>
              </a:ext>
            </a:extLst>
          </p:cNvPr>
          <p:cNvPicPr>
            <a:picLocks noChangeAspect="1"/>
          </p:cNvPicPr>
          <p:nvPr>
            <p:custDataLst>
              <p:tags r:id="rId6"/>
            </p:custDataLst>
          </p:nvPr>
        </p:nvPicPr>
        <p:blipFill>
          <a:blip r:embed="rId15" cstate="print"/>
          <a:stretch>
            <a:fillRect/>
          </a:stretch>
        </p:blipFill>
        <p:spPr>
          <a:xfrm>
            <a:off x="4508961" y="5201726"/>
            <a:ext cx="902970" cy="358140"/>
          </a:xfrm>
          <a:prstGeom prst="rect">
            <a:avLst/>
          </a:prstGeom>
        </p:spPr>
      </p:pic>
      <p:pic>
        <p:nvPicPr>
          <p:cNvPr id="10" name="Picture 9" descr="addin_tmp.png">
            <a:extLst>
              <a:ext uri="{FF2B5EF4-FFF2-40B4-BE49-F238E27FC236}">
                <a16:creationId xmlns:a16="http://schemas.microsoft.com/office/drawing/2014/main" id="{2BD5DD17-BA95-1746-B2B7-99C3A555DB07}"/>
              </a:ext>
            </a:extLst>
          </p:cNvPr>
          <p:cNvPicPr>
            <a:picLocks noChangeAspect="1"/>
          </p:cNvPicPr>
          <p:nvPr>
            <p:custDataLst>
              <p:tags r:id="rId7"/>
            </p:custDataLst>
          </p:nvPr>
        </p:nvPicPr>
        <p:blipFill>
          <a:blip r:embed="rId16" cstate="print"/>
          <a:stretch>
            <a:fillRect/>
          </a:stretch>
        </p:blipFill>
        <p:spPr>
          <a:xfrm>
            <a:off x="5740543" y="5201978"/>
            <a:ext cx="1099185" cy="358140"/>
          </a:xfrm>
          <a:prstGeom prst="rect">
            <a:avLst/>
          </a:prstGeom>
        </p:spPr>
      </p:pic>
      <p:pic>
        <p:nvPicPr>
          <p:cNvPr id="11" name="Picture 10" descr="addin_tmp.png">
            <a:extLst>
              <a:ext uri="{FF2B5EF4-FFF2-40B4-BE49-F238E27FC236}">
                <a16:creationId xmlns:a16="http://schemas.microsoft.com/office/drawing/2014/main" id="{8901F437-80BA-4449-BB64-F5B74DEB085B}"/>
              </a:ext>
            </a:extLst>
          </p:cNvPr>
          <p:cNvPicPr>
            <a:picLocks noChangeAspect="1"/>
          </p:cNvPicPr>
          <p:nvPr>
            <p:custDataLst>
              <p:tags r:id="rId8"/>
            </p:custDataLst>
          </p:nvPr>
        </p:nvPicPr>
        <p:blipFill>
          <a:blip r:embed="rId17" cstate="print"/>
          <a:stretch>
            <a:fillRect/>
          </a:stretch>
        </p:blipFill>
        <p:spPr>
          <a:xfrm>
            <a:off x="4456572" y="5709185"/>
            <a:ext cx="3667125" cy="472440"/>
          </a:xfrm>
          <a:prstGeom prst="rect">
            <a:avLst/>
          </a:prstGeom>
        </p:spPr>
      </p:pic>
    </p:spTree>
    <p:extLst>
      <p:ext uri="{BB962C8B-B14F-4D97-AF65-F5344CB8AC3E}">
        <p14:creationId xmlns:p14="http://schemas.microsoft.com/office/powerpoint/2010/main" val="36261174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353E4-3E12-D446-B09C-8E3266593112}"/>
              </a:ext>
            </a:extLst>
          </p:cNvPr>
          <p:cNvSpPr>
            <a:spLocks noGrp="1"/>
          </p:cNvSpPr>
          <p:nvPr>
            <p:ph type="title"/>
          </p:nvPr>
        </p:nvSpPr>
        <p:spPr/>
        <p:txBody>
          <a:bodyPr/>
          <a:lstStyle/>
          <a:p>
            <a:r>
              <a:rPr lang="en-US"/>
              <a:t>Summary</a:t>
            </a:r>
          </a:p>
        </p:txBody>
      </p:sp>
      <p:sp>
        <p:nvSpPr>
          <p:cNvPr id="3" name="Content Placeholder 2">
            <a:extLst>
              <a:ext uri="{FF2B5EF4-FFF2-40B4-BE49-F238E27FC236}">
                <a16:creationId xmlns:a16="http://schemas.microsoft.com/office/drawing/2014/main" id="{1917C41A-3EE5-6F49-A057-2F247E76FF51}"/>
              </a:ext>
            </a:extLst>
          </p:cNvPr>
          <p:cNvSpPr>
            <a:spLocks noGrp="1"/>
          </p:cNvSpPr>
          <p:nvPr>
            <p:ph idx="1"/>
          </p:nvPr>
        </p:nvSpPr>
        <p:spPr/>
        <p:txBody>
          <a:bodyPr/>
          <a:lstStyle/>
          <a:p>
            <a:r>
              <a:rPr lang="en-US" dirty="0"/>
              <a:t>Linear Homogeneous Recurrence Relations</a:t>
            </a:r>
          </a:p>
          <a:p>
            <a:pPr lvl="1"/>
            <a:r>
              <a:rPr lang="en-US" dirty="0"/>
              <a:t>Characteristic equation</a:t>
            </a:r>
          </a:p>
          <a:p>
            <a:pPr lvl="1"/>
            <a:r>
              <a:rPr lang="en-US" dirty="0"/>
              <a:t>Characteristic roots</a:t>
            </a:r>
          </a:p>
          <a:p>
            <a:r>
              <a:rPr lang="en-US" dirty="0"/>
              <a:t>Solving Linear Homogeneous Recurrence Relations of degree 2 with Constant Coefficients</a:t>
            </a:r>
            <a:endParaRPr lang="en-US"/>
          </a:p>
        </p:txBody>
      </p:sp>
    </p:spTree>
    <p:extLst>
      <p:ext uri="{BB962C8B-B14F-4D97-AF65-F5344CB8AC3E}">
        <p14:creationId xmlns:p14="http://schemas.microsoft.com/office/powerpoint/2010/main" val="24584881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6D122-2A8A-5F4B-AEFA-D530B737F517}"/>
              </a:ext>
            </a:extLst>
          </p:cNvPr>
          <p:cNvSpPr>
            <a:spLocks noGrp="1"/>
          </p:cNvSpPr>
          <p:nvPr>
            <p:ph type="title"/>
          </p:nvPr>
        </p:nvSpPr>
        <p:spPr/>
        <p:txBody>
          <a:bodyPr/>
          <a:lstStyle/>
          <a:p>
            <a:r>
              <a:rPr lang="en-US"/>
              <a:t>Video 69: General Linear Recurrence Relations </a:t>
            </a:r>
          </a:p>
        </p:txBody>
      </p:sp>
      <p:sp>
        <p:nvSpPr>
          <p:cNvPr id="3" name="Content Placeholder 2">
            <a:extLst>
              <a:ext uri="{FF2B5EF4-FFF2-40B4-BE49-F238E27FC236}">
                <a16:creationId xmlns:a16="http://schemas.microsoft.com/office/drawing/2014/main" id="{1EFF6FD5-66E4-9048-BD3B-9A53DF842A14}"/>
              </a:ext>
            </a:extLst>
          </p:cNvPr>
          <p:cNvSpPr>
            <a:spLocks noGrp="1"/>
          </p:cNvSpPr>
          <p:nvPr>
            <p:ph idx="1"/>
          </p:nvPr>
        </p:nvSpPr>
        <p:spPr/>
        <p:txBody>
          <a:bodyPr/>
          <a:lstStyle/>
          <a:p>
            <a:r>
              <a:rPr lang="en-US" dirty="0"/>
              <a:t>Homogeneous Recurrence Relations with Repeated Root</a:t>
            </a:r>
          </a:p>
          <a:p>
            <a:r>
              <a:rPr lang="en-US" dirty="0"/>
              <a:t>Linear Homogeneous Recurrence Relations of Arbitrary Degree</a:t>
            </a:r>
            <a:endParaRPr lang="en-US"/>
          </a:p>
        </p:txBody>
      </p:sp>
    </p:spTree>
    <p:extLst>
      <p:ext uri="{BB962C8B-B14F-4D97-AF65-F5344CB8AC3E}">
        <p14:creationId xmlns:p14="http://schemas.microsoft.com/office/powerpoint/2010/main" val="28802317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Solving Linear Homogeneous Recurrence Relations with Repeated Root</a:t>
            </a:r>
          </a:p>
        </p:txBody>
      </p:sp>
      <p:sp>
        <p:nvSpPr>
          <p:cNvPr id="3" name="Content Placeholder 2"/>
          <p:cNvSpPr>
            <a:spLocks noGrp="1"/>
          </p:cNvSpPr>
          <p:nvPr>
            <p:ph idx="1"/>
          </p:nvPr>
        </p:nvSpPr>
        <p:spPr/>
        <p:txBody>
          <a:bodyPr>
            <a:normAutofit/>
          </a:bodyPr>
          <a:lstStyle/>
          <a:p>
            <a:pPr>
              <a:buNone/>
            </a:pPr>
            <a:r>
              <a:rPr lang="en-US" b="1" dirty="0">
                <a:ea typeface="Cambria Math" pitchFamily="18" charset="0"/>
              </a:rPr>
              <a:t>Theorem 2</a:t>
            </a:r>
            <a:r>
              <a:rPr lang="en-US" dirty="0"/>
              <a:t>:  Let </a:t>
            </a:r>
            <a:r>
              <a:rPr lang="en-US" i="1" dirty="0"/>
              <a:t>c</a:t>
            </a:r>
            <a:r>
              <a:rPr lang="en-US" baseline="-25000" dirty="0">
                <a:ea typeface="Cambria Math" pitchFamily="18" charset="0"/>
              </a:rPr>
              <a:t>1</a:t>
            </a:r>
            <a:r>
              <a:rPr lang="en-US" dirty="0"/>
              <a:t> and </a:t>
            </a:r>
            <a:r>
              <a:rPr lang="en-US" i="1" dirty="0"/>
              <a:t>c</a:t>
            </a:r>
            <a:r>
              <a:rPr lang="en-US" baseline="-25000" dirty="0">
                <a:ea typeface="Cambria Math" pitchFamily="18" charset="0"/>
              </a:rPr>
              <a:t>2</a:t>
            </a:r>
            <a:r>
              <a:rPr lang="en-US" i="1" dirty="0"/>
              <a:t> </a:t>
            </a:r>
            <a:r>
              <a:rPr lang="en-US" dirty="0"/>
              <a:t>be real numbers with </a:t>
            </a:r>
            <a:r>
              <a:rPr lang="en-US" i="1" dirty="0"/>
              <a:t>c</a:t>
            </a:r>
            <a:r>
              <a:rPr lang="en-US" baseline="-25000" dirty="0">
                <a:ea typeface="Cambria Math" pitchFamily="18" charset="0"/>
              </a:rPr>
              <a:t>2</a:t>
            </a:r>
            <a:r>
              <a:rPr lang="en-US" i="1" baseline="-25000" dirty="0"/>
              <a:t> </a:t>
            </a:r>
            <a:r>
              <a:rPr lang="en-US" dirty="0">
                <a:ea typeface="Cambria Math"/>
              </a:rPr>
              <a:t>≠ 0</a:t>
            </a:r>
            <a:r>
              <a:rPr lang="en-US" dirty="0"/>
              <a:t>.  Suppose that </a:t>
            </a:r>
            <a:br>
              <a:rPr lang="en-US" dirty="0"/>
            </a:br>
            <a:r>
              <a:rPr lang="en-US" dirty="0"/>
              <a:t>	</a:t>
            </a:r>
            <a:r>
              <a:rPr lang="en-US" i="1" dirty="0"/>
              <a:t>r</a:t>
            </a:r>
            <a:r>
              <a:rPr lang="en-US" baseline="30000" dirty="0">
                <a:ea typeface="Cambria Math" pitchFamily="18" charset="0"/>
              </a:rPr>
              <a:t>2</a:t>
            </a:r>
            <a:r>
              <a:rPr lang="en-US" i="1" dirty="0"/>
              <a:t> – c</a:t>
            </a:r>
            <a:r>
              <a:rPr lang="en-US" baseline="-25000" dirty="0">
                <a:ea typeface="Cambria Math" pitchFamily="18" charset="0"/>
              </a:rPr>
              <a:t>1</a:t>
            </a:r>
            <a:r>
              <a:rPr lang="en-US" i="1" dirty="0"/>
              <a:t>r – c</a:t>
            </a:r>
            <a:r>
              <a:rPr lang="en-US" baseline="-25000" dirty="0">
                <a:ea typeface="Cambria Math" pitchFamily="18" charset="0"/>
              </a:rPr>
              <a:t>2</a:t>
            </a:r>
            <a:r>
              <a:rPr lang="en-US" i="1" dirty="0"/>
              <a:t> = </a:t>
            </a:r>
            <a:r>
              <a:rPr lang="en-US" dirty="0">
                <a:ea typeface="Cambria Math" pitchFamily="18" charset="0"/>
              </a:rPr>
              <a:t>0</a:t>
            </a:r>
            <a:r>
              <a:rPr lang="en-US" i="1" dirty="0"/>
              <a:t> </a:t>
            </a:r>
            <a:br>
              <a:rPr lang="en-US" i="1" dirty="0"/>
            </a:br>
            <a:r>
              <a:rPr lang="en-US" dirty="0"/>
              <a:t>has one repeated root </a:t>
            </a:r>
            <a:r>
              <a:rPr lang="en-US" i="1" dirty="0"/>
              <a:t>r</a:t>
            </a:r>
            <a:r>
              <a:rPr lang="en-US" baseline="-25000" dirty="0">
                <a:ea typeface="Cambria Math" pitchFamily="18" charset="0"/>
              </a:rPr>
              <a:t>0</a:t>
            </a:r>
            <a:r>
              <a:rPr lang="en-US" dirty="0"/>
              <a:t>. Then the sequence {</a:t>
            </a:r>
            <a:r>
              <a:rPr lang="en-US" i="1" dirty="0"/>
              <a:t>a</a:t>
            </a:r>
            <a:r>
              <a:rPr lang="en-US" i="1" baseline="-25000" dirty="0"/>
              <a:t>n</a:t>
            </a:r>
            <a:r>
              <a:rPr lang="en-US" dirty="0"/>
              <a:t>} is a solution to the recurrence  relation </a:t>
            </a:r>
            <a:r>
              <a:rPr lang="en-US" i="1" dirty="0"/>
              <a:t>a</a:t>
            </a:r>
            <a:r>
              <a:rPr lang="en-US" i="1" baseline="-25000" dirty="0"/>
              <a:t>n</a:t>
            </a:r>
            <a:r>
              <a:rPr lang="en-US" i="1" dirty="0"/>
              <a:t> = c</a:t>
            </a:r>
            <a:r>
              <a:rPr lang="en-US" baseline="-25000" dirty="0">
                <a:ea typeface="Cambria Math" pitchFamily="18" charset="0"/>
              </a:rPr>
              <a:t>1</a:t>
            </a:r>
            <a:r>
              <a:rPr lang="en-US" i="1" dirty="0"/>
              <a:t>a</a:t>
            </a:r>
            <a:r>
              <a:rPr lang="en-US" i="1" baseline="-25000" dirty="0"/>
              <a:t>n</a:t>
            </a:r>
            <a:r>
              <a:rPr lang="en-US" i="1" baseline="-25000" dirty="0">
                <a:ea typeface="Cambria Math"/>
              </a:rPr>
              <a:t>−</a:t>
            </a:r>
            <a:r>
              <a:rPr lang="en-US" baseline="-25000" dirty="0">
                <a:ea typeface="Cambria Math" pitchFamily="18" charset="0"/>
              </a:rPr>
              <a:t>1</a:t>
            </a:r>
            <a:r>
              <a:rPr lang="en-US" i="1" dirty="0"/>
              <a:t> + c</a:t>
            </a:r>
            <a:r>
              <a:rPr lang="en-US" baseline="-25000" dirty="0">
                <a:ea typeface="Cambria Math" pitchFamily="18" charset="0"/>
              </a:rPr>
              <a:t>2</a:t>
            </a:r>
            <a:r>
              <a:rPr lang="en-US" i="1" dirty="0"/>
              <a:t>a</a:t>
            </a:r>
            <a:r>
              <a:rPr lang="en-US" i="1" baseline="-25000" dirty="0"/>
              <a:t>n</a:t>
            </a:r>
            <a:r>
              <a:rPr lang="en-US" i="1" baseline="-25000" dirty="0">
                <a:ea typeface="Cambria Math"/>
              </a:rPr>
              <a:t>−</a:t>
            </a:r>
            <a:r>
              <a:rPr lang="en-US" baseline="-25000" dirty="0">
                <a:ea typeface="Cambria Math" pitchFamily="18" charset="0"/>
              </a:rPr>
              <a:t>2</a:t>
            </a:r>
            <a:r>
              <a:rPr lang="en-US" i="1" dirty="0"/>
              <a:t>  </a:t>
            </a:r>
            <a:r>
              <a:rPr lang="en-US" dirty="0"/>
              <a:t>if  and only if</a:t>
            </a:r>
          </a:p>
          <a:p>
            <a:endParaRPr lang="en-US" dirty="0"/>
          </a:p>
          <a:p>
            <a:endParaRPr lang="en-US" dirty="0"/>
          </a:p>
          <a:p>
            <a:pPr>
              <a:buNone/>
            </a:pPr>
            <a:r>
              <a:rPr lang="en-US" dirty="0"/>
              <a:t>  for </a:t>
            </a:r>
            <a:r>
              <a:rPr lang="en-US" i="1" dirty="0"/>
              <a:t>n = </a:t>
            </a:r>
            <a:r>
              <a:rPr lang="en-US" dirty="0">
                <a:ea typeface="Cambria Math" pitchFamily="18" charset="0"/>
              </a:rPr>
              <a:t>0, 1, 2</a:t>
            </a:r>
            <a:r>
              <a:rPr lang="en-US" i="1" dirty="0"/>
              <a:t>,… </a:t>
            </a:r>
            <a:r>
              <a:rPr lang="en-US" dirty="0"/>
              <a:t>, where </a:t>
            </a:r>
            <a:r>
              <a:rPr lang="el-GR" dirty="0"/>
              <a:t>α</a:t>
            </a:r>
            <a:r>
              <a:rPr lang="en-US" baseline="-25000" dirty="0">
                <a:ea typeface="Cambria Math" pitchFamily="18" charset="0"/>
              </a:rPr>
              <a:t>1</a:t>
            </a:r>
            <a:r>
              <a:rPr lang="en-US" baseline="-25000" dirty="0"/>
              <a:t> </a:t>
            </a:r>
            <a:r>
              <a:rPr lang="en-US" dirty="0"/>
              <a:t>and</a:t>
            </a:r>
            <a:r>
              <a:rPr lang="en-US" baseline="-25000" dirty="0"/>
              <a:t> </a:t>
            </a:r>
            <a:r>
              <a:rPr lang="el-GR" dirty="0"/>
              <a:t>α</a:t>
            </a:r>
            <a:r>
              <a:rPr lang="en-US" baseline="-25000" dirty="0">
                <a:ea typeface="Cambria Math" pitchFamily="18" charset="0"/>
              </a:rPr>
              <a:t>2</a:t>
            </a:r>
            <a:r>
              <a:rPr lang="en-US" dirty="0"/>
              <a:t>  are constants.</a:t>
            </a:r>
            <a:endParaRPr lang="en-US" baseline="-25000" dirty="0"/>
          </a:p>
        </p:txBody>
      </p:sp>
      <p:pic>
        <p:nvPicPr>
          <p:cNvPr id="6" name="Picture 5" descr="addin_tmp.png"/>
          <p:cNvPicPr>
            <a:picLocks noChangeAspect="1"/>
          </p:cNvPicPr>
          <p:nvPr>
            <p:custDataLst>
              <p:tags r:id="rId1"/>
            </p:custDataLst>
          </p:nvPr>
        </p:nvPicPr>
        <p:blipFill>
          <a:blip r:embed="rId3" cstate="print"/>
          <a:stretch>
            <a:fillRect/>
          </a:stretch>
        </p:blipFill>
        <p:spPr>
          <a:xfrm>
            <a:off x="1804108" y="3585757"/>
            <a:ext cx="2997518" cy="354330"/>
          </a:xfrm>
          <a:prstGeom prst="rect">
            <a:avLst/>
          </a:prstGeom>
        </p:spPr>
      </p:pic>
    </p:spTree>
    <p:extLst>
      <p:ext uri="{BB962C8B-B14F-4D97-AF65-F5344CB8AC3E}">
        <p14:creationId xmlns:p14="http://schemas.microsoft.com/office/powerpoint/2010/main" val="17778196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Example</a:t>
            </a:r>
          </a:p>
        </p:txBody>
      </p:sp>
      <p:sp>
        <p:nvSpPr>
          <p:cNvPr id="3" name="Content Placeholder 2"/>
          <p:cNvSpPr>
            <a:spLocks noGrp="1"/>
          </p:cNvSpPr>
          <p:nvPr>
            <p:ph idx="1"/>
          </p:nvPr>
        </p:nvSpPr>
        <p:spPr/>
        <p:txBody>
          <a:bodyPr>
            <a:normAutofit fontScale="77500" lnSpcReduction="20000"/>
          </a:bodyPr>
          <a:lstStyle/>
          <a:p>
            <a:pPr marL="120600">
              <a:lnSpc>
                <a:spcPct val="120000"/>
              </a:lnSpc>
              <a:spcBef>
                <a:spcPts val="600"/>
              </a:spcBef>
              <a:buNone/>
            </a:pPr>
            <a:r>
              <a:rPr lang="en-US" dirty="0"/>
              <a:t>What is the solution to the recurrence  relation </a:t>
            </a:r>
            <a:r>
              <a:rPr lang="en-US" i="1" dirty="0"/>
              <a:t>a</a:t>
            </a:r>
            <a:r>
              <a:rPr lang="en-US" i="1" baseline="-25000" dirty="0"/>
              <a:t>n</a:t>
            </a:r>
            <a:r>
              <a:rPr lang="en-US" dirty="0"/>
              <a:t> = 6</a:t>
            </a:r>
            <a:r>
              <a:rPr lang="en-US" i="1" dirty="0"/>
              <a:t>a</a:t>
            </a:r>
            <a:r>
              <a:rPr lang="en-US" i="1" baseline="-25000" dirty="0"/>
              <a:t>n</a:t>
            </a:r>
            <a:r>
              <a:rPr lang="en-US" baseline="-25000" dirty="0">
                <a:ea typeface="Cambria Math"/>
              </a:rPr>
              <a:t>−</a:t>
            </a:r>
            <a:r>
              <a:rPr lang="en-US" baseline="-25000" dirty="0">
                <a:ea typeface="Cambria Math" pitchFamily="18" charset="0"/>
              </a:rPr>
              <a:t>1</a:t>
            </a:r>
            <a:r>
              <a:rPr lang="en-US" dirty="0"/>
              <a:t> </a:t>
            </a:r>
            <a:r>
              <a:rPr lang="en-US" dirty="0">
                <a:ea typeface="Cambria Math"/>
              </a:rPr>
              <a:t>−</a:t>
            </a:r>
            <a:r>
              <a:rPr lang="en-US" dirty="0"/>
              <a:t> </a:t>
            </a:r>
            <a:r>
              <a:rPr lang="en-US" dirty="0">
                <a:ea typeface="Cambria Math" pitchFamily="18" charset="0"/>
              </a:rPr>
              <a:t>9</a:t>
            </a:r>
            <a:r>
              <a:rPr lang="en-US" i="1" dirty="0"/>
              <a:t>a</a:t>
            </a:r>
            <a:r>
              <a:rPr lang="en-US" i="1" baseline="-25000" dirty="0"/>
              <a:t>n</a:t>
            </a:r>
            <a:r>
              <a:rPr lang="en-US" baseline="-25000" dirty="0">
                <a:ea typeface="Cambria Math"/>
              </a:rPr>
              <a:t>−</a:t>
            </a:r>
            <a:r>
              <a:rPr lang="en-US" baseline="-25000" dirty="0">
                <a:ea typeface="Cambria Math" pitchFamily="18" charset="0"/>
              </a:rPr>
              <a:t>2</a:t>
            </a:r>
            <a:r>
              <a:rPr lang="en-US" dirty="0"/>
              <a:t> with </a:t>
            </a:r>
            <a:r>
              <a:rPr lang="en-US" i="1" dirty="0"/>
              <a:t>a</a:t>
            </a:r>
            <a:r>
              <a:rPr lang="en-US" baseline="-25000" dirty="0">
                <a:ea typeface="Cambria Math" pitchFamily="18" charset="0"/>
              </a:rPr>
              <a:t>0</a:t>
            </a:r>
            <a:r>
              <a:rPr lang="en-US" dirty="0"/>
              <a:t> = </a:t>
            </a:r>
            <a:r>
              <a:rPr lang="en-US" dirty="0">
                <a:ea typeface="Cambria Math" pitchFamily="18" charset="0"/>
              </a:rPr>
              <a:t>1 </a:t>
            </a:r>
            <a:r>
              <a:rPr lang="en-US" dirty="0"/>
              <a:t>and </a:t>
            </a:r>
            <a:r>
              <a:rPr lang="en-US" i="1" dirty="0"/>
              <a:t>a</a:t>
            </a:r>
            <a:r>
              <a:rPr lang="en-US" baseline="-25000" dirty="0">
                <a:ea typeface="Cambria Math" pitchFamily="18" charset="0"/>
              </a:rPr>
              <a:t>1</a:t>
            </a:r>
            <a:r>
              <a:rPr lang="en-US" dirty="0"/>
              <a:t> = 6? </a:t>
            </a:r>
          </a:p>
          <a:p>
            <a:pPr marL="120600">
              <a:lnSpc>
                <a:spcPct val="120000"/>
              </a:lnSpc>
              <a:spcBef>
                <a:spcPts val="600"/>
              </a:spcBef>
              <a:buNone/>
            </a:pPr>
            <a:endParaRPr lang="en-US" b="1" dirty="0"/>
          </a:p>
          <a:p>
            <a:pPr marL="120600">
              <a:lnSpc>
                <a:spcPct val="120000"/>
              </a:lnSpc>
              <a:spcBef>
                <a:spcPts val="600"/>
              </a:spcBef>
              <a:buNone/>
            </a:pPr>
            <a:r>
              <a:rPr lang="en-US" dirty="0"/>
              <a:t>The characteristic equation is  </a:t>
            </a:r>
            <a:r>
              <a:rPr lang="en-US" i="1" dirty="0"/>
              <a:t>r</a:t>
            </a:r>
            <a:r>
              <a:rPr lang="en-US" baseline="30000" dirty="0">
                <a:ea typeface="Cambria Math" pitchFamily="18" charset="0"/>
              </a:rPr>
              <a:t>2</a:t>
            </a:r>
            <a:r>
              <a:rPr lang="en-US" i="1" dirty="0"/>
              <a:t> </a:t>
            </a:r>
            <a:r>
              <a:rPr lang="en-US" i="1" dirty="0">
                <a:ea typeface="Cambria Math"/>
              </a:rPr>
              <a:t>− </a:t>
            </a:r>
            <a:r>
              <a:rPr lang="en-US" dirty="0">
                <a:ea typeface="Cambria Math" pitchFamily="18" charset="0"/>
              </a:rPr>
              <a:t>6</a:t>
            </a:r>
            <a:r>
              <a:rPr lang="en-US" i="1" dirty="0"/>
              <a:t>r + </a:t>
            </a:r>
            <a:r>
              <a:rPr lang="en-US" dirty="0">
                <a:ea typeface="Cambria Math" pitchFamily="18" charset="0"/>
              </a:rPr>
              <a:t>9</a:t>
            </a:r>
            <a:r>
              <a:rPr lang="en-US" i="1" dirty="0"/>
              <a:t> = </a:t>
            </a:r>
            <a:r>
              <a:rPr lang="en-US" dirty="0">
                <a:ea typeface="Cambria Math" pitchFamily="18" charset="0"/>
              </a:rPr>
              <a:t>0</a:t>
            </a:r>
            <a:r>
              <a:rPr lang="en-US" i="1" dirty="0"/>
              <a:t>. </a:t>
            </a:r>
          </a:p>
          <a:p>
            <a:pPr marL="120600">
              <a:lnSpc>
                <a:spcPct val="120000"/>
              </a:lnSpc>
              <a:spcBef>
                <a:spcPts val="600"/>
              </a:spcBef>
              <a:buNone/>
            </a:pPr>
            <a:r>
              <a:rPr lang="en-US" dirty="0"/>
              <a:t>The only root is  </a:t>
            </a:r>
            <a:r>
              <a:rPr lang="en-US" i="1" dirty="0"/>
              <a:t>r = </a:t>
            </a:r>
            <a:r>
              <a:rPr lang="en-US" dirty="0">
                <a:ea typeface="Cambria Math" pitchFamily="18" charset="0"/>
              </a:rPr>
              <a:t>3</a:t>
            </a:r>
            <a:r>
              <a:rPr lang="en-US" i="1" dirty="0"/>
              <a:t>. </a:t>
            </a:r>
          </a:p>
          <a:p>
            <a:pPr marL="120600">
              <a:lnSpc>
                <a:spcPct val="120000"/>
              </a:lnSpc>
              <a:spcBef>
                <a:spcPts val="600"/>
              </a:spcBef>
              <a:buNone/>
            </a:pPr>
            <a:r>
              <a:rPr lang="en-US" dirty="0"/>
              <a:t>Therefore,  {</a:t>
            </a:r>
            <a:r>
              <a:rPr lang="en-US" i="1" dirty="0"/>
              <a:t>a</a:t>
            </a:r>
            <a:r>
              <a:rPr lang="en-US" i="1" baseline="-25000" dirty="0"/>
              <a:t>n</a:t>
            </a:r>
            <a:r>
              <a:rPr lang="en-US" dirty="0"/>
              <a:t>}</a:t>
            </a:r>
            <a:r>
              <a:rPr lang="en-US" i="1" dirty="0"/>
              <a:t> </a:t>
            </a:r>
            <a:r>
              <a:rPr lang="en-US" dirty="0"/>
              <a:t>is a solution to the recurrence relation  if and only if </a:t>
            </a:r>
            <a:r>
              <a:rPr lang="en-US" i="1" dirty="0"/>
              <a:t>a</a:t>
            </a:r>
            <a:r>
              <a:rPr lang="en-US" i="1" baseline="-25000" dirty="0"/>
              <a:t>n</a:t>
            </a:r>
            <a:r>
              <a:rPr lang="en-US" i="1" dirty="0"/>
              <a:t> = </a:t>
            </a:r>
            <a:r>
              <a:rPr lang="el-GR" i="1" dirty="0"/>
              <a:t>α</a:t>
            </a:r>
            <a:r>
              <a:rPr lang="en-US" baseline="-25000" dirty="0">
                <a:ea typeface="Cambria Math" pitchFamily="18" charset="0"/>
              </a:rPr>
              <a:t>1</a:t>
            </a:r>
            <a:r>
              <a:rPr lang="en-US" dirty="0">
                <a:ea typeface="Cambria Math" pitchFamily="18" charset="0"/>
              </a:rPr>
              <a:t>3</a:t>
            </a:r>
            <a:r>
              <a:rPr lang="en-US" i="1" baseline="30000" dirty="0"/>
              <a:t>n</a:t>
            </a:r>
            <a:r>
              <a:rPr lang="en-US" i="1" dirty="0"/>
              <a:t> + </a:t>
            </a:r>
            <a:r>
              <a:rPr lang="el-GR" i="1" dirty="0"/>
              <a:t>α</a:t>
            </a:r>
            <a:r>
              <a:rPr lang="en-US" baseline="-25000" dirty="0">
                <a:ea typeface="Cambria Math" pitchFamily="18" charset="0"/>
              </a:rPr>
              <a:t>2</a:t>
            </a:r>
            <a:r>
              <a:rPr lang="en-US" i="1" dirty="0"/>
              <a:t>n</a:t>
            </a:r>
            <a:r>
              <a:rPr lang="en-US" dirty="0"/>
              <a:t>(</a:t>
            </a:r>
            <a:r>
              <a:rPr lang="en-US" dirty="0">
                <a:ea typeface="Cambria Math" pitchFamily="18" charset="0"/>
              </a:rPr>
              <a:t>3</a:t>
            </a:r>
            <a:r>
              <a:rPr lang="en-US" dirty="0"/>
              <a:t>)</a:t>
            </a:r>
            <a:r>
              <a:rPr lang="en-US" i="1" baseline="30000" dirty="0"/>
              <a:t>n </a:t>
            </a:r>
            <a:r>
              <a:rPr lang="en-US" dirty="0"/>
              <a:t>where </a:t>
            </a:r>
            <a:r>
              <a:rPr lang="el-GR" dirty="0"/>
              <a:t>α</a:t>
            </a:r>
            <a:r>
              <a:rPr lang="en-US" baseline="-25000" dirty="0">
                <a:ea typeface="Cambria Math" pitchFamily="18" charset="0"/>
              </a:rPr>
              <a:t>1</a:t>
            </a:r>
            <a:r>
              <a:rPr lang="en-US" baseline="-25000" dirty="0"/>
              <a:t> </a:t>
            </a:r>
            <a:r>
              <a:rPr lang="en-US" dirty="0"/>
              <a:t>and</a:t>
            </a:r>
            <a:r>
              <a:rPr lang="en-US" baseline="-25000" dirty="0"/>
              <a:t> </a:t>
            </a:r>
            <a:r>
              <a:rPr lang="el-GR" dirty="0"/>
              <a:t>α</a:t>
            </a:r>
            <a:r>
              <a:rPr lang="en-US" baseline="-25000" dirty="0">
                <a:ea typeface="Cambria Math" pitchFamily="18" charset="0"/>
              </a:rPr>
              <a:t>2</a:t>
            </a:r>
            <a:r>
              <a:rPr lang="en-US" dirty="0"/>
              <a:t>  are constants.</a:t>
            </a:r>
          </a:p>
          <a:p>
            <a:pPr marL="120600">
              <a:lnSpc>
                <a:spcPct val="120000"/>
              </a:lnSpc>
              <a:spcBef>
                <a:spcPts val="600"/>
              </a:spcBef>
              <a:buNone/>
            </a:pPr>
            <a:r>
              <a:rPr lang="en-US" dirty="0"/>
              <a:t>To find the constants  </a:t>
            </a:r>
            <a:r>
              <a:rPr lang="el-GR" dirty="0"/>
              <a:t>α</a:t>
            </a:r>
            <a:r>
              <a:rPr lang="en-US" baseline="-25000" dirty="0">
                <a:ea typeface="Cambria Math" pitchFamily="18" charset="0"/>
              </a:rPr>
              <a:t>1</a:t>
            </a:r>
            <a:r>
              <a:rPr lang="en-US" dirty="0"/>
              <a:t> and </a:t>
            </a:r>
            <a:r>
              <a:rPr lang="el-GR" dirty="0"/>
              <a:t>α</a:t>
            </a:r>
            <a:r>
              <a:rPr lang="en-US" baseline="-25000" dirty="0">
                <a:ea typeface="Cambria Math" pitchFamily="18" charset="0"/>
              </a:rPr>
              <a:t>2</a:t>
            </a:r>
            <a:r>
              <a:rPr lang="en-US" dirty="0"/>
              <a:t>, note that </a:t>
            </a:r>
          </a:p>
          <a:p>
            <a:pPr marL="120600">
              <a:lnSpc>
                <a:spcPct val="120000"/>
              </a:lnSpc>
              <a:spcBef>
                <a:spcPts val="600"/>
              </a:spcBef>
              <a:buNone/>
            </a:pPr>
            <a:r>
              <a:rPr lang="en-US" i="1" dirty="0"/>
              <a:t>                a</a:t>
            </a:r>
            <a:r>
              <a:rPr lang="en-US" baseline="-25000" dirty="0">
                <a:ea typeface="Cambria Math" pitchFamily="18" charset="0"/>
              </a:rPr>
              <a:t>0</a:t>
            </a:r>
            <a:r>
              <a:rPr lang="en-US" dirty="0"/>
              <a:t> = </a:t>
            </a:r>
            <a:r>
              <a:rPr lang="en-US" dirty="0">
                <a:ea typeface="Cambria Math" pitchFamily="18" charset="0"/>
              </a:rPr>
              <a:t>1</a:t>
            </a:r>
            <a:r>
              <a:rPr lang="en-US" dirty="0"/>
              <a:t> = </a:t>
            </a:r>
            <a:r>
              <a:rPr lang="el-GR" i="1" dirty="0"/>
              <a:t>α</a:t>
            </a:r>
            <a:r>
              <a:rPr lang="en-US" baseline="-25000" dirty="0">
                <a:ea typeface="Cambria Math" pitchFamily="18" charset="0"/>
              </a:rPr>
              <a:t>1</a:t>
            </a:r>
            <a:r>
              <a:rPr lang="en-US" i="1" dirty="0"/>
              <a:t> </a:t>
            </a:r>
            <a:r>
              <a:rPr lang="en-US" dirty="0"/>
              <a:t>   and   </a:t>
            </a:r>
            <a:r>
              <a:rPr lang="en-US" i="1" dirty="0"/>
              <a:t>a</a:t>
            </a:r>
            <a:r>
              <a:rPr lang="en-US" baseline="-25000" dirty="0">
                <a:ea typeface="Cambria Math" pitchFamily="18" charset="0"/>
              </a:rPr>
              <a:t>1</a:t>
            </a:r>
            <a:r>
              <a:rPr lang="en-US" dirty="0"/>
              <a:t> = </a:t>
            </a:r>
            <a:r>
              <a:rPr lang="en-US" dirty="0">
                <a:ea typeface="Cambria Math" pitchFamily="18" charset="0"/>
              </a:rPr>
              <a:t>6 </a:t>
            </a:r>
            <a:r>
              <a:rPr lang="en-US" dirty="0"/>
              <a:t>= </a:t>
            </a:r>
            <a:r>
              <a:rPr lang="el-GR" dirty="0"/>
              <a:t>α</a:t>
            </a:r>
            <a:r>
              <a:rPr lang="en-US" baseline="-25000" dirty="0">
                <a:ea typeface="Cambria Math" pitchFamily="18" charset="0"/>
              </a:rPr>
              <a:t>1</a:t>
            </a:r>
            <a:r>
              <a:rPr lang="en-US" dirty="0">
                <a:ea typeface="Cambria Math" pitchFamily="18" charset="0"/>
              </a:rPr>
              <a:t> ∙ 3 </a:t>
            </a:r>
            <a:r>
              <a:rPr lang="en-US" dirty="0"/>
              <a:t>+ </a:t>
            </a:r>
            <a:r>
              <a:rPr lang="el-GR" dirty="0"/>
              <a:t>α</a:t>
            </a:r>
            <a:r>
              <a:rPr lang="en-US" baseline="-25000" dirty="0">
                <a:ea typeface="Cambria Math" pitchFamily="18" charset="0"/>
              </a:rPr>
              <a:t>2</a:t>
            </a:r>
            <a:r>
              <a:rPr lang="en-US" dirty="0">
                <a:ea typeface="Cambria Math" pitchFamily="18" charset="0"/>
              </a:rPr>
              <a:t> ∙3.</a:t>
            </a:r>
          </a:p>
          <a:p>
            <a:pPr marL="120600">
              <a:lnSpc>
                <a:spcPct val="120000"/>
              </a:lnSpc>
              <a:spcBef>
                <a:spcPts val="600"/>
              </a:spcBef>
              <a:buNone/>
            </a:pPr>
            <a:r>
              <a:rPr lang="en-US" dirty="0">
                <a:ea typeface="Cambria Math" pitchFamily="18" charset="0"/>
              </a:rPr>
              <a:t>Solving, we find that  </a:t>
            </a:r>
            <a:r>
              <a:rPr lang="el-GR" dirty="0"/>
              <a:t>α</a:t>
            </a:r>
            <a:r>
              <a:rPr lang="en-US" baseline="-25000" dirty="0">
                <a:ea typeface="Cambria Math" pitchFamily="18" charset="0"/>
              </a:rPr>
              <a:t>1</a:t>
            </a:r>
            <a:r>
              <a:rPr lang="en-US" baseline="-25000" dirty="0"/>
              <a:t> </a:t>
            </a:r>
            <a:r>
              <a:rPr lang="en-US" dirty="0"/>
              <a:t> = </a:t>
            </a:r>
            <a:r>
              <a:rPr lang="en-US" dirty="0">
                <a:ea typeface="Cambria Math" pitchFamily="18" charset="0"/>
              </a:rPr>
              <a:t>1</a:t>
            </a:r>
            <a:r>
              <a:rPr lang="en-US" dirty="0"/>
              <a:t> and</a:t>
            </a:r>
            <a:r>
              <a:rPr lang="en-US" dirty="0">
                <a:solidFill>
                  <a:srgbClr val="FF0000"/>
                </a:solidFill>
              </a:rPr>
              <a:t>    </a:t>
            </a:r>
            <a:r>
              <a:rPr lang="el-GR" dirty="0"/>
              <a:t>α</a:t>
            </a:r>
            <a:r>
              <a:rPr lang="en-US" baseline="-25000" dirty="0">
                <a:ea typeface="Cambria Math" pitchFamily="18" charset="0"/>
              </a:rPr>
              <a:t>2</a:t>
            </a:r>
            <a:r>
              <a:rPr lang="en-US" baseline="-25000" dirty="0"/>
              <a:t> </a:t>
            </a:r>
            <a:r>
              <a:rPr lang="en-US" dirty="0"/>
              <a:t> = </a:t>
            </a:r>
            <a:r>
              <a:rPr lang="en-US" dirty="0">
                <a:ea typeface="Cambria Math" pitchFamily="18" charset="0"/>
              </a:rPr>
              <a:t>1</a:t>
            </a:r>
            <a:r>
              <a:rPr lang="en-US" dirty="0"/>
              <a:t>  .</a:t>
            </a:r>
          </a:p>
          <a:p>
            <a:pPr marL="120600">
              <a:lnSpc>
                <a:spcPct val="120000"/>
              </a:lnSpc>
              <a:spcBef>
                <a:spcPts val="600"/>
              </a:spcBef>
              <a:buNone/>
            </a:pPr>
            <a:r>
              <a:rPr lang="en-US" dirty="0"/>
              <a:t>Hence, </a:t>
            </a:r>
            <a:r>
              <a:rPr lang="en-US" i="1" dirty="0"/>
              <a:t>a</a:t>
            </a:r>
            <a:r>
              <a:rPr lang="en-US" i="1" baseline="-25000" dirty="0"/>
              <a:t>n</a:t>
            </a:r>
            <a:r>
              <a:rPr lang="en-US" dirty="0"/>
              <a:t> = </a:t>
            </a:r>
            <a:r>
              <a:rPr lang="en-US" dirty="0">
                <a:ea typeface="Cambria Math" pitchFamily="18" charset="0"/>
              </a:rPr>
              <a:t>3</a:t>
            </a:r>
            <a:r>
              <a:rPr lang="en-US" i="1" baseline="30000" dirty="0"/>
              <a:t>n</a:t>
            </a:r>
            <a:r>
              <a:rPr lang="en-US" dirty="0"/>
              <a:t> + </a:t>
            </a:r>
            <a:r>
              <a:rPr lang="en-US" i="1" dirty="0"/>
              <a:t>n</a:t>
            </a:r>
            <a:r>
              <a:rPr lang="en-US" dirty="0">
                <a:ea typeface="Cambria Math" pitchFamily="18" charset="0"/>
              </a:rPr>
              <a:t>3</a:t>
            </a:r>
            <a:r>
              <a:rPr lang="en-US" i="1" baseline="30000" dirty="0"/>
              <a:t>n</a:t>
            </a:r>
            <a:r>
              <a:rPr lang="en-US" dirty="0"/>
              <a:t> .</a:t>
            </a:r>
            <a:endParaRPr lang="en-US" baseline="30000" dirty="0"/>
          </a:p>
          <a:p>
            <a:pPr>
              <a:buNone/>
            </a:pPr>
            <a:endParaRPr lang="en-US" dirty="0"/>
          </a:p>
        </p:txBody>
      </p:sp>
    </p:spTree>
    <p:extLst>
      <p:ext uri="{BB962C8B-B14F-4D97-AF65-F5344CB8AC3E}">
        <p14:creationId xmlns:p14="http://schemas.microsoft.com/office/powerpoint/2010/main" val="34685134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Solving Linear Homogeneous Recurrence Relations of Arbitrary Degree</a:t>
            </a:r>
          </a:p>
        </p:txBody>
      </p:sp>
      <p:sp>
        <p:nvSpPr>
          <p:cNvPr id="3" name="Content Placeholder 2"/>
          <p:cNvSpPr>
            <a:spLocks noGrp="1"/>
          </p:cNvSpPr>
          <p:nvPr>
            <p:ph idx="1"/>
          </p:nvPr>
        </p:nvSpPr>
        <p:spPr/>
        <p:txBody>
          <a:bodyPr>
            <a:normAutofit/>
          </a:bodyPr>
          <a:lstStyle/>
          <a:p>
            <a:pPr>
              <a:buNone/>
            </a:pPr>
            <a:r>
              <a:rPr lang="en-US" b="1" dirty="0"/>
              <a:t>Theorem </a:t>
            </a:r>
            <a:r>
              <a:rPr lang="en-US" b="1" dirty="0">
                <a:ea typeface="Cambria Math" pitchFamily="18" charset="0"/>
              </a:rPr>
              <a:t>3</a:t>
            </a:r>
            <a:r>
              <a:rPr lang="en-US" dirty="0"/>
              <a:t>: Let </a:t>
            </a:r>
            <a:r>
              <a:rPr lang="en-US" i="1" dirty="0"/>
              <a:t>c</a:t>
            </a:r>
            <a:r>
              <a:rPr lang="en-US" baseline="-25000" dirty="0">
                <a:ea typeface="Cambria Math" pitchFamily="18" charset="0"/>
              </a:rPr>
              <a:t>1</a:t>
            </a:r>
            <a:r>
              <a:rPr lang="en-US" dirty="0"/>
              <a:t>, </a:t>
            </a:r>
            <a:r>
              <a:rPr lang="en-US" i="1" dirty="0"/>
              <a:t>c</a:t>
            </a:r>
            <a:r>
              <a:rPr lang="en-US" baseline="-25000" dirty="0">
                <a:ea typeface="Cambria Math" pitchFamily="18" charset="0"/>
              </a:rPr>
              <a:t>2</a:t>
            </a:r>
            <a:r>
              <a:rPr lang="en-US" i="1" dirty="0"/>
              <a:t> ,…, c</a:t>
            </a:r>
            <a:r>
              <a:rPr lang="en-US" i="1" baseline="-25000" dirty="0">
                <a:ea typeface="Cambria Math" pitchFamily="18" charset="0"/>
              </a:rPr>
              <a:t>k</a:t>
            </a:r>
            <a:r>
              <a:rPr lang="en-US" dirty="0"/>
              <a:t> be real numbers. Suppose that the characteristic equation                   </a:t>
            </a:r>
          </a:p>
          <a:p>
            <a:pPr>
              <a:buNone/>
            </a:pPr>
            <a:r>
              <a:rPr lang="en-US" i="1" dirty="0"/>
              <a:t>          </a:t>
            </a:r>
            <a:r>
              <a:rPr lang="en-US" i="1" dirty="0" err="1"/>
              <a:t>r</a:t>
            </a:r>
            <a:r>
              <a:rPr lang="en-US" i="1" baseline="30000" dirty="0" err="1">
                <a:ea typeface="Cambria Math" pitchFamily="18" charset="0"/>
              </a:rPr>
              <a:t>k</a:t>
            </a:r>
            <a:r>
              <a:rPr lang="en-US" i="1" dirty="0"/>
              <a:t> – c</a:t>
            </a:r>
            <a:r>
              <a:rPr lang="en-US" baseline="-25000" dirty="0">
                <a:ea typeface="Cambria Math" pitchFamily="18" charset="0"/>
              </a:rPr>
              <a:t>1</a:t>
            </a:r>
            <a:r>
              <a:rPr lang="en-US" i="1" dirty="0"/>
              <a:t>r</a:t>
            </a:r>
            <a:r>
              <a:rPr lang="en-US" i="1" baseline="30000" dirty="0"/>
              <a:t>k</a:t>
            </a:r>
            <a:r>
              <a:rPr lang="en-US" baseline="30000" dirty="0">
                <a:ea typeface="Cambria Math"/>
              </a:rPr>
              <a:t>−1</a:t>
            </a:r>
            <a:r>
              <a:rPr lang="en-US" i="1" baseline="30000" dirty="0"/>
              <a:t> </a:t>
            </a:r>
            <a:r>
              <a:rPr lang="en-US" dirty="0">
                <a:ea typeface="Cambria Math" pitchFamily="18" charset="0"/>
              </a:rPr>
              <a:t>– </a:t>
            </a:r>
            <a:r>
              <a:rPr lang="en-US" dirty="0"/>
              <a:t>…</a:t>
            </a:r>
            <a:r>
              <a:rPr lang="en-US" dirty="0">
                <a:ea typeface="Cambria Math" pitchFamily="18" charset="0"/>
              </a:rPr>
              <a:t>  –</a:t>
            </a:r>
            <a:r>
              <a:rPr lang="en-US" i="1" dirty="0"/>
              <a:t> c</a:t>
            </a:r>
            <a:r>
              <a:rPr lang="en-US" i="1" baseline="-25000" dirty="0">
                <a:ea typeface="Cambria Math" pitchFamily="18" charset="0"/>
              </a:rPr>
              <a:t>k</a:t>
            </a:r>
            <a:r>
              <a:rPr lang="en-US" i="1" dirty="0"/>
              <a:t> = </a:t>
            </a:r>
            <a:r>
              <a:rPr lang="en-US" dirty="0">
                <a:ea typeface="Cambria Math" pitchFamily="18" charset="0"/>
              </a:rPr>
              <a:t>0</a:t>
            </a:r>
            <a:r>
              <a:rPr lang="en-US" i="1" dirty="0"/>
              <a:t> </a:t>
            </a:r>
          </a:p>
          <a:p>
            <a:pPr>
              <a:buNone/>
            </a:pPr>
            <a:r>
              <a:rPr lang="en-US" i="1" dirty="0"/>
              <a:t>   </a:t>
            </a:r>
            <a:r>
              <a:rPr lang="en-US" dirty="0"/>
              <a:t>has</a:t>
            </a:r>
            <a:r>
              <a:rPr lang="en-US" i="1" dirty="0"/>
              <a:t> k </a:t>
            </a:r>
            <a:r>
              <a:rPr lang="en-US" dirty="0"/>
              <a:t>distinct roots </a:t>
            </a:r>
            <a:r>
              <a:rPr lang="en-US" i="1" dirty="0"/>
              <a:t>r</a:t>
            </a:r>
            <a:r>
              <a:rPr lang="en-US" baseline="-25000" dirty="0">
                <a:ea typeface="Cambria Math" pitchFamily="18" charset="0"/>
              </a:rPr>
              <a:t>1</a:t>
            </a:r>
            <a:r>
              <a:rPr lang="en-US" dirty="0"/>
              <a:t>, </a:t>
            </a:r>
            <a:r>
              <a:rPr lang="en-US" i="1" dirty="0"/>
              <a:t>r</a:t>
            </a:r>
            <a:r>
              <a:rPr lang="en-US" baseline="-25000" dirty="0">
                <a:ea typeface="Cambria Math" pitchFamily="18" charset="0"/>
              </a:rPr>
              <a:t>2</a:t>
            </a:r>
            <a:r>
              <a:rPr lang="en-US" dirty="0"/>
              <a:t>, …, </a:t>
            </a:r>
            <a:r>
              <a:rPr lang="en-US" i="1" dirty="0" err="1"/>
              <a:t>r</a:t>
            </a:r>
            <a:r>
              <a:rPr lang="en-US" i="1" baseline="-25000" dirty="0" err="1"/>
              <a:t>k</a:t>
            </a:r>
            <a:r>
              <a:rPr lang="en-US" dirty="0"/>
              <a:t>. Then a sequence {</a:t>
            </a:r>
            <a:r>
              <a:rPr lang="en-US" i="1" dirty="0"/>
              <a:t>a</a:t>
            </a:r>
            <a:r>
              <a:rPr lang="en-US" i="1" baseline="-25000" dirty="0"/>
              <a:t>n</a:t>
            </a:r>
            <a:r>
              <a:rPr lang="en-US" dirty="0"/>
              <a:t>}   is a solution of the recurrence relation</a:t>
            </a:r>
          </a:p>
          <a:p>
            <a:pPr>
              <a:buNone/>
            </a:pPr>
            <a:r>
              <a:rPr lang="en-US" dirty="0"/>
              <a:t>        </a:t>
            </a:r>
            <a:r>
              <a:rPr lang="en-US" i="1" dirty="0"/>
              <a:t>a</a:t>
            </a:r>
            <a:r>
              <a:rPr lang="en-US" i="1" baseline="-25000" dirty="0"/>
              <a:t>n</a:t>
            </a:r>
            <a:r>
              <a:rPr lang="en-US" i="1" dirty="0"/>
              <a:t> = c</a:t>
            </a:r>
            <a:r>
              <a:rPr lang="en-US" baseline="-25000" dirty="0">
                <a:ea typeface="Cambria Math" pitchFamily="18" charset="0"/>
              </a:rPr>
              <a:t>1</a:t>
            </a:r>
            <a:r>
              <a:rPr lang="en-US" i="1" dirty="0"/>
              <a:t>a</a:t>
            </a:r>
            <a:r>
              <a:rPr lang="en-US" i="1" baseline="-25000" dirty="0"/>
              <a:t>n</a:t>
            </a:r>
            <a:r>
              <a:rPr lang="en-US" i="1" baseline="-25000" dirty="0">
                <a:ea typeface="Cambria Math"/>
              </a:rPr>
              <a:t>−</a:t>
            </a:r>
            <a:r>
              <a:rPr lang="en-US" baseline="-25000" dirty="0">
                <a:ea typeface="Cambria Math" pitchFamily="18" charset="0"/>
              </a:rPr>
              <a:t>1</a:t>
            </a:r>
            <a:r>
              <a:rPr lang="en-US" i="1" baseline="-25000" dirty="0"/>
              <a:t> </a:t>
            </a:r>
            <a:r>
              <a:rPr lang="en-US" i="1" dirty="0"/>
              <a:t>+ c</a:t>
            </a:r>
            <a:r>
              <a:rPr lang="en-US" baseline="-25000" dirty="0">
                <a:ea typeface="Cambria Math" pitchFamily="18" charset="0"/>
              </a:rPr>
              <a:t>2</a:t>
            </a:r>
            <a:r>
              <a:rPr lang="en-US" i="1" dirty="0"/>
              <a:t>a</a:t>
            </a:r>
            <a:r>
              <a:rPr lang="en-US" i="1" baseline="-25000" dirty="0"/>
              <a:t>n</a:t>
            </a:r>
            <a:r>
              <a:rPr lang="en-US" i="1" baseline="-25000" dirty="0">
                <a:ea typeface="Cambria Math"/>
              </a:rPr>
              <a:t>−</a:t>
            </a:r>
            <a:r>
              <a:rPr lang="en-US" baseline="-25000" dirty="0">
                <a:ea typeface="Cambria Math" pitchFamily="18" charset="0"/>
              </a:rPr>
              <a:t>2</a:t>
            </a:r>
            <a:r>
              <a:rPr lang="en-US" i="1" dirty="0"/>
              <a:t> + ….. + c</a:t>
            </a:r>
            <a:r>
              <a:rPr lang="en-US" i="1" baseline="-25000" dirty="0"/>
              <a:t>k</a:t>
            </a:r>
            <a:r>
              <a:rPr lang="en-US" i="1" dirty="0"/>
              <a:t> a</a:t>
            </a:r>
            <a:r>
              <a:rPr lang="en-US" i="1" baseline="-25000" dirty="0"/>
              <a:t>n</a:t>
            </a:r>
            <a:r>
              <a:rPr lang="en-US" i="1" baseline="-25000" dirty="0">
                <a:ea typeface="Cambria Math"/>
              </a:rPr>
              <a:t>−</a:t>
            </a:r>
            <a:r>
              <a:rPr lang="en-US" i="1" baseline="-25000" dirty="0"/>
              <a:t>k</a:t>
            </a:r>
          </a:p>
          <a:p>
            <a:pPr>
              <a:buNone/>
            </a:pPr>
            <a:r>
              <a:rPr lang="en-US" i="1" baseline="-25000" dirty="0"/>
              <a:t>      </a:t>
            </a:r>
            <a:r>
              <a:rPr lang="en-US" dirty="0"/>
              <a:t>if and only if</a:t>
            </a:r>
          </a:p>
          <a:p>
            <a:pPr>
              <a:buNone/>
            </a:pPr>
            <a:endParaRPr lang="en-US" dirty="0"/>
          </a:p>
          <a:p>
            <a:pPr>
              <a:buNone/>
            </a:pPr>
            <a:r>
              <a:rPr lang="en-US" dirty="0"/>
              <a:t>    for </a:t>
            </a:r>
            <a:r>
              <a:rPr lang="en-US" i="1" dirty="0"/>
              <a:t>n</a:t>
            </a:r>
            <a:r>
              <a:rPr lang="en-US" dirty="0"/>
              <a:t> = </a:t>
            </a:r>
            <a:r>
              <a:rPr lang="en-US" dirty="0">
                <a:ea typeface="Cambria Math" pitchFamily="18" charset="0"/>
              </a:rPr>
              <a:t>0</a:t>
            </a:r>
            <a:r>
              <a:rPr lang="en-US" dirty="0"/>
              <a:t>, </a:t>
            </a:r>
            <a:r>
              <a:rPr lang="en-US" dirty="0">
                <a:ea typeface="Cambria Math" pitchFamily="18" charset="0"/>
              </a:rPr>
              <a:t>1</a:t>
            </a:r>
            <a:r>
              <a:rPr lang="en-US" dirty="0"/>
              <a:t>, </a:t>
            </a:r>
            <a:r>
              <a:rPr lang="en-US" dirty="0">
                <a:ea typeface="Cambria Math" pitchFamily="18" charset="0"/>
              </a:rPr>
              <a:t>2</a:t>
            </a:r>
            <a:r>
              <a:rPr lang="en-US" dirty="0"/>
              <a:t>, …, where </a:t>
            </a:r>
            <a:r>
              <a:rPr lang="el-GR" dirty="0">
                <a:ea typeface="Cambria Math"/>
              </a:rPr>
              <a:t>α</a:t>
            </a:r>
            <a:r>
              <a:rPr lang="en-US" baseline="-25000" dirty="0">
                <a:ea typeface="Cambria Math"/>
              </a:rPr>
              <a:t>1</a:t>
            </a:r>
            <a:r>
              <a:rPr lang="en-US" dirty="0">
                <a:ea typeface="Cambria Math"/>
              </a:rPr>
              <a:t>,</a:t>
            </a:r>
            <a:r>
              <a:rPr lang="en-US" dirty="0"/>
              <a:t> </a:t>
            </a:r>
            <a:r>
              <a:rPr lang="el-GR" dirty="0">
                <a:ea typeface="Cambria Math"/>
              </a:rPr>
              <a:t>α</a:t>
            </a:r>
            <a:r>
              <a:rPr lang="en-US" baseline="-25000" dirty="0">
                <a:ea typeface="Cambria Math"/>
              </a:rPr>
              <a:t>2</a:t>
            </a:r>
            <a:r>
              <a:rPr lang="en-US" dirty="0">
                <a:ea typeface="Cambria Math"/>
              </a:rPr>
              <a:t>,…,</a:t>
            </a:r>
            <a:r>
              <a:rPr lang="el-GR" dirty="0">
                <a:ea typeface="Cambria Math"/>
              </a:rPr>
              <a:t> α</a:t>
            </a:r>
            <a:r>
              <a:rPr lang="en-US" i="1" baseline="-25000" dirty="0">
                <a:ea typeface="Cambria Math"/>
              </a:rPr>
              <a:t>k</a:t>
            </a:r>
            <a:r>
              <a:rPr lang="en-US" dirty="0">
                <a:ea typeface="Cambria Math"/>
              </a:rPr>
              <a:t> are constants. </a:t>
            </a:r>
            <a:endParaRPr lang="en-US" dirty="0"/>
          </a:p>
        </p:txBody>
      </p:sp>
      <p:pic>
        <p:nvPicPr>
          <p:cNvPr id="5" name="Picture 4" descr="addin_tmp.png"/>
          <p:cNvPicPr>
            <a:picLocks noChangeAspect="1"/>
          </p:cNvPicPr>
          <p:nvPr>
            <p:custDataLst>
              <p:tags r:id="rId1"/>
            </p:custDataLst>
          </p:nvPr>
        </p:nvPicPr>
        <p:blipFill>
          <a:blip r:embed="rId3" cstate="print"/>
          <a:stretch>
            <a:fillRect/>
          </a:stretch>
        </p:blipFill>
        <p:spPr>
          <a:xfrm>
            <a:off x="1641764" y="5161979"/>
            <a:ext cx="4688300" cy="329184"/>
          </a:xfrm>
          <a:prstGeom prst="rect">
            <a:avLst/>
          </a:prstGeom>
        </p:spPr>
      </p:pic>
    </p:spTree>
    <p:extLst>
      <p:ext uri="{BB962C8B-B14F-4D97-AF65-F5344CB8AC3E}">
        <p14:creationId xmlns:p14="http://schemas.microsoft.com/office/powerpoint/2010/main" val="9948466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The General Case with Repeated Roots Allowed </a:t>
            </a:r>
          </a:p>
        </p:txBody>
      </p:sp>
      <p:sp>
        <p:nvSpPr>
          <p:cNvPr id="3" name="Content Placeholder 2"/>
          <p:cNvSpPr>
            <a:spLocks noGrp="1"/>
          </p:cNvSpPr>
          <p:nvPr>
            <p:ph idx="1"/>
          </p:nvPr>
        </p:nvSpPr>
        <p:spPr/>
        <p:txBody>
          <a:bodyPr>
            <a:normAutofit fontScale="70000" lnSpcReduction="20000"/>
          </a:bodyPr>
          <a:lstStyle/>
          <a:p>
            <a:pPr>
              <a:buNone/>
            </a:pPr>
            <a:r>
              <a:rPr lang="en-US" b="1" dirty="0"/>
              <a:t>Theorem </a:t>
            </a:r>
            <a:r>
              <a:rPr lang="en-US" b="1" dirty="0">
                <a:ea typeface="Cambria Math" pitchFamily="18" charset="0"/>
              </a:rPr>
              <a:t>4</a:t>
            </a:r>
            <a:r>
              <a:rPr lang="en-US" dirty="0"/>
              <a:t>: Let </a:t>
            </a:r>
            <a:r>
              <a:rPr lang="en-US" i="1" dirty="0"/>
              <a:t>c</a:t>
            </a:r>
            <a:r>
              <a:rPr lang="en-US" baseline="-25000" dirty="0">
                <a:ea typeface="Cambria Math" pitchFamily="18" charset="0"/>
              </a:rPr>
              <a:t>1</a:t>
            </a:r>
            <a:r>
              <a:rPr lang="en-US" dirty="0"/>
              <a:t>, </a:t>
            </a:r>
            <a:r>
              <a:rPr lang="en-US" i="1" dirty="0"/>
              <a:t>c</a:t>
            </a:r>
            <a:r>
              <a:rPr lang="en-US" baseline="-25000" dirty="0">
                <a:ea typeface="Cambria Math" pitchFamily="18" charset="0"/>
              </a:rPr>
              <a:t>2</a:t>
            </a:r>
            <a:r>
              <a:rPr lang="en-US" i="1" dirty="0"/>
              <a:t> ,…, c</a:t>
            </a:r>
            <a:r>
              <a:rPr lang="en-US" i="1" baseline="-25000" dirty="0">
                <a:ea typeface="Cambria Math" pitchFamily="18" charset="0"/>
              </a:rPr>
              <a:t>k</a:t>
            </a:r>
            <a:r>
              <a:rPr lang="en-US" dirty="0"/>
              <a:t> be real numbers. Suppose that the characteristic equation                   </a:t>
            </a:r>
          </a:p>
          <a:p>
            <a:pPr>
              <a:buNone/>
            </a:pPr>
            <a:r>
              <a:rPr lang="en-US" i="1" dirty="0"/>
              <a:t>              </a:t>
            </a:r>
            <a:r>
              <a:rPr lang="en-US" i="1" dirty="0" err="1"/>
              <a:t>r</a:t>
            </a:r>
            <a:r>
              <a:rPr lang="en-US" i="1" baseline="30000" dirty="0" err="1">
                <a:ea typeface="Cambria Math" pitchFamily="18" charset="0"/>
              </a:rPr>
              <a:t>k</a:t>
            </a:r>
            <a:r>
              <a:rPr lang="en-US" i="1" dirty="0"/>
              <a:t> – c</a:t>
            </a:r>
            <a:r>
              <a:rPr lang="en-US" baseline="-25000" dirty="0">
                <a:ea typeface="Cambria Math" pitchFamily="18" charset="0"/>
              </a:rPr>
              <a:t>1</a:t>
            </a:r>
            <a:r>
              <a:rPr lang="en-US" i="1" dirty="0"/>
              <a:t>r</a:t>
            </a:r>
            <a:r>
              <a:rPr lang="en-US" i="1" baseline="30000" dirty="0"/>
              <a:t>k</a:t>
            </a:r>
            <a:r>
              <a:rPr lang="en-US" baseline="30000" dirty="0">
                <a:ea typeface="Cambria Math"/>
              </a:rPr>
              <a:t>−1</a:t>
            </a:r>
            <a:r>
              <a:rPr lang="en-US" i="1" baseline="30000" dirty="0"/>
              <a:t> </a:t>
            </a:r>
            <a:r>
              <a:rPr lang="en-US" dirty="0">
                <a:ea typeface="Cambria Math" pitchFamily="18" charset="0"/>
              </a:rPr>
              <a:t>–</a:t>
            </a:r>
            <a:r>
              <a:rPr lang="en-US" dirty="0">
                <a:ea typeface="Cambria Math"/>
              </a:rPr>
              <a:t>⋯</a:t>
            </a:r>
            <a:r>
              <a:rPr lang="en-US" dirty="0">
                <a:ea typeface="Cambria Math" pitchFamily="18" charset="0"/>
              </a:rPr>
              <a:t> –</a:t>
            </a:r>
            <a:r>
              <a:rPr lang="en-US" i="1" dirty="0"/>
              <a:t> c</a:t>
            </a:r>
            <a:r>
              <a:rPr lang="en-US" i="1" baseline="-25000" dirty="0">
                <a:ea typeface="Cambria Math" pitchFamily="18" charset="0"/>
              </a:rPr>
              <a:t>k</a:t>
            </a:r>
            <a:r>
              <a:rPr lang="en-US" i="1" dirty="0"/>
              <a:t> = </a:t>
            </a:r>
            <a:r>
              <a:rPr lang="en-US" dirty="0">
                <a:ea typeface="Cambria Math" pitchFamily="18" charset="0"/>
              </a:rPr>
              <a:t>0</a:t>
            </a:r>
            <a:r>
              <a:rPr lang="en-US" i="1" dirty="0"/>
              <a:t> </a:t>
            </a:r>
          </a:p>
          <a:p>
            <a:pPr>
              <a:buNone/>
            </a:pPr>
            <a:r>
              <a:rPr lang="en-US" i="1" dirty="0"/>
              <a:t>     </a:t>
            </a:r>
            <a:r>
              <a:rPr lang="en-US" dirty="0"/>
              <a:t>has</a:t>
            </a:r>
            <a:r>
              <a:rPr lang="en-US" i="1" dirty="0"/>
              <a:t> t </a:t>
            </a:r>
            <a:r>
              <a:rPr lang="en-US" dirty="0"/>
              <a:t>distinct roots </a:t>
            </a:r>
            <a:r>
              <a:rPr lang="en-US" i="1" dirty="0"/>
              <a:t>r</a:t>
            </a:r>
            <a:r>
              <a:rPr lang="en-US" baseline="-25000" dirty="0">
                <a:ea typeface="Cambria Math" pitchFamily="18" charset="0"/>
              </a:rPr>
              <a:t>1</a:t>
            </a:r>
            <a:r>
              <a:rPr lang="en-US" dirty="0"/>
              <a:t>, </a:t>
            </a:r>
            <a:r>
              <a:rPr lang="en-US" i="1" dirty="0"/>
              <a:t>r</a:t>
            </a:r>
            <a:r>
              <a:rPr lang="en-US" baseline="-25000" dirty="0">
                <a:ea typeface="Cambria Math" pitchFamily="18" charset="0"/>
              </a:rPr>
              <a:t>2</a:t>
            </a:r>
            <a:r>
              <a:rPr lang="en-US" dirty="0"/>
              <a:t>, …, </a:t>
            </a:r>
            <a:r>
              <a:rPr lang="en-US" i="1" dirty="0" err="1"/>
              <a:t>r</a:t>
            </a:r>
            <a:r>
              <a:rPr lang="en-US" i="1" baseline="-25000" dirty="0" err="1"/>
              <a:t>t</a:t>
            </a:r>
            <a:r>
              <a:rPr lang="en-US" dirty="0"/>
              <a:t> with multiplicities  </a:t>
            </a:r>
            <a:r>
              <a:rPr lang="en-US" i="1" dirty="0"/>
              <a:t>m</a:t>
            </a:r>
            <a:r>
              <a:rPr lang="en-US" baseline="-25000" dirty="0">
                <a:ea typeface="Cambria Math" pitchFamily="18" charset="0"/>
              </a:rPr>
              <a:t>1</a:t>
            </a:r>
            <a:r>
              <a:rPr lang="en-US" dirty="0"/>
              <a:t>, </a:t>
            </a:r>
            <a:r>
              <a:rPr lang="en-US" i="1" dirty="0"/>
              <a:t>m</a:t>
            </a:r>
            <a:r>
              <a:rPr lang="en-US" baseline="-25000" dirty="0">
                <a:ea typeface="Cambria Math" pitchFamily="18" charset="0"/>
              </a:rPr>
              <a:t>2</a:t>
            </a:r>
            <a:r>
              <a:rPr lang="en-US" dirty="0"/>
              <a:t>, …, </a:t>
            </a:r>
            <a:r>
              <a:rPr lang="en-US" i="1" dirty="0" err="1"/>
              <a:t>m</a:t>
            </a:r>
            <a:r>
              <a:rPr lang="en-US" i="1" baseline="-25000" dirty="0" err="1"/>
              <a:t>t</a:t>
            </a:r>
            <a:r>
              <a:rPr lang="en-US" dirty="0"/>
              <a:t>, respectively so that </a:t>
            </a:r>
            <a:r>
              <a:rPr lang="en-US" i="1" dirty="0"/>
              <a:t>m</a:t>
            </a:r>
            <a:r>
              <a:rPr lang="en-US" i="1" baseline="-25000" dirty="0"/>
              <a:t>i</a:t>
            </a:r>
            <a:r>
              <a:rPr lang="en-US" dirty="0"/>
              <a:t> </a:t>
            </a:r>
            <a:r>
              <a:rPr lang="en-US" dirty="0">
                <a:ea typeface="Cambria Math"/>
              </a:rPr>
              <a:t>≥</a:t>
            </a:r>
            <a:r>
              <a:rPr lang="en-US" dirty="0"/>
              <a:t> </a:t>
            </a:r>
            <a:r>
              <a:rPr lang="en-US" dirty="0">
                <a:ea typeface="Cambria Math" pitchFamily="18" charset="0"/>
              </a:rPr>
              <a:t>1</a:t>
            </a:r>
            <a:r>
              <a:rPr lang="en-US" dirty="0"/>
              <a:t> for </a:t>
            </a:r>
            <a:r>
              <a:rPr lang="en-US" sz="2400" i="1" dirty="0"/>
              <a:t>i</a:t>
            </a:r>
            <a:r>
              <a:rPr lang="en-US" sz="2400" dirty="0"/>
              <a:t> = </a:t>
            </a:r>
            <a:r>
              <a:rPr lang="en-US" sz="2400" dirty="0">
                <a:ea typeface="Cambria Math" pitchFamily="18" charset="0"/>
              </a:rPr>
              <a:t>0</a:t>
            </a:r>
            <a:r>
              <a:rPr lang="en-US" sz="2400" dirty="0"/>
              <a:t>, </a:t>
            </a:r>
            <a:r>
              <a:rPr lang="en-US" sz="2400" dirty="0">
                <a:ea typeface="Cambria Math" pitchFamily="18" charset="0"/>
              </a:rPr>
              <a:t>1</a:t>
            </a:r>
            <a:r>
              <a:rPr lang="en-US" sz="2400" dirty="0"/>
              <a:t>, </a:t>
            </a:r>
            <a:r>
              <a:rPr lang="en-US" sz="2400" dirty="0">
                <a:ea typeface="Cambria Math" pitchFamily="18" charset="0"/>
              </a:rPr>
              <a:t>2</a:t>
            </a:r>
            <a:r>
              <a:rPr lang="en-US" sz="2400" dirty="0"/>
              <a:t>, …,</a:t>
            </a:r>
            <a:r>
              <a:rPr lang="en-US" sz="2400" i="1" dirty="0"/>
              <a:t>t</a:t>
            </a:r>
            <a:r>
              <a:rPr lang="en-US" sz="2400" dirty="0"/>
              <a:t> and </a:t>
            </a:r>
            <a:r>
              <a:rPr lang="en-US" i="1" dirty="0"/>
              <a:t>m</a:t>
            </a:r>
            <a:r>
              <a:rPr lang="en-US" baseline="-25000" dirty="0">
                <a:ea typeface="Cambria Math" pitchFamily="18" charset="0"/>
              </a:rPr>
              <a:t>1</a:t>
            </a:r>
            <a:r>
              <a:rPr lang="en-US" dirty="0"/>
              <a:t> +  </a:t>
            </a:r>
            <a:r>
              <a:rPr lang="en-US" i="1" dirty="0"/>
              <a:t>m</a:t>
            </a:r>
            <a:r>
              <a:rPr lang="en-US" baseline="-25000" dirty="0">
                <a:ea typeface="Cambria Math" pitchFamily="18" charset="0"/>
              </a:rPr>
              <a:t>2</a:t>
            </a:r>
            <a:r>
              <a:rPr lang="en-US" dirty="0"/>
              <a:t> +  … + </a:t>
            </a:r>
            <a:r>
              <a:rPr lang="en-US" i="1" dirty="0" err="1"/>
              <a:t>m</a:t>
            </a:r>
            <a:r>
              <a:rPr lang="en-US" i="1" baseline="-25000" dirty="0" err="1"/>
              <a:t>t</a:t>
            </a:r>
            <a:r>
              <a:rPr lang="en-US" i="1" baseline="-25000" dirty="0"/>
              <a:t> </a:t>
            </a:r>
            <a:r>
              <a:rPr lang="en-US" dirty="0"/>
              <a:t>= </a:t>
            </a:r>
            <a:r>
              <a:rPr lang="en-US" i="1" dirty="0"/>
              <a:t>k</a:t>
            </a:r>
            <a:r>
              <a:rPr lang="en-US" dirty="0"/>
              <a:t>. Then a sequence {</a:t>
            </a:r>
            <a:r>
              <a:rPr lang="en-US" i="1" dirty="0"/>
              <a:t>a</a:t>
            </a:r>
            <a:r>
              <a:rPr lang="en-US" i="1" baseline="-25000" dirty="0"/>
              <a:t>n</a:t>
            </a:r>
            <a:r>
              <a:rPr lang="en-US" dirty="0"/>
              <a:t>}   is a solution of the recurrence relation</a:t>
            </a:r>
          </a:p>
          <a:p>
            <a:pPr>
              <a:buNone/>
            </a:pPr>
            <a:r>
              <a:rPr lang="en-US" dirty="0"/>
              <a:t>           </a:t>
            </a:r>
            <a:r>
              <a:rPr lang="en-US" i="1" dirty="0"/>
              <a:t>a</a:t>
            </a:r>
            <a:r>
              <a:rPr lang="en-US" i="1" baseline="-25000" dirty="0"/>
              <a:t>n</a:t>
            </a:r>
            <a:r>
              <a:rPr lang="en-US" i="1" dirty="0"/>
              <a:t> = c</a:t>
            </a:r>
            <a:r>
              <a:rPr lang="en-US" baseline="-25000" dirty="0">
                <a:ea typeface="Cambria Math" pitchFamily="18" charset="0"/>
              </a:rPr>
              <a:t>1</a:t>
            </a:r>
            <a:r>
              <a:rPr lang="en-US" i="1" dirty="0"/>
              <a:t>a</a:t>
            </a:r>
            <a:r>
              <a:rPr lang="en-US" i="1" baseline="-25000" dirty="0"/>
              <a:t>n</a:t>
            </a:r>
            <a:r>
              <a:rPr lang="en-US" i="1" baseline="-25000" dirty="0">
                <a:ea typeface="Cambria Math"/>
              </a:rPr>
              <a:t>−</a:t>
            </a:r>
            <a:r>
              <a:rPr lang="en-US" baseline="-25000" dirty="0">
                <a:ea typeface="Cambria Math" pitchFamily="18" charset="0"/>
              </a:rPr>
              <a:t>1</a:t>
            </a:r>
            <a:r>
              <a:rPr lang="en-US" i="1" baseline="-25000" dirty="0"/>
              <a:t> </a:t>
            </a:r>
            <a:r>
              <a:rPr lang="en-US" i="1" dirty="0"/>
              <a:t>+ c</a:t>
            </a:r>
            <a:r>
              <a:rPr lang="en-US" baseline="-25000" dirty="0">
                <a:ea typeface="Cambria Math" pitchFamily="18" charset="0"/>
              </a:rPr>
              <a:t>2</a:t>
            </a:r>
            <a:r>
              <a:rPr lang="en-US" i="1" dirty="0"/>
              <a:t>a</a:t>
            </a:r>
            <a:r>
              <a:rPr lang="en-US" i="1" baseline="-25000" dirty="0"/>
              <a:t>n</a:t>
            </a:r>
            <a:r>
              <a:rPr lang="en-US" i="1" baseline="-25000" dirty="0">
                <a:ea typeface="Cambria Math"/>
              </a:rPr>
              <a:t>−</a:t>
            </a:r>
            <a:r>
              <a:rPr lang="en-US" baseline="-25000" dirty="0">
                <a:ea typeface="Cambria Math" pitchFamily="18" charset="0"/>
              </a:rPr>
              <a:t>2</a:t>
            </a:r>
            <a:r>
              <a:rPr lang="en-US" i="1" dirty="0"/>
              <a:t> + ….. + c</a:t>
            </a:r>
            <a:r>
              <a:rPr lang="en-US" i="1" baseline="-25000" dirty="0"/>
              <a:t>k</a:t>
            </a:r>
            <a:r>
              <a:rPr lang="en-US" i="1" dirty="0"/>
              <a:t> a</a:t>
            </a:r>
            <a:r>
              <a:rPr lang="en-US" i="1" baseline="-25000" dirty="0"/>
              <a:t>n</a:t>
            </a:r>
            <a:r>
              <a:rPr lang="en-US" i="1" baseline="-25000" dirty="0">
                <a:ea typeface="Cambria Math"/>
              </a:rPr>
              <a:t>−</a:t>
            </a:r>
            <a:r>
              <a:rPr lang="en-US" i="1" baseline="-25000" dirty="0"/>
              <a:t>k</a:t>
            </a:r>
          </a:p>
          <a:p>
            <a:pPr>
              <a:buNone/>
            </a:pPr>
            <a:r>
              <a:rPr lang="en-US" i="1" baseline="-25000" dirty="0"/>
              <a:t>       </a:t>
            </a:r>
            <a:r>
              <a:rPr lang="en-US" dirty="0"/>
              <a:t>if and only if</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r>
              <a:rPr lang="en-US" dirty="0"/>
              <a:t>     for </a:t>
            </a:r>
            <a:r>
              <a:rPr lang="en-US" i="1" dirty="0"/>
              <a:t>n</a:t>
            </a:r>
            <a:r>
              <a:rPr lang="en-US" dirty="0"/>
              <a:t> = </a:t>
            </a:r>
            <a:r>
              <a:rPr lang="en-US" dirty="0">
                <a:ea typeface="Cambria Math" pitchFamily="18" charset="0"/>
              </a:rPr>
              <a:t>0</a:t>
            </a:r>
            <a:r>
              <a:rPr lang="en-US" dirty="0"/>
              <a:t>, </a:t>
            </a:r>
            <a:r>
              <a:rPr lang="en-US" dirty="0">
                <a:ea typeface="Cambria Math" pitchFamily="18" charset="0"/>
              </a:rPr>
              <a:t>1</a:t>
            </a:r>
            <a:r>
              <a:rPr lang="en-US" dirty="0"/>
              <a:t>, </a:t>
            </a:r>
            <a:r>
              <a:rPr lang="en-US" dirty="0">
                <a:ea typeface="Cambria Math" pitchFamily="18" charset="0"/>
              </a:rPr>
              <a:t>2</a:t>
            </a:r>
            <a:r>
              <a:rPr lang="en-US" dirty="0"/>
              <a:t>, …, where </a:t>
            </a:r>
            <a:r>
              <a:rPr lang="el-GR" dirty="0">
                <a:ea typeface="Cambria Math"/>
              </a:rPr>
              <a:t>α</a:t>
            </a:r>
            <a:r>
              <a:rPr lang="en-US" i="1" baseline="-25000" dirty="0" err="1">
                <a:ea typeface="Cambria Math"/>
              </a:rPr>
              <a:t>i,j</a:t>
            </a:r>
            <a:r>
              <a:rPr lang="en-US" dirty="0">
                <a:ea typeface="Cambria Math"/>
              </a:rPr>
              <a:t> </a:t>
            </a:r>
            <a:r>
              <a:rPr lang="en-US" sz="2900" dirty="0">
                <a:ea typeface="Cambria Math"/>
              </a:rPr>
              <a:t>are constants for 1≤ </a:t>
            </a:r>
            <a:r>
              <a:rPr lang="en-US" sz="2900" i="1" dirty="0" err="1">
                <a:ea typeface="Cambria Math"/>
              </a:rPr>
              <a:t>i</a:t>
            </a:r>
            <a:r>
              <a:rPr lang="en-US" sz="2900" i="1" dirty="0">
                <a:ea typeface="Cambria Math"/>
              </a:rPr>
              <a:t> </a:t>
            </a:r>
            <a:r>
              <a:rPr lang="en-US" sz="2900" dirty="0">
                <a:ea typeface="Cambria Math"/>
              </a:rPr>
              <a:t>≤ </a:t>
            </a:r>
            <a:r>
              <a:rPr lang="en-US" sz="2900" i="1" dirty="0">
                <a:ea typeface="Cambria Math"/>
              </a:rPr>
              <a:t>t</a:t>
            </a:r>
            <a:r>
              <a:rPr lang="en-US" sz="2900" dirty="0">
                <a:ea typeface="Cambria Math"/>
              </a:rPr>
              <a:t>  and 0 ≤ </a:t>
            </a:r>
            <a:r>
              <a:rPr lang="en-US" sz="2900" i="1" dirty="0">
                <a:ea typeface="Cambria Math"/>
              </a:rPr>
              <a:t>j </a:t>
            </a:r>
            <a:r>
              <a:rPr lang="en-US" sz="2900" dirty="0">
                <a:ea typeface="Cambria Math"/>
              </a:rPr>
              <a:t>≤ </a:t>
            </a:r>
            <a:r>
              <a:rPr lang="en-US" sz="2900" i="1" dirty="0">
                <a:ea typeface="Cambria Math"/>
              </a:rPr>
              <a:t>m</a:t>
            </a:r>
            <a:r>
              <a:rPr lang="en-US" sz="2900" i="1" baseline="-25000" dirty="0">
                <a:ea typeface="Cambria Math"/>
              </a:rPr>
              <a:t>i−</a:t>
            </a:r>
            <a:r>
              <a:rPr lang="en-US" sz="2900" baseline="-25000" dirty="0">
                <a:ea typeface="Cambria Math" pitchFamily="18" charset="0"/>
              </a:rPr>
              <a:t>1</a:t>
            </a:r>
            <a:r>
              <a:rPr lang="en-US" dirty="0">
                <a:ea typeface="Cambria Math" pitchFamily="18" charset="0"/>
              </a:rPr>
              <a:t>.</a:t>
            </a:r>
            <a:r>
              <a:rPr lang="en-US" dirty="0">
                <a:ea typeface="Cambria Math"/>
              </a:rPr>
              <a:t> </a:t>
            </a:r>
            <a:endParaRPr lang="en-US" dirty="0"/>
          </a:p>
        </p:txBody>
      </p:sp>
      <p:pic>
        <p:nvPicPr>
          <p:cNvPr id="11" name="Picture 10" descr="addin_tmp.png"/>
          <p:cNvPicPr>
            <a:picLocks noChangeAspect="1"/>
          </p:cNvPicPr>
          <p:nvPr>
            <p:custDataLst>
              <p:tags r:id="rId1"/>
            </p:custDataLst>
          </p:nvPr>
        </p:nvPicPr>
        <p:blipFill>
          <a:blip r:embed="rId5" cstate="print"/>
          <a:stretch>
            <a:fillRect/>
          </a:stretch>
        </p:blipFill>
        <p:spPr>
          <a:xfrm>
            <a:off x="1659082" y="3906982"/>
            <a:ext cx="5102638" cy="298037"/>
          </a:xfrm>
          <a:prstGeom prst="rect">
            <a:avLst/>
          </a:prstGeom>
        </p:spPr>
      </p:pic>
      <p:pic>
        <p:nvPicPr>
          <p:cNvPr id="13" name="Picture 12" descr="addin_tmp.png"/>
          <p:cNvPicPr>
            <a:picLocks noChangeAspect="1"/>
          </p:cNvPicPr>
          <p:nvPr>
            <p:custDataLst>
              <p:tags r:id="rId2"/>
            </p:custDataLst>
          </p:nvPr>
        </p:nvPicPr>
        <p:blipFill>
          <a:blip r:embed="rId6" cstate="print"/>
          <a:stretch>
            <a:fillRect/>
          </a:stretch>
        </p:blipFill>
        <p:spPr>
          <a:xfrm>
            <a:off x="2344884" y="4364183"/>
            <a:ext cx="4666583" cy="298037"/>
          </a:xfrm>
          <a:prstGeom prst="rect">
            <a:avLst/>
          </a:prstGeom>
        </p:spPr>
      </p:pic>
      <p:pic>
        <p:nvPicPr>
          <p:cNvPr id="15" name="Picture 14" descr="addin_tmp.png"/>
          <p:cNvPicPr>
            <a:picLocks noChangeAspect="1"/>
          </p:cNvPicPr>
          <p:nvPr>
            <p:custDataLst>
              <p:tags r:id="rId3"/>
            </p:custDataLst>
          </p:nvPr>
        </p:nvPicPr>
        <p:blipFill>
          <a:blip r:embed="rId7" cstate="print"/>
          <a:stretch>
            <a:fillRect/>
          </a:stretch>
        </p:blipFill>
        <p:spPr>
          <a:xfrm>
            <a:off x="2344884" y="4892953"/>
            <a:ext cx="5236654" cy="298037"/>
          </a:xfrm>
          <a:prstGeom prst="rect">
            <a:avLst/>
          </a:prstGeom>
        </p:spPr>
      </p:pic>
    </p:spTree>
    <p:extLst>
      <p:ext uri="{BB962C8B-B14F-4D97-AF65-F5344CB8AC3E}">
        <p14:creationId xmlns:p14="http://schemas.microsoft.com/office/powerpoint/2010/main" val="31705922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4F330-9F7F-BA4F-82FC-3F0B3F39E692}"/>
              </a:ext>
            </a:extLst>
          </p:cNvPr>
          <p:cNvSpPr>
            <a:spLocks noGrp="1"/>
          </p:cNvSpPr>
          <p:nvPr>
            <p:ph type="title"/>
          </p:nvPr>
        </p:nvSpPr>
        <p:spPr/>
        <p:txBody>
          <a:bodyPr/>
          <a:lstStyle/>
          <a:p>
            <a:r>
              <a:rPr lang="en-US"/>
              <a:t>Example</a:t>
            </a:r>
          </a:p>
        </p:txBody>
      </p:sp>
      <p:sp>
        <p:nvSpPr>
          <p:cNvPr id="3" name="Content Placeholder 2">
            <a:extLst>
              <a:ext uri="{FF2B5EF4-FFF2-40B4-BE49-F238E27FC236}">
                <a16:creationId xmlns:a16="http://schemas.microsoft.com/office/drawing/2014/main" id="{5F0C5A01-E2E1-1643-A240-7BFE2ED03BF4}"/>
              </a:ext>
            </a:extLst>
          </p:cNvPr>
          <p:cNvSpPr>
            <a:spLocks noGrp="1"/>
          </p:cNvSpPr>
          <p:nvPr>
            <p:ph idx="1"/>
          </p:nvPr>
        </p:nvSpPr>
        <p:spPr/>
        <p:txBody>
          <a:bodyPr>
            <a:normAutofit fontScale="92500"/>
          </a:bodyPr>
          <a:lstStyle/>
          <a:p>
            <a:pPr marL="120600">
              <a:lnSpc>
                <a:spcPct val="120000"/>
              </a:lnSpc>
              <a:spcBef>
                <a:spcPts val="600"/>
              </a:spcBef>
              <a:buNone/>
            </a:pPr>
            <a:r>
              <a:rPr lang="en-US" sz="2000" dirty="0"/>
              <a:t>What is the solution to the recurrence relation </a:t>
            </a:r>
            <a:r>
              <a:rPr lang="en-GB" sz="2000" i="1"/>
              <a:t>a</a:t>
            </a:r>
            <a:r>
              <a:rPr lang="en-GB" sz="2000" i="1" baseline="-25000"/>
              <a:t>n</a:t>
            </a:r>
            <a:r>
              <a:rPr lang="en-GB" sz="2000" i="1"/>
              <a:t> </a:t>
            </a:r>
            <a:r>
              <a:rPr lang="en-GB" sz="2000"/>
              <a:t>= −3</a:t>
            </a:r>
            <a:r>
              <a:rPr lang="en-GB" sz="2000" i="1"/>
              <a:t>a</a:t>
            </a:r>
            <a:r>
              <a:rPr lang="en-GB" sz="2000" i="1" baseline="-25000"/>
              <a:t>n</a:t>
            </a:r>
            <a:r>
              <a:rPr lang="en-GB" sz="2000" baseline="-25000"/>
              <a:t>−1</a:t>
            </a:r>
            <a:r>
              <a:rPr lang="en-GB" sz="2000"/>
              <a:t> − 3</a:t>
            </a:r>
            <a:r>
              <a:rPr lang="en-GB" sz="2000" i="1"/>
              <a:t>a</a:t>
            </a:r>
            <a:r>
              <a:rPr lang="en-GB" sz="2000" i="1" baseline="-25000"/>
              <a:t>n</a:t>
            </a:r>
            <a:r>
              <a:rPr lang="en-GB" sz="2000" baseline="-25000"/>
              <a:t>−2</a:t>
            </a:r>
            <a:r>
              <a:rPr lang="en-GB" sz="2000"/>
              <a:t> − </a:t>
            </a:r>
            <a:r>
              <a:rPr lang="en-GB" sz="2000" i="1"/>
              <a:t>a</a:t>
            </a:r>
            <a:r>
              <a:rPr lang="en-GB" sz="2000" i="1" baseline="-25000"/>
              <a:t>n</a:t>
            </a:r>
            <a:r>
              <a:rPr lang="en-GB" sz="2000" baseline="-25000"/>
              <a:t>−3 </a:t>
            </a:r>
            <a:r>
              <a:rPr lang="en-GB" sz="2000"/>
              <a:t> with </a:t>
            </a:r>
            <a:r>
              <a:rPr lang="en-GB" sz="2000" i="1"/>
              <a:t>a</a:t>
            </a:r>
            <a:r>
              <a:rPr lang="en-GB" sz="2000" i="1" baseline="-25000"/>
              <a:t>0</a:t>
            </a:r>
            <a:r>
              <a:rPr lang="en-GB" sz="2000"/>
              <a:t> = 1, </a:t>
            </a:r>
            <a:r>
              <a:rPr lang="en-GB" sz="2000" i="1"/>
              <a:t>a</a:t>
            </a:r>
            <a:r>
              <a:rPr lang="en-GB" sz="2000" baseline="-25000"/>
              <a:t>1</a:t>
            </a:r>
            <a:r>
              <a:rPr lang="en-GB" sz="2000"/>
              <a:t> = −2, and </a:t>
            </a:r>
            <a:r>
              <a:rPr lang="en-GB" sz="2000" i="1"/>
              <a:t>a</a:t>
            </a:r>
            <a:r>
              <a:rPr lang="en-GB" sz="2000" baseline="-25000"/>
              <a:t>2</a:t>
            </a:r>
            <a:r>
              <a:rPr lang="en-GB" sz="2000"/>
              <a:t> = −1. </a:t>
            </a:r>
          </a:p>
          <a:p>
            <a:pPr marL="120600">
              <a:lnSpc>
                <a:spcPct val="120000"/>
              </a:lnSpc>
              <a:spcBef>
                <a:spcPts val="600"/>
              </a:spcBef>
              <a:buNone/>
            </a:pPr>
            <a:endParaRPr lang="en-US" sz="2000" b="1" dirty="0"/>
          </a:p>
          <a:p>
            <a:pPr marL="120600">
              <a:lnSpc>
                <a:spcPct val="120000"/>
              </a:lnSpc>
              <a:spcBef>
                <a:spcPts val="600"/>
              </a:spcBef>
              <a:buNone/>
            </a:pPr>
            <a:r>
              <a:rPr lang="en-US" sz="2000" dirty="0"/>
              <a:t>The characteristic equation is  </a:t>
            </a:r>
            <a:r>
              <a:rPr lang="en-GB" sz="2000" i="1"/>
              <a:t>r</a:t>
            </a:r>
            <a:r>
              <a:rPr lang="en-GB" sz="2000" baseline="30000"/>
              <a:t>3</a:t>
            </a:r>
            <a:r>
              <a:rPr lang="en-GB" sz="2000"/>
              <a:t> + 3</a:t>
            </a:r>
            <a:r>
              <a:rPr lang="en-GB" sz="2000" i="1"/>
              <a:t>r</a:t>
            </a:r>
            <a:r>
              <a:rPr lang="en-GB" sz="2000" baseline="30000"/>
              <a:t>2</a:t>
            </a:r>
            <a:r>
              <a:rPr lang="en-GB" sz="2000"/>
              <a:t> + 3</a:t>
            </a:r>
            <a:r>
              <a:rPr lang="en-GB" sz="2000" i="1"/>
              <a:t>r </a:t>
            </a:r>
            <a:r>
              <a:rPr lang="en-GB" sz="2000"/>
              <a:t>+ 1 = 0</a:t>
            </a:r>
            <a:r>
              <a:rPr lang="en-GB" sz="2000" i="1"/>
              <a:t>. </a:t>
            </a:r>
            <a:endParaRPr lang="en-US" sz="2000" i="1" dirty="0"/>
          </a:p>
          <a:p>
            <a:pPr marL="120600">
              <a:lnSpc>
                <a:spcPct val="120000"/>
              </a:lnSpc>
              <a:spcBef>
                <a:spcPts val="600"/>
              </a:spcBef>
              <a:buNone/>
            </a:pPr>
            <a:r>
              <a:rPr lang="en-US" sz="2000" dirty="0"/>
              <a:t>The only root is  </a:t>
            </a:r>
            <a:r>
              <a:rPr lang="en-US" sz="2000" i="1" dirty="0"/>
              <a:t>r = </a:t>
            </a:r>
            <a:r>
              <a:rPr lang="en-US" sz="2000" i="1" dirty="0">
                <a:ea typeface="Cambria Math" pitchFamily="18" charset="0"/>
              </a:rPr>
              <a:t>-1</a:t>
            </a:r>
            <a:r>
              <a:rPr lang="en-US" sz="2000" i="1" dirty="0"/>
              <a:t>. </a:t>
            </a:r>
          </a:p>
          <a:p>
            <a:pPr marL="120600">
              <a:lnSpc>
                <a:spcPct val="120000"/>
              </a:lnSpc>
              <a:spcBef>
                <a:spcPts val="600"/>
              </a:spcBef>
              <a:buNone/>
            </a:pPr>
            <a:r>
              <a:rPr lang="en-US" sz="2000" dirty="0"/>
              <a:t>Therefore,  {</a:t>
            </a:r>
            <a:r>
              <a:rPr lang="en-US" sz="2000" i="1" dirty="0"/>
              <a:t>a</a:t>
            </a:r>
            <a:r>
              <a:rPr lang="en-US" sz="2000" i="1" baseline="-25000" dirty="0"/>
              <a:t>n</a:t>
            </a:r>
            <a:r>
              <a:rPr lang="en-US" sz="2000" dirty="0"/>
              <a:t>}</a:t>
            </a:r>
            <a:r>
              <a:rPr lang="en-US" sz="2000" i="1" dirty="0"/>
              <a:t> </a:t>
            </a:r>
            <a:r>
              <a:rPr lang="en-US" sz="2000" dirty="0"/>
              <a:t>is a solution to the recurrence relation  if and only if </a:t>
            </a:r>
            <a:r>
              <a:rPr lang="en-GB" sz="2000" i="1"/>
              <a:t>a</a:t>
            </a:r>
            <a:r>
              <a:rPr lang="en-GB" sz="2000" i="1" baseline="-25000"/>
              <a:t>n</a:t>
            </a:r>
            <a:r>
              <a:rPr lang="en-GB" sz="2000" i="1"/>
              <a:t> </a:t>
            </a:r>
            <a:r>
              <a:rPr lang="en-GB" sz="2000"/>
              <a:t>= </a:t>
            </a:r>
            <a:r>
              <a:rPr lang="el-GR" sz="2000" dirty="0"/>
              <a:t>α</a:t>
            </a:r>
            <a:r>
              <a:rPr lang="en-US" sz="2000" baseline="-25000" dirty="0">
                <a:ea typeface="Cambria Math" pitchFamily="18" charset="0"/>
              </a:rPr>
              <a:t>1,0</a:t>
            </a:r>
            <a:r>
              <a:rPr lang="en-GB" sz="2000"/>
              <a:t>(−1)</a:t>
            </a:r>
            <a:r>
              <a:rPr lang="en-GB" sz="2000" baseline="30000"/>
              <a:t>n</a:t>
            </a:r>
            <a:r>
              <a:rPr lang="en-GB" sz="2000"/>
              <a:t> + </a:t>
            </a:r>
            <a:r>
              <a:rPr lang="el-GR" sz="2000" dirty="0"/>
              <a:t>α</a:t>
            </a:r>
            <a:r>
              <a:rPr lang="en-US" sz="2000" baseline="-25000" dirty="0">
                <a:ea typeface="Cambria Math" pitchFamily="18" charset="0"/>
              </a:rPr>
              <a:t>1,1</a:t>
            </a:r>
            <a:r>
              <a:rPr lang="en-GB" sz="2000" i="1"/>
              <a:t>n</a:t>
            </a:r>
            <a:r>
              <a:rPr lang="en-GB" sz="2000"/>
              <a:t>(−1)</a:t>
            </a:r>
            <a:r>
              <a:rPr lang="en-GB" sz="2000" baseline="30000"/>
              <a:t>n</a:t>
            </a:r>
            <a:r>
              <a:rPr lang="en-GB" sz="2000"/>
              <a:t> + </a:t>
            </a:r>
            <a:r>
              <a:rPr lang="el-GR" sz="2000" dirty="0"/>
              <a:t>α</a:t>
            </a:r>
            <a:r>
              <a:rPr lang="en-US" sz="2000" baseline="-25000" dirty="0">
                <a:ea typeface="Cambria Math" pitchFamily="18" charset="0"/>
              </a:rPr>
              <a:t>1</a:t>
            </a:r>
            <a:r>
              <a:rPr lang="en-GB" sz="2000" i="1" baseline="-25000" dirty="0">
                <a:ea typeface="Cambria Math" pitchFamily="18" charset="0"/>
              </a:rPr>
              <a:t>,2</a:t>
            </a:r>
            <a:r>
              <a:rPr lang="en-GB" sz="2000" i="1"/>
              <a:t>n</a:t>
            </a:r>
            <a:r>
              <a:rPr lang="en-GB" sz="2000" i="1" baseline="30000"/>
              <a:t>2</a:t>
            </a:r>
            <a:r>
              <a:rPr lang="en-GB" sz="2000"/>
              <a:t>(−1)</a:t>
            </a:r>
            <a:r>
              <a:rPr lang="en-GB" sz="2000" baseline="30000"/>
              <a:t>n</a:t>
            </a:r>
            <a:endParaRPr lang="en-GB" sz="2000"/>
          </a:p>
          <a:p>
            <a:pPr marL="120600">
              <a:lnSpc>
                <a:spcPct val="120000"/>
              </a:lnSpc>
              <a:spcBef>
                <a:spcPts val="600"/>
              </a:spcBef>
              <a:buNone/>
            </a:pPr>
            <a:r>
              <a:rPr lang="en-US" sz="2000" dirty="0"/>
              <a:t>		where </a:t>
            </a:r>
            <a:r>
              <a:rPr lang="el-GR" sz="2000" dirty="0"/>
              <a:t>α</a:t>
            </a:r>
            <a:r>
              <a:rPr lang="en-US" sz="2000" baseline="-25000" dirty="0">
                <a:ea typeface="Cambria Math" pitchFamily="18" charset="0"/>
              </a:rPr>
              <a:t>1,0</a:t>
            </a:r>
            <a:r>
              <a:rPr lang="en-US" sz="2000" dirty="0">
                <a:ea typeface="Cambria Math" pitchFamily="18" charset="0"/>
              </a:rPr>
              <a:t>, </a:t>
            </a:r>
            <a:r>
              <a:rPr lang="el-GR" sz="2000" dirty="0"/>
              <a:t>α</a:t>
            </a:r>
            <a:r>
              <a:rPr lang="en-US" sz="2000" baseline="-25000" dirty="0">
                <a:ea typeface="Cambria Math" pitchFamily="18" charset="0"/>
              </a:rPr>
              <a:t>1,1  </a:t>
            </a:r>
            <a:r>
              <a:rPr lang="en-US" sz="2000" dirty="0"/>
              <a:t>and</a:t>
            </a:r>
            <a:r>
              <a:rPr lang="en-US" sz="2000" baseline="-25000" dirty="0"/>
              <a:t> </a:t>
            </a:r>
            <a:r>
              <a:rPr lang="el-GR" sz="2000" dirty="0"/>
              <a:t>α</a:t>
            </a:r>
            <a:r>
              <a:rPr lang="en-US" sz="2000" baseline="-25000" dirty="0">
                <a:ea typeface="Cambria Math" pitchFamily="18" charset="0"/>
              </a:rPr>
              <a:t>1</a:t>
            </a:r>
            <a:r>
              <a:rPr lang="en-GB" sz="2000" i="1" baseline="-25000" dirty="0">
                <a:ea typeface="Cambria Math" pitchFamily="18" charset="0"/>
              </a:rPr>
              <a:t>,2</a:t>
            </a:r>
            <a:r>
              <a:rPr lang="en-US" sz="2000" dirty="0"/>
              <a:t>  are constants.</a:t>
            </a:r>
          </a:p>
          <a:p>
            <a:pPr marL="120600">
              <a:lnSpc>
                <a:spcPct val="120000"/>
              </a:lnSpc>
              <a:spcBef>
                <a:spcPts val="600"/>
              </a:spcBef>
              <a:buNone/>
            </a:pPr>
            <a:r>
              <a:rPr lang="en-US" sz="2000" dirty="0"/>
              <a:t>To find the constants  </a:t>
            </a:r>
            <a:r>
              <a:rPr lang="el-GR" sz="2000" dirty="0"/>
              <a:t>α</a:t>
            </a:r>
            <a:r>
              <a:rPr lang="en-US" sz="2000" baseline="-25000" dirty="0">
                <a:ea typeface="Cambria Math" pitchFamily="18" charset="0"/>
              </a:rPr>
              <a:t>1</a:t>
            </a:r>
            <a:r>
              <a:rPr lang="en-US" sz="2000" dirty="0"/>
              <a:t> and </a:t>
            </a:r>
            <a:r>
              <a:rPr lang="el-GR" sz="2000" dirty="0"/>
              <a:t>α</a:t>
            </a:r>
            <a:r>
              <a:rPr lang="en-US" sz="2000" baseline="-25000" dirty="0">
                <a:ea typeface="Cambria Math" pitchFamily="18" charset="0"/>
              </a:rPr>
              <a:t>2</a:t>
            </a:r>
            <a:r>
              <a:rPr lang="en-US" sz="2000" dirty="0"/>
              <a:t>, note that </a:t>
            </a:r>
          </a:p>
          <a:p>
            <a:pPr marL="120600">
              <a:lnSpc>
                <a:spcPct val="120000"/>
              </a:lnSpc>
              <a:spcBef>
                <a:spcPts val="600"/>
              </a:spcBef>
              <a:buNone/>
            </a:pPr>
            <a:r>
              <a:rPr lang="en-US" sz="2000" i="1" dirty="0"/>
              <a:t>                a</a:t>
            </a:r>
            <a:r>
              <a:rPr lang="en-US" sz="2000" baseline="-25000" dirty="0">
                <a:ea typeface="Cambria Math" pitchFamily="18" charset="0"/>
              </a:rPr>
              <a:t>0</a:t>
            </a:r>
            <a:r>
              <a:rPr lang="en-US" sz="2000" dirty="0"/>
              <a:t> = </a:t>
            </a:r>
            <a:r>
              <a:rPr lang="en-US" sz="2000" dirty="0">
                <a:ea typeface="Cambria Math" pitchFamily="18" charset="0"/>
              </a:rPr>
              <a:t>1</a:t>
            </a:r>
            <a:r>
              <a:rPr lang="en-US" sz="2000" dirty="0"/>
              <a:t> = </a:t>
            </a:r>
            <a:r>
              <a:rPr lang="el-GR" sz="2000" dirty="0"/>
              <a:t>α</a:t>
            </a:r>
            <a:r>
              <a:rPr lang="en-US" sz="2000" baseline="-25000" dirty="0">
                <a:ea typeface="Cambria Math" pitchFamily="18" charset="0"/>
              </a:rPr>
              <a:t>1,0</a:t>
            </a:r>
            <a:r>
              <a:rPr lang="en-US" sz="2000" dirty="0">
                <a:ea typeface="Cambria Math" pitchFamily="18" charset="0"/>
              </a:rPr>
              <a:t> 	</a:t>
            </a:r>
            <a:r>
              <a:rPr lang="en-US" sz="2000" i="1" dirty="0"/>
              <a:t>a</a:t>
            </a:r>
            <a:r>
              <a:rPr lang="en-US" sz="2000" baseline="-25000" dirty="0">
                <a:ea typeface="Cambria Math" pitchFamily="18" charset="0"/>
              </a:rPr>
              <a:t>1</a:t>
            </a:r>
            <a:r>
              <a:rPr lang="en-US" sz="2000" dirty="0"/>
              <a:t> = </a:t>
            </a:r>
            <a:r>
              <a:rPr lang="en-US" sz="2000" dirty="0">
                <a:ea typeface="Cambria Math" pitchFamily="18" charset="0"/>
              </a:rPr>
              <a:t>-2 </a:t>
            </a:r>
            <a:r>
              <a:rPr lang="en-US" sz="2000" dirty="0"/>
              <a:t>= </a:t>
            </a:r>
            <a:r>
              <a:rPr lang="fr-CH" sz="2000" dirty="0"/>
              <a:t>-</a:t>
            </a:r>
            <a:r>
              <a:rPr lang="el-GR" sz="2000" dirty="0"/>
              <a:t> α</a:t>
            </a:r>
            <a:r>
              <a:rPr lang="en-US" sz="2000" baseline="-25000" dirty="0">
                <a:ea typeface="Cambria Math" pitchFamily="18" charset="0"/>
              </a:rPr>
              <a:t>1,0</a:t>
            </a:r>
            <a:r>
              <a:rPr lang="fr-CH" sz="2000" dirty="0"/>
              <a:t> -</a:t>
            </a:r>
            <a:r>
              <a:rPr lang="el-GR" sz="2000" dirty="0"/>
              <a:t> α</a:t>
            </a:r>
            <a:r>
              <a:rPr lang="en-US" sz="2000" baseline="-25000" dirty="0">
                <a:ea typeface="Cambria Math" pitchFamily="18" charset="0"/>
              </a:rPr>
              <a:t>1,1</a:t>
            </a:r>
            <a:r>
              <a:rPr lang="fr-CH" sz="2000" dirty="0"/>
              <a:t> -</a:t>
            </a:r>
            <a:r>
              <a:rPr lang="el-GR" sz="2000" dirty="0"/>
              <a:t> α</a:t>
            </a:r>
            <a:r>
              <a:rPr lang="en-US" sz="2000" baseline="-25000" dirty="0">
                <a:ea typeface="Cambria Math" pitchFamily="18" charset="0"/>
              </a:rPr>
              <a:t>1,1</a:t>
            </a:r>
            <a:r>
              <a:rPr lang="en-US" sz="2000" dirty="0">
                <a:ea typeface="Cambria Math" pitchFamily="18" charset="0"/>
              </a:rPr>
              <a:t>	</a:t>
            </a:r>
            <a:r>
              <a:rPr lang="en-US" sz="2000" i="1" dirty="0"/>
              <a:t> a</a:t>
            </a:r>
            <a:r>
              <a:rPr lang="en-US" sz="2000" i="1" baseline="-25000" dirty="0">
                <a:ea typeface="Cambria Math" pitchFamily="18" charset="0"/>
              </a:rPr>
              <a:t>2</a:t>
            </a:r>
            <a:r>
              <a:rPr lang="en-US" sz="2000" dirty="0"/>
              <a:t> = </a:t>
            </a:r>
            <a:r>
              <a:rPr lang="en-US" sz="2000" dirty="0">
                <a:ea typeface="Cambria Math" pitchFamily="18" charset="0"/>
              </a:rPr>
              <a:t>-2 </a:t>
            </a:r>
            <a:r>
              <a:rPr lang="en-US" sz="2000" dirty="0"/>
              <a:t>= </a:t>
            </a:r>
            <a:r>
              <a:rPr lang="el-GR" sz="2000" dirty="0"/>
              <a:t>α</a:t>
            </a:r>
            <a:r>
              <a:rPr lang="en-US" sz="2000" baseline="-25000" dirty="0">
                <a:ea typeface="Cambria Math" pitchFamily="18" charset="0"/>
              </a:rPr>
              <a:t>1,0</a:t>
            </a:r>
            <a:r>
              <a:rPr lang="fr-CH" sz="2000" dirty="0"/>
              <a:t> + 2</a:t>
            </a:r>
            <a:r>
              <a:rPr lang="el-GR" sz="2000" dirty="0"/>
              <a:t>α</a:t>
            </a:r>
            <a:r>
              <a:rPr lang="en-US" sz="2000" baseline="-25000" dirty="0">
                <a:ea typeface="Cambria Math" pitchFamily="18" charset="0"/>
              </a:rPr>
              <a:t>1,1</a:t>
            </a:r>
            <a:r>
              <a:rPr lang="fr-CH" sz="2000" dirty="0"/>
              <a:t> + 4</a:t>
            </a:r>
            <a:r>
              <a:rPr lang="el-GR" sz="2000" dirty="0"/>
              <a:t>α</a:t>
            </a:r>
            <a:r>
              <a:rPr lang="en-US" sz="2000" baseline="-25000" dirty="0">
                <a:ea typeface="Cambria Math" pitchFamily="18" charset="0"/>
              </a:rPr>
              <a:t>1,1</a:t>
            </a:r>
            <a:endParaRPr lang="en-US" sz="2000" dirty="0">
              <a:ea typeface="Cambria Math" pitchFamily="18" charset="0"/>
            </a:endParaRPr>
          </a:p>
          <a:p>
            <a:pPr marL="120600">
              <a:lnSpc>
                <a:spcPct val="120000"/>
              </a:lnSpc>
              <a:spcBef>
                <a:spcPts val="600"/>
              </a:spcBef>
              <a:buNone/>
            </a:pPr>
            <a:r>
              <a:rPr lang="en-US" sz="2000" dirty="0">
                <a:ea typeface="Cambria Math" pitchFamily="18" charset="0"/>
              </a:rPr>
              <a:t>Solving, we find that </a:t>
            </a:r>
            <a:r>
              <a:rPr lang="el-GR" sz="2000" dirty="0"/>
              <a:t>α</a:t>
            </a:r>
            <a:r>
              <a:rPr lang="en-US" sz="2000" baseline="-25000" dirty="0">
                <a:ea typeface="Cambria Math" pitchFamily="18" charset="0"/>
              </a:rPr>
              <a:t>1,0</a:t>
            </a:r>
            <a:r>
              <a:rPr lang="en-US" sz="2000" baseline="-25000" dirty="0"/>
              <a:t> </a:t>
            </a:r>
            <a:r>
              <a:rPr lang="en-US" sz="2000" dirty="0"/>
              <a:t> = </a:t>
            </a:r>
            <a:r>
              <a:rPr lang="en-US" sz="2000" dirty="0">
                <a:ea typeface="Cambria Math" pitchFamily="18" charset="0"/>
              </a:rPr>
              <a:t>1, </a:t>
            </a:r>
            <a:r>
              <a:rPr lang="el-GR" sz="2000" dirty="0"/>
              <a:t>α</a:t>
            </a:r>
            <a:r>
              <a:rPr lang="en-US" sz="2000" baseline="-25000" dirty="0">
                <a:ea typeface="Cambria Math" pitchFamily="18" charset="0"/>
              </a:rPr>
              <a:t>1,1 </a:t>
            </a:r>
            <a:r>
              <a:rPr lang="en-US" sz="2000" dirty="0">
                <a:ea typeface="Cambria Math" pitchFamily="18" charset="0"/>
              </a:rPr>
              <a:t>= 3 and </a:t>
            </a:r>
            <a:r>
              <a:rPr lang="el-GR" sz="2000" dirty="0"/>
              <a:t>α</a:t>
            </a:r>
            <a:r>
              <a:rPr lang="en-US" sz="2000" baseline="-25000" dirty="0">
                <a:ea typeface="Cambria Math" pitchFamily="18" charset="0"/>
              </a:rPr>
              <a:t>1</a:t>
            </a:r>
            <a:r>
              <a:rPr lang="en-GB" sz="2000" i="1" baseline="-25000" dirty="0">
                <a:ea typeface="Cambria Math" pitchFamily="18" charset="0"/>
              </a:rPr>
              <a:t>,2</a:t>
            </a:r>
            <a:r>
              <a:rPr lang="en-US" sz="2000" baseline="-25000" dirty="0"/>
              <a:t> </a:t>
            </a:r>
            <a:r>
              <a:rPr lang="en-US" sz="2000" dirty="0"/>
              <a:t> = </a:t>
            </a:r>
            <a:r>
              <a:rPr lang="en-US" sz="2000" dirty="0">
                <a:ea typeface="Cambria Math" pitchFamily="18" charset="0"/>
              </a:rPr>
              <a:t>-2</a:t>
            </a:r>
            <a:r>
              <a:rPr lang="en-US" sz="2000" dirty="0"/>
              <a:t>  </a:t>
            </a:r>
          </a:p>
          <a:p>
            <a:pPr marL="0" indent="0">
              <a:buNone/>
            </a:pPr>
            <a:r>
              <a:rPr lang="en-US" sz="2000" dirty="0"/>
              <a:t>Hence, </a:t>
            </a:r>
            <a:r>
              <a:rPr lang="en-US" sz="2000" i="1" dirty="0"/>
              <a:t>a</a:t>
            </a:r>
            <a:r>
              <a:rPr lang="en-US" sz="2000" i="1" baseline="-25000" dirty="0"/>
              <a:t>n</a:t>
            </a:r>
            <a:r>
              <a:rPr lang="en-US" sz="2000" dirty="0"/>
              <a:t> = </a:t>
            </a:r>
            <a:r>
              <a:rPr lang="en-GB" sz="2000"/>
              <a:t>(1 + 3</a:t>
            </a:r>
            <a:r>
              <a:rPr lang="en-GB" sz="2000" i="1"/>
              <a:t>n </a:t>
            </a:r>
            <a:r>
              <a:rPr lang="en-GB" sz="2000"/>
              <a:t>− 2</a:t>
            </a:r>
            <a:r>
              <a:rPr lang="en-GB" sz="2000" i="1"/>
              <a:t>n</a:t>
            </a:r>
            <a:r>
              <a:rPr lang="en-GB" sz="2000" i="1" baseline="30000"/>
              <a:t>2</a:t>
            </a:r>
            <a:r>
              <a:rPr lang="en-GB" sz="2000" i="1"/>
              <a:t> </a:t>
            </a:r>
            <a:r>
              <a:rPr lang="en-GB" sz="2000"/>
              <a:t>)(−1)</a:t>
            </a:r>
            <a:r>
              <a:rPr lang="en-GB" sz="2000" baseline="30000"/>
              <a:t>n</a:t>
            </a:r>
            <a:r>
              <a:rPr lang="en-GB" sz="2000"/>
              <a:t> </a:t>
            </a:r>
          </a:p>
        </p:txBody>
      </p:sp>
    </p:spTree>
    <p:extLst>
      <p:ext uri="{BB962C8B-B14F-4D97-AF65-F5344CB8AC3E}">
        <p14:creationId xmlns:p14="http://schemas.microsoft.com/office/powerpoint/2010/main" val="28048230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DB341-D3A7-1B4A-8E6E-E9903BBB73C8}"/>
              </a:ext>
            </a:extLst>
          </p:cNvPr>
          <p:cNvSpPr>
            <a:spLocks noGrp="1"/>
          </p:cNvSpPr>
          <p:nvPr>
            <p:ph type="title"/>
          </p:nvPr>
        </p:nvSpPr>
        <p:spPr/>
        <p:txBody>
          <a:bodyPr/>
          <a:lstStyle/>
          <a:p>
            <a:r>
              <a:rPr lang="en-US"/>
              <a:t>Summary</a:t>
            </a:r>
          </a:p>
        </p:txBody>
      </p:sp>
      <p:sp>
        <p:nvSpPr>
          <p:cNvPr id="3" name="Content Placeholder 2">
            <a:extLst>
              <a:ext uri="{FF2B5EF4-FFF2-40B4-BE49-F238E27FC236}">
                <a16:creationId xmlns:a16="http://schemas.microsoft.com/office/drawing/2014/main" id="{5D34E738-3886-AC48-B2D9-8532C2EE47EE}"/>
              </a:ext>
            </a:extLst>
          </p:cNvPr>
          <p:cNvSpPr>
            <a:spLocks noGrp="1"/>
          </p:cNvSpPr>
          <p:nvPr>
            <p:ph idx="1"/>
          </p:nvPr>
        </p:nvSpPr>
        <p:spPr/>
        <p:txBody>
          <a:bodyPr/>
          <a:lstStyle/>
          <a:p>
            <a:r>
              <a:rPr lang="en-US" dirty="0"/>
              <a:t>Homogeneous Recurrence Relations with Repeated Root</a:t>
            </a:r>
          </a:p>
          <a:p>
            <a:r>
              <a:rPr lang="en-US" dirty="0"/>
              <a:t>Linear Homogeneous Recurrence Relations of Arbitrary Degree</a:t>
            </a:r>
            <a:endParaRPr lang="en-US"/>
          </a:p>
          <a:p>
            <a:endParaRPr lang="en-US"/>
          </a:p>
        </p:txBody>
      </p:sp>
    </p:spTree>
    <p:extLst>
      <p:ext uri="{BB962C8B-B14F-4D97-AF65-F5344CB8AC3E}">
        <p14:creationId xmlns:p14="http://schemas.microsoft.com/office/powerpoint/2010/main" val="25095251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Generating Functions</a:t>
            </a:r>
          </a:p>
        </p:txBody>
      </p:sp>
      <p:sp>
        <p:nvSpPr>
          <p:cNvPr id="3" name="Subtitle 2"/>
          <p:cNvSpPr>
            <a:spLocks noGrp="1"/>
          </p:cNvSpPr>
          <p:nvPr>
            <p:ph type="subTitle" idx="1"/>
          </p:nvPr>
        </p:nvSpPr>
        <p:spPr/>
        <p:txBody>
          <a:bodyPr/>
          <a:lstStyle/>
          <a:p>
            <a:r>
              <a:rPr lang="en-US" dirty="0"/>
              <a:t>Section </a:t>
            </a:r>
            <a:r>
              <a:rPr lang="en-US" dirty="0">
                <a:latin typeface="Cambria Math" pitchFamily="18" charset="0"/>
                <a:ea typeface="Cambria Math" pitchFamily="18" charset="0"/>
              </a:rPr>
              <a:t>8.4</a:t>
            </a:r>
          </a:p>
        </p:txBody>
      </p:sp>
    </p:spTree>
    <p:extLst>
      <p:ext uri="{BB962C8B-B14F-4D97-AF65-F5344CB8AC3E}">
        <p14:creationId xmlns:p14="http://schemas.microsoft.com/office/powerpoint/2010/main" val="21685278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Video 70: Generating Functions</a:t>
            </a:r>
          </a:p>
        </p:txBody>
      </p:sp>
      <p:sp>
        <p:nvSpPr>
          <p:cNvPr id="3" name="Content Placeholder 2"/>
          <p:cNvSpPr>
            <a:spLocks noGrp="1"/>
          </p:cNvSpPr>
          <p:nvPr>
            <p:ph idx="1"/>
          </p:nvPr>
        </p:nvSpPr>
        <p:spPr/>
        <p:txBody>
          <a:bodyPr>
            <a:normAutofit/>
          </a:bodyPr>
          <a:lstStyle/>
          <a:p>
            <a:r>
              <a:rPr lang="en-US" dirty="0"/>
              <a:t>Generating Functions</a:t>
            </a:r>
          </a:p>
          <a:p>
            <a:r>
              <a:rPr lang="en-US" dirty="0"/>
              <a:t>Solving recurrence relations with generating functions</a:t>
            </a:r>
          </a:p>
        </p:txBody>
      </p:sp>
    </p:spTree>
    <p:extLst>
      <p:ext uri="{BB962C8B-B14F-4D97-AF65-F5344CB8AC3E}">
        <p14:creationId xmlns:p14="http://schemas.microsoft.com/office/powerpoint/2010/main" val="1439029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Functions</a:t>
            </a:r>
          </a:p>
        </p:txBody>
      </p:sp>
      <p:sp>
        <p:nvSpPr>
          <p:cNvPr id="3" name="Content Placeholder 2"/>
          <p:cNvSpPr>
            <a:spLocks noGrp="1"/>
          </p:cNvSpPr>
          <p:nvPr>
            <p:ph idx="1"/>
          </p:nvPr>
        </p:nvSpPr>
        <p:spPr/>
        <p:txBody>
          <a:bodyPr>
            <a:normAutofit/>
          </a:bodyPr>
          <a:lstStyle/>
          <a:p>
            <a:pPr>
              <a:buNone/>
            </a:pPr>
            <a:r>
              <a:rPr lang="en-US" b="1" dirty="0"/>
              <a:t>Definition</a:t>
            </a:r>
            <a:r>
              <a:rPr lang="en-US" dirty="0"/>
              <a:t>: The </a:t>
            </a:r>
            <a:r>
              <a:rPr lang="en-US" b="1" dirty="0"/>
              <a:t>generating function for the infinite sequence </a:t>
            </a:r>
            <a:br>
              <a:rPr lang="en-US" b="1" dirty="0"/>
            </a:br>
            <a:r>
              <a:rPr lang="en-US" i="1" dirty="0"/>
              <a:t>a</a:t>
            </a:r>
            <a:r>
              <a:rPr lang="en-US" baseline="-25000" dirty="0">
                <a:ea typeface="Cambria Math" pitchFamily="18" charset="0"/>
              </a:rPr>
              <a:t>0</a:t>
            </a:r>
            <a:r>
              <a:rPr lang="en-US" dirty="0"/>
              <a:t>, </a:t>
            </a:r>
            <a:r>
              <a:rPr lang="en-US" i="1" dirty="0"/>
              <a:t>a</a:t>
            </a:r>
            <a:r>
              <a:rPr lang="en-US" baseline="-25000" dirty="0">
                <a:ea typeface="Cambria Math" pitchFamily="18" charset="0"/>
              </a:rPr>
              <a:t>1</a:t>
            </a:r>
            <a:r>
              <a:rPr lang="en-US" dirty="0"/>
              <a:t>,…, </a:t>
            </a:r>
            <a:r>
              <a:rPr lang="en-US" i="1" dirty="0" err="1"/>
              <a:t>a</a:t>
            </a:r>
            <a:r>
              <a:rPr lang="en-US" i="1" baseline="-25000" dirty="0" err="1"/>
              <a:t>k</a:t>
            </a:r>
            <a:r>
              <a:rPr lang="en-US" dirty="0"/>
              <a:t>, … of real numbers is the infinite series</a:t>
            </a:r>
          </a:p>
          <a:p>
            <a:pPr>
              <a:buNone/>
            </a:pPr>
            <a:endParaRPr lang="en-US" i="1" dirty="0"/>
          </a:p>
          <a:p>
            <a:pPr>
              <a:buNone/>
            </a:pPr>
            <a:endParaRPr lang="en-US" i="1" dirty="0"/>
          </a:p>
          <a:p>
            <a:pPr lvl="1"/>
            <a:endParaRPr lang="en-US" dirty="0"/>
          </a:p>
          <a:p>
            <a:pPr lvl="1"/>
            <a:endParaRPr lang="en-US" dirty="0"/>
          </a:p>
        </p:txBody>
      </p:sp>
      <p:pic>
        <p:nvPicPr>
          <p:cNvPr id="6" name="Picture 5" descr="addin_tmp.png"/>
          <p:cNvPicPr>
            <a:picLocks noChangeAspect="1"/>
          </p:cNvPicPr>
          <p:nvPr>
            <p:custDataLst>
              <p:tags r:id="rId1"/>
            </p:custDataLst>
          </p:nvPr>
        </p:nvPicPr>
        <p:blipFill>
          <a:blip r:embed="rId3" cstate="print"/>
          <a:stretch>
            <a:fillRect/>
          </a:stretch>
        </p:blipFill>
        <p:spPr>
          <a:xfrm>
            <a:off x="2704543" y="3073141"/>
            <a:ext cx="6924980" cy="938420"/>
          </a:xfrm>
          <a:prstGeom prst="rect">
            <a:avLst/>
          </a:prstGeom>
        </p:spPr>
      </p:pic>
    </p:spTree>
    <p:extLst>
      <p:ext uri="{BB962C8B-B14F-4D97-AF65-F5344CB8AC3E}">
        <p14:creationId xmlns:p14="http://schemas.microsoft.com/office/powerpoint/2010/main" val="40802289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Useful Generating Functions</a:t>
            </a:r>
          </a:p>
        </p:txBody>
      </p:sp>
      <p:pic>
        <p:nvPicPr>
          <p:cNvPr id="4" name="Content Placeholder 3" descr="table35.jpg"/>
          <p:cNvPicPr>
            <a:picLocks noGrp="1" noChangeAspect="1"/>
          </p:cNvPicPr>
          <p:nvPr>
            <p:ph idx="1"/>
          </p:nvPr>
        </p:nvPicPr>
        <p:blipFill>
          <a:blip r:embed="rId2" cstate="print"/>
          <a:stretch>
            <a:fillRect/>
          </a:stretch>
        </p:blipFill>
        <p:spPr>
          <a:xfrm>
            <a:off x="1852926" y="1488355"/>
            <a:ext cx="3862073" cy="5319575"/>
          </a:xfrm>
        </p:spPr>
      </p:pic>
    </p:spTree>
    <p:extLst>
      <p:ext uri="{BB962C8B-B14F-4D97-AF65-F5344CB8AC3E}">
        <p14:creationId xmlns:p14="http://schemas.microsoft.com/office/powerpoint/2010/main" val="16078072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0C5B3-2963-5148-94DF-F34AD9C78CF4}"/>
              </a:ext>
            </a:extLst>
          </p:cNvPr>
          <p:cNvSpPr>
            <a:spLocks noGrp="1"/>
          </p:cNvSpPr>
          <p:nvPr>
            <p:ph type="title"/>
          </p:nvPr>
        </p:nvSpPr>
        <p:spPr/>
        <p:txBody>
          <a:bodyPr/>
          <a:lstStyle/>
          <a:p>
            <a:r>
              <a:rPr lang="en-US"/>
              <a:t>Examples</a:t>
            </a:r>
          </a:p>
        </p:txBody>
      </p:sp>
      <p:sp>
        <p:nvSpPr>
          <p:cNvPr id="3" name="Content Placeholder 2">
            <a:extLst>
              <a:ext uri="{FF2B5EF4-FFF2-40B4-BE49-F238E27FC236}">
                <a16:creationId xmlns:a16="http://schemas.microsoft.com/office/drawing/2014/main" id="{A1788166-2557-1846-8EFD-55CF2B789594}"/>
              </a:ext>
            </a:extLst>
          </p:cNvPr>
          <p:cNvSpPr>
            <a:spLocks noGrp="1"/>
          </p:cNvSpPr>
          <p:nvPr>
            <p:ph idx="1"/>
          </p:nvPr>
        </p:nvSpPr>
        <p:spPr/>
        <p:txBody>
          <a:bodyPr/>
          <a:lstStyle/>
          <a:p>
            <a:pPr marL="0" indent="0">
              <a:buNone/>
            </a:pPr>
            <a:r>
              <a:rPr lang="en-US" dirty="0"/>
              <a:t>The sequence {</a:t>
            </a:r>
            <a:r>
              <a:rPr lang="en-US" i="1" dirty="0" err="1"/>
              <a:t>a</a:t>
            </a:r>
            <a:r>
              <a:rPr lang="en-US" i="1" baseline="-25000" dirty="0" err="1"/>
              <a:t>k</a:t>
            </a:r>
            <a:r>
              <a:rPr lang="en-US" dirty="0"/>
              <a:t>} with </a:t>
            </a:r>
            <a:r>
              <a:rPr lang="en-US" i="1" dirty="0" err="1"/>
              <a:t>a</a:t>
            </a:r>
            <a:r>
              <a:rPr lang="en-US" i="1" baseline="-25000" dirty="0" err="1"/>
              <a:t>k</a:t>
            </a:r>
            <a:r>
              <a:rPr lang="en-US" dirty="0"/>
              <a:t> = </a:t>
            </a:r>
            <a:r>
              <a:rPr lang="en-US" dirty="0">
                <a:ea typeface="Cambria Math" pitchFamily="18" charset="0"/>
              </a:rPr>
              <a:t>3</a:t>
            </a:r>
            <a:r>
              <a:rPr lang="en-US" dirty="0"/>
              <a:t>  has the generating function </a:t>
            </a:r>
          </a:p>
          <a:p>
            <a:pPr marL="0" indent="0">
              <a:buNone/>
            </a:pPr>
            <a:endParaRPr lang="en-US" dirty="0"/>
          </a:p>
          <a:p>
            <a:pPr marL="0" indent="0">
              <a:buNone/>
            </a:pPr>
            <a:r>
              <a:rPr lang="en-US" dirty="0"/>
              <a:t>The sequence {</a:t>
            </a:r>
            <a:r>
              <a:rPr lang="en-US" i="1" dirty="0" err="1"/>
              <a:t>a</a:t>
            </a:r>
            <a:r>
              <a:rPr lang="en-US" i="1" baseline="-25000" dirty="0" err="1"/>
              <a:t>k</a:t>
            </a:r>
            <a:r>
              <a:rPr lang="en-US" dirty="0"/>
              <a:t>} with </a:t>
            </a:r>
            <a:r>
              <a:rPr lang="en-US" i="1" dirty="0" err="1"/>
              <a:t>a</a:t>
            </a:r>
            <a:r>
              <a:rPr lang="en-US" i="1" baseline="-25000" dirty="0" err="1"/>
              <a:t>k</a:t>
            </a:r>
            <a:r>
              <a:rPr lang="en-US" dirty="0"/>
              <a:t> = </a:t>
            </a:r>
            <a:r>
              <a:rPr lang="en-US" dirty="0">
                <a:ea typeface="Cambria Math" pitchFamily="18" charset="0"/>
              </a:rPr>
              <a:t> </a:t>
            </a:r>
            <a:r>
              <a:rPr lang="en-US" i="1" dirty="0">
                <a:ea typeface="Cambria Math" pitchFamily="18" charset="0"/>
              </a:rPr>
              <a:t>k </a:t>
            </a:r>
            <a:r>
              <a:rPr lang="en-US" dirty="0">
                <a:ea typeface="Cambria Math" pitchFamily="18" charset="0"/>
              </a:rPr>
              <a:t>+ 1</a:t>
            </a:r>
            <a:r>
              <a:rPr lang="en-US" dirty="0"/>
              <a:t> has the generating function  has the generating function</a:t>
            </a:r>
          </a:p>
          <a:p>
            <a:pPr marL="0" indent="0">
              <a:buNone/>
            </a:pPr>
            <a:endParaRPr lang="en-US" dirty="0"/>
          </a:p>
          <a:p>
            <a:pPr marL="0" indent="0">
              <a:buNone/>
            </a:pPr>
            <a:r>
              <a:rPr lang="en-US" dirty="0"/>
              <a:t>The sequence {</a:t>
            </a:r>
            <a:r>
              <a:rPr lang="en-US" i="1" dirty="0" err="1"/>
              <a:t>a</a:t>
            </a:r>
            <a:r>
              <a:rPr lang="en-US" i="1" baseline="-25000" dirty="0" err="1"/>
              <a:t>k</a:t>
            </a:r>
            <a:r>
              <a:rPr lang="en-US" dirty="0"/>
              <a:t>} with </a:t>
            </a:r>
            <a:r>
              <a:rPr lang="en-US" i="1" dirty="0" err="1"/>
              <a:t>a</a:t>
            </a:r>
            <a:r>
              <a:rPr lang="en-US" i="1" baseline="-25000" dirty="0" err="1"/>
              <a:t>k</a:t>
            </a:r>
            <a:r>
              <a:rPr lang="en-US" dirty="0"/>
              <a:t> = </a:t>
            </a:r>
            <a:r>
              <a:rPr lang="en-US" dirty="0">
                <a:ea typeface="Cambria Math" pitchFamily="18" charset="0"/>
              </a:rPr>
              <a:t> 2</a:t>
            </a:r>
            <a:r>
              <a:rPr lang="en-US" i="1" baseline="30000" dirty="0">
                <a:ea typeface="Cambria Math" pitchFamily="18" charset="0"/>
              </a:rPr>
              <a:t>k</a:t>
            </a:r>
            <a:r>
              <a:rPr lang="en-US" i="1" dirty="0">
                <a:ea typeface="Cambria Math" pitchFamily="18" charset="0"/>
              </a:rPr>
              <a:t> </a:t>
            </a:r>
            <a:r>
              <a:rPr lang="en-US" dirty="0"/>
              <a:t> has the generating function  has the generating function</a:t>
            </a:r>
          </a:p>
          <a:p>
            <a:endParaRPr lang="en-US"/>
          </a:p>
        </p:txBody>
      </p:sp>
      <p:pic>
        <p:nvPicPr>
          <p:cNvPr id="5" name="Picture 4" descr="addin_tmp.png">
            <a:extLst>
              <a:ext uri="{FF2B5EF4-FFF2-40B4-BE49-F238E27FC236}">
                <a16:creationId xmlns:a16="http://schemas.microsoft.com/office/drawing/2014/main" id="{E6E2D0ED-12B1-4F4E-A0E1-2EBCC40821A9}"/>
              </a:ext>
            </a:extLst>
          </p:cNvPr>
          <p:cNvPicPr>
            <a:picLocks noChangeAspect="1"/>
          </p:cNvPicPr>
          <p:nvPr>
            <p:custDataLst>
              <p:tags r:id="rId1"/>
            </p:custDataLst>
          </p:nvPr>
        </p:nvPicPr>
        <p:blipFill>
          <a:blip r:embed="rId5" cstate="print"/>
          <a:stretch>
            <a:fillRect/>
          </a:stretch>
        </p:blipFill>
        <p:spPr>
          <a:xfrm>
            <a:off x="9515547" y="1690688"/>
            <a:ext cx="815698" cy="679442"/>
          </a:xfrm>
          <a:prstGeom prst="rect">
            <a:avLst/>
          </a:prstGeom>
        </p:spPr>
      </p:pic>
      <p:pic>
        <p:nvPicPr>
          <p:cNvPr id="6" name="Picture 5" descr="addin_tmp.png">
            <a:extLst>
              <a:ext uri="{FF2B5EF4-FFF2-40B4-BE49-F238E27FC236}">
                <a16:creationId xmlns:a16="http://schemas.microsoft.com/office/drawing/2014/main" id="{F936752D-E337-0C4D-B06D-33BA4A92B548}"/>
              </a:ext>
            </a:extLst>
          </p:cNvPr>
          <p:cNvPicPr>
            <a:picLocks noChangeAspect="1"/>
          </p:cNvPicPr>
          <p:nvPr>
            <p:custDataLst>
              <p:tags r:id="rId2"/>
            </p:custDataLst>
          </p:nvPr>
        </p:nvPicPr>
        <p:blipFill>
          <a:blip r:embed="rId6" cstate="print"/>
          <a:stretch>
            <a:fillRect/>
          </a:stretch>
        </p:blipFill>
        <p:spPr>
          <a:xfrm>
            <a:off x="4354939" y="3484755"/>
            <a:ext cx="1485422" cy="720264"/>
          </a:xfrm>
          <a:prstGeom prst="rect">
            <a:avLst/>
          </a:prstGeom>
        </p:spPr>
      </p:pic>
      <p:pic>
        <p:nvPicPr>
          <p:cNvPr id="7" name="Picture 6" descr="addin_tmp.png">
            <a:extLst>
              <a:ext uri="{FF2B5EF4-FFF2-40B4-BE49-F238E27FC236}">
                <a16:creationId xmlns:a16="http://schemas.microsoft.com/office/drawing/2014/main" id="{102A83AD-BB08-CB47-8E4E-FA1D88B6985C}"/>
              </a:ext>
            </a:extLst>
          </p:cNvPr>
          <p:cNvPicPr>
            <a:picLocks noChangeAspect="1"/>
          </p:cNvPicPr>
          <p:nvPr>
            <p:custDataLst>
              <p:tags r:id="rId3"/>
            </p:custDataLst>
          </p:nvPr>
        </p:nvPicPr>
        <p:blipFill>
          <a:blip r:embed="rId7" cstate="print"/>
          <a:stretch>
            <a:fillRect/>
          </a:stretch>
        </p:blipFill>
        <p:spPr>
          <a:xfrm>
            <a:off x="4370416" y="4927386"/>
            <a:ext cx="1108610" cy="803688"/>
          </a:xfrm>
          <a:prstGeom prst="rect">
            <a:avLst/>
          </a:prstGeom>
        </p:spPr>
      </p:pic>
    </p:spTree>
    <p:extLst>
      <p:ext uri="{BB962C8B-B14F-4D97-AF65-F5344CB8AC3E}">
        <p14:creationId xmlns:p14="http://schemas.microsoft.com/office/powerpoint/2010/main" val="29895564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4EC48-B3D6-0049-984F-EF8D95D74B05}"/>
              </a:ext>
            </a:extLst>
          </p:cNvPr>
          <p:cNvSpPr>
            <a:spLocks noGrp="1"/>
          </p:cNvSpPr>
          <p:nvPr>
            <p:ph type="title"/>
          </p:nvPr>
        </p:nvSpPr>
        <p:spPr/>
        <p:txBody>
          <a:bodyPr/>
          <a:lstStyle/>
          <a:p>
            <a:r>
              <a:rPr lang="en-US"/>
              <a:t>Solving Recurrence Relations with Generating Functions</a:t>
            </a:r>
          </a:p>
        </p:txBody>
      </p:sp>
      <p:sp>
        <p:nvSpPr>
          <p:cNvPr id="3" name="Content Placeholder 2">
            <a:extLst>
              <a:ext uri="{FF2B5EF4-FFF2-40B4-BE49-F238E27FC236}">
                <a16:creationId xmlns:a16="http://schemas.microsoft.com/office/drawing/2014/main" id="{0E41DD5B-8C42-D249-945B-18F527EFC96F}"/>
              </a:ext>
            </a:extLst>
          </p:cNvPr>
          <p:cNvSpPr>
            <a:spLocks noGrp="1"/>
          </p:cNvSpPr>
          <p:nvPr>
            <p:ph idx="1"/>
          </p:nvPr>
        </p:nvSpPr>
        <p:spPr/>
        <p:txBody>
          <a:bodyPr/>
          <a:lstStyle/>
          <a:p>
            <a:pPr marL="0" indent="0">
              <a:buNone/>
            </a:pPr>
            <a:r>
              <a:rPr lang="en-US"/>
              <a:t>Solve the recurrence relation </a:t>
            </a:r>
            <a:r>
              <a:rPr lang="en-US" i="1"/>
              <a:t>a</a:t>
            </a:r>
            <a:r>
              <a:rPr lang="en-US" i="1" baseline="-25000"/>
              <a:t>k</a:t>
            </a:r>
            <a:r>
              <a:rPr lang="en-US" baseline="-25000"/>
              <a:t> </a:t>
            </a:r>
            <a:r>
              <a:rPr lang="en-US"/>
              <a:t>= 3</a:t>
            </a:r>
            <a:r>
              <a:rPr lang="en-US" i="1"/>
              <a:t>a</a:t>
            </a:r>
            <a:r>
              <a:rPr lang="en-US" i="1" baseline="-25000"/>
              <a:t>k-1</a:t>
            </a:r>
            <a:r>
              <a:rPr lang="en-US"/>
              <a:t> with initial condition </a:t>
            </a:r>
            <a:r>
              <a:rPr lang="en-US" i="1"/>
              <a:t>a</a:t>
            </a:r>
            <a:r>
              <a:rPr lang="en-US" i="1" baseline="-25000"/>
              <a:t>0 </a:t>
            </a:r>
            <a:r>
              <a:rPr lang="en-US"/>
              <a:t>= 2.</a:t>
            </a:r>
          </a:p>
          <a:p>
            <a:pPr marL="0" indent="0">
              <a:buNone/>
            </a:pPr>
            <a:endParaRPr lang="en-US"/>
          </a:p>
          <a:p>
            <a:pPr marL="0" indent="0">
              <a:buNone/>
            </a:pPr>
            <a:r>
              <a:rPr lang="en-US"/>
              <a:t>Take the generating function </a:t>
            </a:r>
          </a:p>
          <a:p>
            <a:pPr marL="0" indent="0">
              <a:buNone/>
            </a:pPr>
            <a:r>
              <a:rPr lang="en-US"/>
              <a:t>Observe that </a:t>
            </a:r>
          </a:p>
          <a:p>
            <a:pPr marL="0" indent="0">
              <a:buNone/>
            </a:pPr>
            <a:endParaRPr lang="en-US"/>
          </a:p>
          <a:p>
            <a:pPr marL="0" indent="0">
              <a:buNone/>
            </a:pPr>
            <a:r>
              <a:rPr lang="en-US"/>
              <a:t>Now we see that </a:t>
            </a:r>
          </a:p>
        </p:txBody>
      </p:sp>
      <p:pic>
        <p:nvPicPr>
          <p:cNvPr id="5" name="Picture 4">
            <a:extLst>
              <a:ext uri="{FF2B5EF4-FFF2-40B4-BE49-F238E27FC236}">
                <a16:creationId xmlns:a16="http://schemas.microsoft.com/office/drawing/2014/main" id="{6BCFDB2A-7CE7-4345-BEDE-494538BD33D7}"/>
              </a:ext>
            </a:extLst>
          </p:cNvPr>
          <p:cNvPicPr>
            <a:picLocks noChangeAspect="1"/>
          </p:cNvPicPr>
          <p:nvPr/>
        </p:nvPicPr>
        <p:blipFill>
          <a:blip r:embed="rId2"/>
          <a:stretch>
            <a:fillRect/>
          </a:stretch>
        </p:blipFill>
        <p:spPr>
          <a:xfrm>
            <a:off x="5232400" y="2789233"/>
            <a:ext cx="2394527" cy="530086"/>
          </a:xfrm>
          <a:prstGeom prst="rect">
            <a:avLst/>
          </a:prstGeom>
        </p:spPr>
      </p:pic>
      <p:pic>
        <p:nvPicPr>
          <p:cNvPr id="9" name="Picture 8">
            <a:extLst>
              <a:ext uri="{FF2B5EF4-FFF2-40B4-BE49-F238E27FC236}">
                <a16:creationId xmlns:a16="http://schemas.microsoft.com/office/drawing/2014/main" id="{756488EC-A343-CE4E-AB8D-6659254249F8}"/>
              </a:ext>
            </a:extLst>
          </p:cNvPr>
          <p:cNvPicPr>
            <a:picLocks noChangeAspect="1"/>
          </p:cNvPicPr>
          <p:nvPr/>
        </p:nvPicPr>
        <p:blipFill>
          <a:blip r:embed="rId3"/>
          <a:stretch>
            <a:fillRect/>
          </a:stretch>
        </p:blipFill>
        <p:spPr>
          <a:xfrm>
            <a:off x="5232400" y="3454256"/>
            <a:ext cx="2966027" cy="868105"/>
          </a:xfrm>
          <a:prstGeom prst="rect">
            <a:avLst/>
          </a:prstGeom>
        </p:spPr>
      </p:pic>
      <p:pic>
        <p:nvPicPr>
          <p:cNvPr id="13" name="Picture 12">
            <a:extLst>
              <a:ext uri="{FF2B5EF4-FFF2-40B4-BE49-F238E27FC236}">
                <a16:creationId xmlns:a16="http://schemas.microsoft.com/office/drawing/2014/main" id="{47E2B12B-D4D4-824F-B17F-AAC763B63536}"/>
              </a:ext>
            </a:extLst>
          </p:cNvPr>
          <p:cNvPicPr>
            <a:picLocks noChangeAspect="1"/>
          </p:cNvPicPr>
          <p:nvPr/>
        </p:nvPicPr>
        <p:blipFill>
          <a:blip r:embed="rId4"/>
          <a:stretch>
            <a:fillRect/>
          </a:stretch>
        </p:blipFill>
        <p:spPr>
          <a:xfrm>
            <a:off x="5391728" y="4457298"/>
            <a:ext cx="3743083" cy="1932131"/>
          </a:xfrm>
          <a:prstGeom prst="rect">
            <a:avLst/>
          </a:prstGeom>
        </p:spPr>
      </p:pic>
      <p:pic>
        <p:nvPicPr>
          <p:cNvPr id="15" name="Picture 14">
            <a:extLst>
              <a:ext uri="{FF2B5EF4-FFF2-40B4-BE49-F238E27FC236}">
                <a16:creationId xmlns:a16="http://schemas.microsoft.com/office/drawing/2014/main" id="{3E0EC5DB-8658-7C4A-89EB-6D6DC933799C}"/>
              </a:ext>
            </a:extLst>
          </p:cNvPr>
          <p:cNvPicPr>
            <a:picLocks noChangeAspect="1"/>
          </p:cNvPicPr>
          <p:nvPr/>
        </p:nvPicPr>
        <p:blipFill>
          <a:blip r:embed="rId5"/>
          <a:stretch>
            <a:fillRect/>
          </a:stretch>
        </p:blipFill>
        <p:spPr>
          <a:xfrm>
            <a:off x="5455581" y="6311900"/>
            <a:ext cx="2250786" cy="396749"/>
          </a:xfrm>
          <a:prstGeom prst="rect">
            <a:avLst/>
          </a:prstGeom>
        </p:spPr>
      </p:pic>
    </p:spTree>
    <p:extLst>
      <p:ext uri="{BB962C8B-B14F-4D97-AF65-F5344CB8AC3E}">
        <p14:creationId xmlns:p14="http://schemas.microsoft.com/office/powerpoint/2010/main" val="12018002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9C51C-6DFA-4144-87BC-74943D2F002B}"/>
              </a:ext>
            </a:extLst>
          </p:cNvPr>
          <p:cNvSpPr>
            <a:spLocks noGrp="1"/>
          </p:cNvSpPr>
          <p:nvPr>
            <p:ph type="title"/>
          </p:nvPr>
        </p:nvSpPr>
        <p:spPr/>
        <p:txBody>
          <a:bodyPr/>
          <a:lstStyle/>
          <a:p>
            <a:r>
              <a:rPr lang="en-US"/>
              <a:t>Solving Recurrence Relations with Generating Functions</a:t>
            </a:r>
          </a:p>
        </p:txBody>
      </p:sp>
      <p:sp>
        <p:nvSpPr>
          <p:cNvPr id="3" name="Content Placeholder 2">
            <a:extLst>
              <a:ext uri="{FF2B5EF4-FFF2-40B4-BE49-F238E27FC236}">
                <a16:creationId xmlns:a16="http://schemas.microsoft.com/office/drawing/2014/main" id="{88CA5203-ECE6-E743-92E8-3A67D5E7298B}"/>
              </a:ext>
            </a:extLst>
          </p:cNvPr>
          <p:cNvSpPr>
            <a:spLocks noGrp="1"/>
          </p:cNvSpPr>
          <p:nvPr>
            <p:ph idx="1"/>
          </p:nvPr>
        </p:nvSpPr>
        <p:spPr/>
        <p:txBody>
          <a:bodyPr>
            <a:normAutofit lnSpcReduction="10000"/>
          </a:bodyPr>
          <a:lstStyle/>
          <a:p>
            <a:pPr marL="0" indent="0">
              <a:buNone/>
            </a:pPr>
            <a:r>
              <a:rPr lang="en-US"/>
              <a:t>Thus</a:t>
            </a:r>
          </a:p>
          <a:p>
            <a:pPr marL="0" indent="0">
              <a:buNone/>
            </a:pPr>
            <a:endParaRPr lang="en-US"/>
          </a:p>
          <a:p>
            <a:pPr marL="0" indent="0">
              <a:buNone/>
            </a:pPr>
            <a:r>
              <a:rPr lang="en-US"/>
              <a:t>or</a:t>
            </a:r>
          </a:p>
          <a:p>
            <a:pPr marL="0" indent="0">
              <a:buNone/>
            </a:pPr>
            <a:endParaRPr lang="en-US"/>
          </a:p>
          <a:p>
            <a:pPr marL="0" indent="0">
              <a:buNone/>
            </a:pPr>
            <a:r>
              <a:rPr lang="en-US"/>
              <a:t>Using</a:t>
            </a:r>
          </a:p>
          <a:p>
            <a:pPr marL="0" indent="0">
              <a:buNone/>
            </a:pPr>
            <a:endParaRPr lang="en-US"/>
          </a:p>
          <a:p>
            <a:pPr marL="0" indent="0">
              <a:buNone/>
            </a:pPr>
            <a:r>
              <a:rPr lang="en-US"/>
              <a:t>We get </a:t>
            </a:r>
          </a:p>
          <a:p>
            <a:pPr marL="0" indent="0">
              <a:buNone/>
            </a:pPr>
            <a:endParaRPr lang="en-US"/>
          </a:p>
          <a:p>
            <a:pPr marL="0" indent="0">
              <a:buNone/>
            </a:pPr>
            <a:r>
              <a:rPr lang="en-US"/>
              <a:t>And thus  </a:t>
            </a:r>
          </a:p>
        </p:txBody>
      </p:sp>
      <p:pic>
        <p:nvPicPr>
          <p:cNvPr id="5" name="Picture 4">
            <a:extLst>
              <a:ext uri="{FF2B5EF4-FFF2-40B4-BE49-F238E27FC236}">
                <a16:creationId xmlns:a16="http://schemas.microsoft.com/office/drawing/2014/main" id="{384DBC56-281A-BB4A-893C-FBB512CADBAC}"/>
              </a:ext>
            </a:extLst>
          </p:cNvPr>
          <p:cNvPicPr>
            <a:picLocks noChangeAspect="1"/>
          </p:cNvPicPr>
          <p:nvPr/>
        </p:nvPicPr>
        <p:blipFill>
          <a:blip r:embed="rId2"/>
          <a:stretch>
            <a:fillRect/>
          </a:stretch>
        </p:blipFill>
        <p:spPr>
          <a:xfrm>
            <a:off x="2353932" y="1648210"/>
            <a:ext cx="4646249" cy="650092"/>
          </a:xfrm>
          <a:prstGeom prst="rect">
            <a:avLst/>
          </a:prstGeom>
        </p:spPr>
      </p:pic>
      <p:pic>
        <p:nvPicPr>
          <p:cNvPr id="9" name="Picture 8">
            <a:extLst>
              <a:ext uri="{FF2B5EF4-FFF2-40B4-BE49-F238E27FC236}">
                <a16:creationId xmlns:a16="http://schemas.microsoft.com/office/drawing/2014/main" id="{5904EE81-648F-FC4D-B012-6A2AC07B06CD}"/>
              </a:ext>
            </a:extLst>
          </p:cNvPr>
          <p:cNvPicPr>
            <a:picLocks noChangeAspect="1"/>
          </p:cNvPicPr>
          <p:nvPr/>
        </p:nvPicPr>
        <p:blipFill>
          <a:blip r:embed="rId3"/>
          <a:stretch>
            <a:fillRect/>
          </a:stretch>
        </p:blipFill>
        <p:spPr>
          <a:xfrm>
            <a:off x="2488085" y="2787202"/>
            <a:ext cx="2403764" cy="478799"/>
          </a:xfrm>
          <a:prstGeom prst="rect">
            <a:avLst/>
          </a:prstGeom>
        </p:spPr>
      </p:pic>
      <p:pic>
        <p:nvPicPr>
          <p:cNvPr id="11" name="Picture 10">
            <a:extLst>
              <a:ext uri="{FF2B5EF4-FFF2-40B4-BE49-F238E27FC236}">
                <a16:creationId xmlns:a16="http://schemas.microsoft.com/office/drawing/2014/main" id="{7B102FCC-4CE8-6749-A269-7565BF5C9FEB}"/>
              </a:ext>
            </a:extLst>
          </p:cNvPr>
          <p:cNvPicPr>
            <a:picLocks noChangeAspect="1"/>
          </p:cNvPicPr>
          <p:nvPr/>
        </p:nvPicPr>
        <p:blipFill>
          <a:blip r:embed="rId4"/>
          <a:stretch>
            <a:fillRect/>
          </a:stretch>
        </p:blipFill>
        <p:spPr>
          <a:xfrm>
            <a:off x="2488085" y="3572869"/>
            <a:ext cx="2758706" cy="577604"/>
          </a:xfrm>
          <a:prstGeom prst="rect">
            <a:avLst/>
          </a:prstGeom>
        </p:spPr>
      </p:pic>
      <p:pic>
        <p:nvPicPr>
          <p:cNvPr id="13" name="Picture 12">
            <a:extLst>
              <a:ext uri="{FF2B5EF4-FFF2-40B4-BE49-F238E27FC236}">
                <a16:creationId xmlns:a16="http://schemas.microsoft.com/office/drawing/2014/main" id="{6D49E627-E2FF-D94A-97A1-CD67572503C3}"/>
              </a:ext>
            </a:extLst>
          </p:cNvPr>
          <p:cNvPicPr>
            <a:picLocks noChangeAspect="1"/>
          </p:cNvPicPr>
          <p:nvPr/>
        </p:nvPicPr>
        <p:blipFill>
          <a:blip r:embed="rId5"/>
          <a:stretch>
            <a:fillRect/>
          </a:stretch>
        </p:blipFill>
        <p:spPr>
          <a:xfrm>
            <a:off x="2412925" y="4370875"/>
            <a:ext cx="4251183" cy="917456"/>
          </a:xfrm>
          <a:prstGeom prst="rect">
            <a:avLst/>
          </a:prstGeom>
        </p:spPr>
      </p:pic>
      <p:pic>
        <p:nvPicPr>
          <p:cNvPr id="15" name="Picture 14">
            <a:extLst>
              <a:ext uri="{FF2B5EF4-FFF2-40B4-BE49-F238E27FC236}">
                <a16:creationId xmlns:a16="http://schemas.microsoft.com/office/drawing/2014/main" id="{DFC0DD6B-6474-644C-BD1C-94256DADAAF4}"/>
              </a:ext>
            </a:extLst>
          </p:cNvPr>
          <p:cNvPicPr>
            <a:picLocks noChangeAspect="1"/>
          </p:cNvPicPr>
          <p:nvPr/>
        </p:nvPicPr>
        <p:blipFill>
          <a:blip r:embed="rId6"/>
          <a:stretch>
            <a:fillRect/>
          </a:stretch>
        </p:blipFill>
        <p:spPr>
          <a:xfrm>
            <a:off x="2581852" y="5508733"/>
            <a:ext cx="1285586" cy="593347"/>
          </a:xfrm>
          <a:prstGeom prst="rect">
            <a:avLst/>
          </a:prstGeom>
        </p:spPr>
      </p:pic>
    </p:spTree>
    <p:extLst>
      <p:ext uri="{BB962C8B-B14F-4D97-AF65-F5344CB8AC3E}">
        <p14:creationId xmlns:p14="http://schemas.microsoft.com/office/powerpoint/2010/main" val="21488874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5C9C0-BB1B-C044-A5AD-A2B5E7F9DF54}"/>
              </a:ext>
            </a:extLst>
          </p:cNvPr>
          <p:cNvSpPr>
            <a:spLocks noGrp="1"/>
          </p:cNvSpPr>
          <p:nvPr>
            <p:ph type="title"/>
          </p:nvPr>
        </p:nvSpPr>
        <p:spPr/>
        <p:txBody>
          <a:bodyPr/>
          <a:lstStyle/>
          <a:p>
            <a:r>
              <a:rPr lang="en-US"/>
              <a:t>Solving Recurrence Relations with Generating Functions</a:t>
            </a:r>
          </a:p>
        </p:txBody>
      </p:sp>
      <p:sp>
        <p:nvSpPr>
          <p:cNvPr id="3" name="Content Placeholder 2">
            <a:extLst>
              <a:ext uri="{FF2B5EF4-FFF2-40B4-BE49-F238E27FC236}">
                <a16:creationId xmlns:a16="http://schemas.microsoft.com/office/drawing/2014/main" id="{A41D6E4B-D335-1A47-AEDD-EDCCA6968F83}"/>
              </a:ext>
            </a:extLst>
          </p:cNvPr>
          <p:cNvSpPr>
            <a:spLocks noGrp="1"/>
          </p:cNvSpPr>
          <p:nvPr>
            <p:ph idx="1"/>
          </p:nvPr>
        </p:nvSpPr>
        <p:spPr/>
        <p:txBody>
          <a:bodyPr/>
          <a:lstStyle/>
          <a:p>
            <a:pPr marL="0" indent="0">
              <a:buNone/>
            </a:pPr>
            <a:r>
              <a:rPr lang="en-US"/>
              <a:t>Given some recurrence relation for a sequence </a:t>
            </a:r>
            <a:r>
              <a:rPr lang="en-US" i="1" dirty="0"/>
              <a:t>a</a:t>
            </a:r>
            <a:r>
              <a:rPr lang="en-US" baseline="-25000" dirty="0">
                <a:latin typeface="Cambria Math" pitchFamily="18" charset="0"/>
                <a:ea typeface="Cambria Math" pitchFamily="18" charset="0"/>
              </a:rPr>
              <a:t>0</a:t>
            </a:r>
            <a:r>
              <a:rPr lang="en-US" dirty="0"/>
              <a:t>, </a:t>
            </a:r>
            <a:r>
              <a:rPr lang="en-US" i="1" dirty="0"/>
              <a:t>a</a:t>
            </a:r>
            <a:r>
              <a:rPr lang="en-US" baseline="-25000" dirty="0">
                <a:latin typeface="Cambria Math" pitchFamily="18" charset="0"/>
                <a:ea typeface="Cambria Math" pitchFamily="18" charset="0"/>
              </a:rPr>
              <a:t>1</a:t>
            </a:r>
            <a:r>
              <a:rPr lang="en-US" dirty="0"/>
              <a:t>,…, </a:t>
            </a:r>
            <a:r>
              <a:rPr lang="en-US" i="1" dirty="0" err="1"/>
              <a:t>a</a:t>
            </a:r>
            <a:r>
              <a:rPr lang="en-US" i="1" baseline="-25000" dirty="0" err="1"/>
              <a:t>k</a:t>
            </a:r>
            <a:r>
              <a:rPr lang="en-US" dirty="0"/>
              <a:t>, …</a:t>
            </a:r>
            <a:r>
              <a:rPr lang="en-US"/>
              <a:t> </a:t>
            </a:r>
          </a:p>
          <a:p>
            <a:pPr marL="0" indent="0">
              <a:buNone/>
            </a:pPr>
            <a:endParaRPr lang="en-US"/>
          </a:p>
          <a:p>
            <a:pPr marL="0" indent="0">
              <a:buNone/>
            </a:pPr>
            <a:r>
              <a:rPr lang="en-US"/>
              <a:t>General Approach to find a closed formula</a:t>
            </a:r>
          </a:p>
          <a:p>
            <a:r>
              <a:rPr lang="en-US"/>
              <a:t>Find some closed formula for the generating function G(x)</a:t>
            </a:r>
          </a:p>
          <a:p>
            <a:r>
              <a:rPr lang="en-US"/>
              <a:t>Use the recurrence relation to derive an alternative expression for G(x)</a:t>
            </a:r>
          </a:p>
          <a:p>
            <a:r>
              <a:rPr lang="en-US"/>
              <a:t>Determine the power expansion of this alternative expression of which the coefficients must be equal to the sequence</a:t>
            </a:r>
          </a:p>
          <a:p>
            <a:pPr marL="0" indent="0">
              <a:buNone/>
            </a:pPr>
            <a:endParaRPr lang="en-US"/>
          </a:p>
        </p:txBody>
      </p:sp>
    </p:spTree>
    <p:extLst>
      <p:ext uri="{BB962C8B-B14F-4D97-AF65-F5344CB8AC3E}">
        <p14:creationId xmlns:p14="http://schemas.microsoft.com/office/powerpoint/2010/main" val="4967473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55B6C-2D42-2743-A7E1-7C4BB10A3B5A}"/>
              </a:ext>
            </a:extLst>
          </p:cNvPr>
          <p:cNvSpPr>
            <a:spLocks noGrp="1"/>
          </p:cNvSpPr>
          <p:nvPr>
            <p:ph type="title"/>
          </p:nvPr>
        </p:nvSpPr>
        <p:spPr/>
        <p:txBody>
          <a:bodyPr/>
          <a:lstStyle/>
          <a:p>
            <a:r>
              <a:rPr lang="en-US"/>
              <a:t>Solving Hanoi Tower</a:t>
            </a:r>
          </a:p>
        </p:txBody>
      </p:sp>
      <p:pic>
        <p:nvPicPr>
          <p:cNvPr id="5" name="Content Placeholder 4">
            <a:extLst>
              <a:ext uri="{FF2B5EF4-FFF2-40B4-BE49-F238E27FC236}">
                <a16:creationId xmlns:a16="http://schemas.microsoft.com/office/drawing/2014/main" id="{20B54C22-E929-BD42-811A-1CAD3DE8EA30}"/>
              </a:ext>
            </a:extLst>
          </p:cNvPr>
          <p:cNvPicPr>
            <a:picLocks noGrp="1" noChangeAspect="1"/>
          </p:cNvPicPr>
          <p:nvPr>
            <p:ph idx="1"/>
          </p:nvPr>
        </p:nvPicPr>
        <p:blipFill>
          <a:blip r:embed="rId2"/>
          <a:stretch>
            <a:fillRect/>
          </a:stretch>
        </p:blipFill>
        <p:spPr>
          <a:xfrm>
            <a:off x="1250175" y="1501159"/>
            <a:ext cx="6846690" cy="4973829"/>
          </a:xfrm>
        </p:spPr>
      </p:pic>
    </p:spTree>
    <p:extLst>
      <p:ext uri="{BB962C8B-B14F-4D97-AF65-F5344CB8AC3E}">
        <p14:creationId xmlns:p14="http://schemas.microsoft.com/office/powerpoint/2010/main" val="16595115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C040F-829A-6842-99CD-3045F596493A}"/>
              </a:ext>
            </a:extLst>
          </p:cNvPr>
          <p:cNvSpPr>
            <a:spLocks noGrp="1"/>
          </p:cNvSpPr>
          <p:nvPr>
            <p:ph type="title"/>
          </p:nvPr>
        </p:nvSpPr>
        <p:spPr/>
        <p:txBody>
          <a:bodyPr/>
          <a:lstStyle/>
          <a:p>
            <a:r>
              <a:rPr lang="en-US"/>
              <a:t>Summary</a:t>
            </a:r>
          </a:p>
        </p:txBody>
      </p:sp>
      <p:sp>
        <p:nvSpPr>
          <p:cNvPr id="3" name="Content Placeholder 2">
            <a:extLst>
              <a:ext uri="{FF2B5EF4-FFF2-40B4-BE49-F238E27FC236}">
                <a16:creationId xmlns:a16="http://schemas.microsoft.com/office/drawing/2014/main" id="{9963C87C-A0BE-1A48-8A63-624927DA0A2B}"/>
              </a:ext>
            </a:extLst>
          </p:cNvPr>
          <p:cNvSpPr>
            <a:spLocks noGrp="1"/>
          </p:cNvSpPr>
          <p:nvPr>
            <p:ph idx="1"/>
          </p:nvPr>
        </p:nvSpPr>
        <p:spPr/>
        <p:txBody>
          <a:bodyPr/>
          <a:lstStyle/>
          <a:p>
            <a:r>
              <a:rPr lang="en-US" dirty="0"/>
              <a:t>Generating Functions</a:t>
            </a:r>
          </a:p>
          <a:p>
            <a:r>
              <a:rPr lang="en-US" dirty="0"/>
              <a:t>Useful generating functions</a:t>
            </a:r>
          </a:p>
          <a:p>
            <a:r>
              <a:rPr lang="en-US" dirty="0"/>
              <a:t>Solving recurrence relations with generating functions</a:t>
            </a:r>
          </a:p>
          <a:p>
            <a:endParaRPr lang="en-US"/>
          </a:p>
        </p:txBody>
      </p:sp>
    </p:spTree>
    <p:extLst>
      <p:ext uri="{BB962C8B-B14F-4D97-AF65-F5344CB8AC3E}">
        <p14:creationId xmlns:p14="http://schemas.microsoft.com/office/powerpoint/2010/main" val="26483631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FBFB5-70B2-1448-A396-769733675575}"/>
              </a:ext>
            </a:extLst>
          </p:cNvPr>
          <p:cNvSpPr>
            <a:spLocks noGrp="1"/>
          </p:cNvSpPr>
          <p:nvPr>
            <p:ph type="title"/>
          </p:nvPr>
        </p:nvSpPr>
        <p:spPr/>
        <p:txBody>
          <a:bodyPr/>
          <a:lstStyle/>
          <a:p>
            <a:r>
              <a:rPr lang="en-US"/>
              <a:t>Video 71: Counting Problems</a:t>
            </a:r>
          </a:p>
        </p:txBody>
      </p:sp>
      <p:sp>
        <p:nvSpPr>
          <p:cNvPr id="3" name="Content Placeholder 2">
            <a:extLst>
              <a:ext uri="{FF2B5EF4-FFF2-40B4-BE49-F238E27FC236}">
                <a16:creationId xmlns:a16="http://schemas.microsoft.com/office/drawing/2014/main" id="{83CB645E-058B-CE4B-8C1D-D6AC4AF1BCC6}"/>
              </a:ext>
            </a:extLst>
          </p:cNvPr>
          <p:cNvSpPr>
            <a:spLocks noGrp="1"/>
          </p:cNvSpPr>
          <p:nvPr>
            <p:ph idx="1"/>
          </p:nvPr>
        </p:nvSpPr>
        <p:spPr/>
        <p:txBody>
          <a:bodyPr/>
          <a:lstStyle/>
          <a:p>
            <a:r>
              <a:rPr lang="en-US"/>
              <a:t>Solving counting problems with generating functions</a:t>
            </a:r>
          </a:p>
        </p:txBody>
      </p:sp>
    </p:spTree>
    <p:extLst>
      <p:ext uri="{BB962C8B-B14F-4D97-AF65-F5344CB8AC3E}">
        <p14:creationId xmlns:p14="http://schemas.microsoft.com/office/powerpoint/2010/main" val="2076002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Counting Problems and Generating Functions</a:t>
            </a:r>
          </a:p>
        </p:txBody>
      </p:sp>
      <p:sp>
        <p:nvSpPr>
          <p:cNvPr id="3" name="Content Placeholder 2"/>
          <p:cNvSpPr>
            <a:spLocks noGrp="1"/>
          </p:cNvSpPr>
          <p:nvPr>
            <p:ph idx="1"/>
          </p:nvPr>
        </p:nvSpPr>
        <p:spPr/>
        <p:txBody>
          <a:bodyPr>
            <a:normAutofit fontScale="92500" lnSpcReduction="20000"/>
          </a:bodyPr>
          <a:lstStyle/>
          <a:p>
            <a:pPr>
              <a:buNone/>
            </a:pPr>
            <a:r>
              <a:rPr lang="en-US" dirty="0"/>
              <a:t>Find the number of solutions of </a:t>
            </a:r>
          </a:p>
          <a:p>
            <a:pPr>
              <a:buNone/>
            </a:pPr>
            <a:r>
              <a:rPr lang="en-US" dirty="0"/>
              <a:t>          	</a:t>
            </a:r>
            <a:r>
              <a:rPr lang="en-US" i="1" dirty="0"/>
              <a:t>e</a:t>
            </a:r>
            <a:r>
              <a:rPr lang="en-US" baseline="-25000" dirty="0">
                <a:ea typeface="Cambria Math" pitchFamily="18" charset="0"/>
              </a:rPr>
              <a:t>1</a:t>
            </a:r>
            <a:r>
              <a:rPr lang="en-US" dirty="0"/>
              <a:t> + </a:t>
            </a:r>
            <a:r>
              <a:rPr lang="en-US" i="1" dirty="0"/>
              <a:t>e</a:t>
            </a:r>
            <a:r>
              <a:rPr lang="en-US" baseline="-25000" dirty="0">
                <a:ea typeface="Cambria Math" pitchFamily="18" charset="0"/>
              </a:rPr>
              <a:t>2</a:t>
            </a:r>
            <a:r>
              <a:rPr lang="en-US" dirty="0"/>
              <a:t> + </a:t>
            </a:r>
            <a:r>
              <a:rPr lang="en-US" i="1" dirty="0"/>
              <a:t>e</a:t>
            </a:r>
            <a:r>
              <a:rPr lang="en-US" baseline="-25000" dirty="0">
                <a:ea typeface="Cambria Math" pitchFamily="18" charset="0"/>
              </a:rPr>
              <a:t>3</a:t>
            </a:r>
            <a:r>
              <a:rPr lang="en-US" dirty="0"/>
              <a:t> = </a:t>
            </a:r>
            <a:r>
              <a:rPr lang="en-US" dirty="0">
                <a:ea typeface="Cambria Math" pitchFamily="18" charset="0"/>
              </a:rPr>
              <a:t>17,</a:t>
            </a:r>
          </a:p>
          <a:p>
            <a:pPr>
              <a:buNone/>
            </a:pPr>
            <a:r>
              <a:rPr lang="en-US" dirty="0"/>
              <a:t>where </a:t>
            </a:r>
            <a:r>
              <a:rPr lang="en-US" i="1" dirty="0"/>
              <a:t>e</a:t>
            </a:r>
            <a:r>
              <a:rPr lang="en-US" baseline="-25000" dirty="0">
                <a:ea typeface="Cambria Math" pitchFamily="18" charset="0"/>
              </a:rPr>
              <a:t>1</a:t>
            </a:r>
            <a:r>
              <a:rPr lang="en-US" dirty="0"/>
              <a:t>, </a:t>
            </a:r>
            <a:r>
              <a:rPr lang="en-US" i="1" dirty="0"/>
              <a:t>e</a:t>
            </a:r>
            <a:r>
              <a:rPr lang="en-US" baseline="-25000" dirty="0">
                <a:ea typeface="Cambria Math" pitchFamily="18" charset="0"/>
              </a:rPr>
              <a:t>2</a:t>
            </a:r>
            <a:r>
              <a:rPr lang="en-US" dirty="0"/>
              <a:t>, and </a:t>
            </a:r>
            <a:r>
              <a:rPr lang="en-US" i="1" dirty="0"/>
              <a:t>e</a:t>
            </a:r>
            <a:r>
              <a:rPr lang="en-US" baseline="-25000" dirty="0">
                <a:ea typeface="Cambria Math" pitchFamily="18" charset="0"/>
              </a:rPr>
              <a:t>3</a:t>
            </a:r>
            <a:r>
              <a:rPr lang="en-US" dirty="0"/>
              <a:t> are nonnegative integers with</a:t>
            </a:r>
          </a:p>
          <a:p>
            <a:pPr>
              <a:buNone/>
            </a:pPr>
            <a:r>
              <a:rPr lang="en-US" dirty="0">
                <a:ea typeface="Cambria Math" pitchFamily="18" charset="0"/>
              </a:rPr>
              <a:t>		2 </a:t>
            </a:r>
            <a:r>
              <a:rPr lang="en-US" dirty="0">
                <a:ea typeface="Cambria Math"/>
              </a:rPr>
              <a:t>≤</a:t>
            </a:r>
            <a:r>
              <a:rPr lang="en-US" dirty="0"/>
              <a:t> </a:t>
            </a:r>
            <a:r>
              <a:rPr lang="en-US" i="1" dirty="0"/>
              <a:t>e</a:t>
            </a:r>
            <a:r>
              <a:rPr lang="en-US" baseline="-25000" dirty="0">
                <a:ea typeface="Cambria Math" pitchFamily="18" charset="0"/>
              </a:rPr>
              <a:t>1 </a:t>
            </a:r>
            <a:r>
              <a:rPr lang="en-US" dirty="0">
                <a:ea typeface="Cambria Math"/>
              </a:rPr>
              <a:t>≤ 5</a:t>
            </a:r>
            <a:r>
              <a:rPr lang="en-US" dirty="0"/>
              <a:t>, </a:t>
            </a:r>
            <a:r>
              <a:rPr lang="en-US" dirty="0">
                <a:ea typeface="Cambria Math" pitchFamily="18" charset="0"/>
              </a:rPr>
              <a:t>3 </a:t>
            </a:r>
            <a:r>
              <a:rPr lang="en-US" dirty="0">
                <a:ea typeface="Cambria Math"/>
              </a:rPr>
              <a:t>≤ </a:t>
            </a:r>
            <a:r>
              <a:rPr lang="en-US" i="1" dirty="0"/>
              <a:t>e</a:t>
            </a:r>
            <a:r>
              <a:rPr lang="en-US" baseline="-25000" dirty="0">
                <a:ea typeface="Cambria Math" pitchFamily="18" charset="0"/>
              </a:rPr>
              <a:t>2</a:t>
            </a:r>
            <a:r>
              <a:rPr lang="en-US" dirty="0">
                <a:ea typeface="Cambria Math"/>
              </a:rPr>
              <a:t> ≤ 6</a:t>
            </a:r>
            <a:r>
              <a:rPr lang="en-US" dirty="0"/>
              <a:t>, and </a:t>
            </a:r>
            <a:r>
              <a:rPr lang="en-US" dirty="0">
                <a:ea typeface="Cambria Math" pitchFamily="18" charset="0"/>
              </a:rPr>
              <a:t>4 </a:t>
            </a:r>
            <a:r>
              <a:rPr lang="en-US" dirty="0">
                <a:ea typeface="Cambria Math"/>
              </a:rPr>
              <a:t>≤ </a:t>
            </a:r>
            <a:r>
              <a:rPr lang="en-US" i="1" dirty="0"/>
              <a:t>e</a:t>
            </a:r>
            <a:r>
              <a:rPr lang="en-US" baseline="-25000" dirty="0">
                <a:ea typeface="Cambria Math" pitchFamily="18" charset="0"/>
              </a:rPr>
              <a:t>3</a:t>
            </a:r>
            <a:r>
              <a:rPr lang="en-US" dirty="0"/>
              <a:t> </a:t>
            </a:r>
            <a:r>
              <a:rPr lang="en-US" dirty="0">
                <a:ea typeface="Cambria Math"/>
              </a:rPr>
              <a:t>≤ 7.</a:t>
            </a:r>
            <a:r>
              <a:rPr lang="en-US" dirty="0"/>
              <a:t>  </a:t>
            </a:r>
          </a:p>
          <a:p>
            <a:pPr>
              <a:buNone/>
            </a:pPr>
            <a:endParaRPr lang="en-US" dirty="0"/>
          </a:p>
          <a:p>
            <a:pPr>
              <a:buNone/>
            </a:pPr>
            <a:r>
              <a:rPr lang="en-US" dirty="0"/>
              <a:t>The number of solutions is the coefficient of </a:t>
            </a:r>
            <a:r>
              <a:rPr lang="en-US" i="1" dirty="0"/>
              <a:t>x</a:t>
            </a:r>
            <a:r>
              <a:rPr lang="en-US" baseline="30000" dirty="0">
                <a:ea typeface="Cambria Math" pitchFamily="18" charset="0"/>
              </a:rPr>
              <a:t>17</a:t>
            </a:r>
            <a:r>
              <a:rPr lang="en-US" dirty="0"/>
              <a:t> in the expansion of  </a:t>
            </a:r>
          </a:p>
          <a:p>
            <a:pPr>
              <a:buNone/>
            </a:pPr>
            <a:r>
              <a:rPr lang="en-US" sz="2200" dirty="0"/>
              <a:t>           </a:t>
            </a:r>
            <a:r>
              <a:rPr lang="en-US" sz="2200" i="1" dirty="0"/>
              <a:t>f</a:t>
            </a:r>
            <a:r>
              <a:rPr lang="en-US" sz="2200" dirty="0"/>
              <a:t>(x) = (</a:t>
            </a:r>
            <a:r>
              <a:rPr lang="en-US" sz="2200" i="1" dirty="0">
                <a:ea typeface="Cambria Math" pitchFamily="18" charset="0"/>
              </a:rPr>
              <a:t>x</a:t>
            </a:r>
            <a:r>
              <a:rPr lang="en-US" sz="2200" baseline="30000" dirty="0">
                <a:ea typeface="Cambria Math" pitchFamily="18" charset="0"/>
              </a:rPr>
              <a:t>2</a:t>
            </a:r>
            <a:r>
              <a:rPr lang="en-US" sz="2200" dirty="0">
                <a:ea typeface="Cambria Math" pitchFamily="18" charset="0"/>
              </a:rPr>
              <a:t> + </a:t>
            </a:r>
            <a:r>
              <a:rPr lang="en-US" sz="2200" i="1" dirty="0">
                <a:ea typeface="Cambria Math" pitchFamily="18" charset="0"/>
              </a:rPr>
              <a:t>x</a:t>
            </a:r>
            <a:r>
              <a:rPr lang="en-US" sz="2200" baseline="30000" dirty="0">
                <a:ea typeface="Cambria Math" pitchFamily="18" charset="0"/>
              </a:rPr>
              <a:t>3</a:t>
            </a:r>
            <a:r>
              <a:rPr lang="en-US" sz="2200" dirty="0">
                <a:ea typeface="Cambria Math" pitchFamily="18" charset="0"/>
              </a:rPr>
              <a:t> + </a:t>
            </a:r>
            <a:r>
              <a:rPr lang="en-US" sz="2200" i="1" dirty="0">
                <a:ea typeface="Cambria Math" pitchFamily="18" charset="0"/>
              </a:rPr>
              <a:t>x</a:t>
            </a:r>
            <a:r>
              <a:rPr lang="en-US" sz="2200" baseline="30000" dirty="0">
                <a:ea typeface="Cambria Math" pitchFamily="18" charset="0"/>
              </a:rPr>
              <a:t>4</a:t>
            </a:r>
            <a:r>
              <a:rPr lang="en-US" sz="2200" dirty="0">
                <a:ea typeface="Cambria Math" pitchFamily="18" charset="0"/>
              </a:rPr>
              <a:t> + </a:t>
            </a:r>
            <a:r>
              <a:rPr lang="en-US" sz="2200" i="1" dirty="0">
                <a:ea typeface="Cambria Math" pitchFamily="18" charset="0"/>
              </a:rPr>
              <a:t>x</a:t>
            </a:r>
            <a:r>
              <a:rPr lang="en-US" sz="2200" baseline="30000" dirty="0">
                <a:ea typeface="Cambria Math" pitchFamily="18" charset="0"/>
              </a:rPr>
              <a:t>5</a:t>
            </a:r>
            <a:r>
              <a:rPr lang="en-US" sz="2200" dirty="0">
                <a:ea typeface="Cambria Math" pitchFamily="18" charset="0"/>
              </a:rPr>
              <a:t>)</a:t>
            </a:r>
            <a:r>
              <a:rPr lang="en-US" sz="2200" dirty="0"/>
              <a:t> (</a:t>
            </a:r>
            <a:r>
              <a:rPr lang="en-US" sz="2200" i="1" dirty="0">
                <a:ea typeface="Cambria Math" pitchFamily="18" charset="0"/>
              </a:rPr>
              <a:t>x</a:t>
            </a:r>
            <a:r>
              <a:rPr lang="en-US" sz="2200" baseline="30000" dirty="0">
                <a:ea typeface="Cambria Math" pitchFamily="18" charset="0"/>
              </a:rPr>
              <a:t>3</a:t>
            </a:r>
            <a:r>
              <a:rPr lang="en-US" sz="2200" dirty="0">
                <a:ea typeface="Cambria Math" pitchFamily="18" charset="0"/>
              </a:rPr>
              <a:t> + </a:t>
            </a:r>
            <a:r>
              <a:rPr lang="en-US" sz="2200" i="1" dirty="0">
                <a:ea typeface="Cambria Math" pitchFamily="18" charset="0"/>
              </a:rPr>
              <a:t>x</a:t>
            </a:r>
            <a:r>
              <a:rPr lang="en-US" sz="2200" baseline="30000" dirty="0">
                <a:ea typeface="Cambria Math" pitchFamily="18" charset="0"/>
              </a:rPr>
              <a:t>4</a:t>
            </a:r>
            <a:r>
              <a:rPr lang="en-US" sz="2200" dirty="0">
                <a:ea typeface="Cambria Math" pitchFamily="18" charset="0"/>
              </a:rPr>
              <a:t> + </a:t>
            </a:r>
            <a:r>
              <a:rPr lang="en-US" sz="2200" i="1" dirty="0">
                <a:ea typeface="Cambria Math" pitchFamily="18" charset="0"/>
              </a:rPr>
              <a:t>x</a:t>
            </a:r>
            <a:r>
              <a:rPr lang="en-US" sz="2200" baseline="30000" dirty="0">
                <a:ea typeface="Cambria Math" pitchFamily="18" charset="0"/>
              </a:rPr>
              <a:t>5</a:t>
            </a:r>
            <a:r>
              <a:rPr lang="en-US" sz="2200" dirty="0">
                <a:ea typeface="Cambria Math" pitchFamily="18" charset="0"/>
              </a:rPr>
              <a:t> + </a:t>
            </a:r>
            <a:r>
              <a:rPr lang="en-US" sz="2200" i="1" dirty="0">
                <a:ea typeface="Cambria Math" pitchFamily="18" charset="0"/>
              </a:rPr>
              <a:t>x</a:t>
            </a:r>
            <a:r>
              <a:rPr lang="en-US" sz="2200" baseline="30000" dirty="0">
                <a:ea typeface="Cambria Math" pitchFamily="18" charset="0"/>
              </a:rPr>
              <a:t>6</a:t>
            </a:r>
            <a:r>
              <a:rPr lang="en-US" sz="2200" dirty="0">
                <a:ea typeface="Cambria Math" pitchFamily="18" charset="0"/>
              </a:rPr>
              <a:t>)</a:t>
            </a:r>
            <a:r>
              <a:rPr lang="en-US" sz="2200" dirty="0"/>
              <a:t> (</a:t>
            </a:r>
            <a:r>
              <a:rPr lang="en-US" sz="2200" i="1" dirty="0">
                <a:ea typeface="Cambria Math" pitchFamily="18" charset="0"/>
              </a:rPr>
              <a:t>x</a:t>
            </a:r>
            <a:r>
              <a:rPr lang="en-US" sz="2200" baseline="30000" dirty="0">
                <a:ea typeface="Cambria Math" pitchFamily="18" charset="0"/>
              </a:rPr>
              <a:t>4</a:t>
            </a:r>
            <a:r>
              <a:rPr lang="en-US" sz="2200" dirty="0">
                <a:ea typeface="Cambria Math" pitchFamily="18" charset="0"/>
              </a:rPr>
              <a:t> + </a:t>
            </a:r>
            <a:r>
              <a:rPr lang="en-US" sz="2200" i="1" dirty="0">
                <a:ea typeface="Cambria Math" pitchFamily="18" charset="0"/>
              </a:rPr>
              <a:t>x</a:t>
            </a:r>
            <a:r>
              <a:rPr lang="en-US" sz="2200" baseline="30000" dirty="0">
                <a:ea typeface="Cambria Math" pitchFamily="18" charset="0"/>
              </a:rPr>
              <a:t>5</a:t>
            </a:r>
            <a:r>
              <a:rPr lang="en-US" sz="2200" dirty="0">
                <a:ea typeface="Cambria Math" pitchFamily="18" charset="0"/>
              </a:rPr>
              <a:t> + </a:t>
            </a:r>
            <a:r>
              <a:rPr lang="en-US" sz="2200" i="1" dirty="0">
                <a:ea typeface="Cambria Math" pitchFamily="18" charset="0"/>
              </a:rPr>
              <a:t>x</a:t>
            </a:r>
            <a:r>
              <a:rPr lang="en-US" sz="2200" baseline="30000" dirty="0">
                <a:ea typeface="Cambria Math" pitchFamily="18" charset="0"/>
              </a:rPr>
              <a:t>6</a:t>
            </a:r>
            <a:r>
              <a:rPr lang="en-US" sz="2200" dirty="0">
                <a:ea typeface="Cambria Math" pitchFamily="18" charset="0"/>
              </a:rPr>
              <a:t> + </a:t>
            </a:r>
            <a:r>
              <a:rPr lang="en-US" sz="2200" i="1" dirty="0">
                <a:ea typeface="Cambria Math" pitchFamily="18" charset="0"/>
              </a:rPr>
              <a:t>x</a:t>
            </a:r>
            <a:r>
              <a:rPr lang="en-US" sz="2200" baseline="30000" dirty="0">
                <a:ea typeface="Cambria Math" pitchFamily="18" charset="0"/>
              </a:rPr>
              <a:t>7</a:t>
            </a:r>
            <a:r>
              <a:rPr lang="en-US" sz="2200" dirty="0">
                <a:ea typeface="Cambria Math" pitchFamily="18" charset="0"/>
              </a:rPr>
              <a:t>).</a:t>
            </a:r>
          </a:p>
          <a:p>
            <a:pPr>
              <a:buNone/>
            </a:pPr>
            <a:r>
              <a:rPr lang="en-US" dirty="0">
                <a:ea typeface="Cambria Math" pitchFamily="18" charset="0"/>
              </a:rPr>
              <a:t>A term equal to </a:t>
            </a:r>
            <a:r>
              <a:rPr lang="en-US" i="1" dirty="0"/>
              <a:t>x</a:t>
            </a:r>
            <a:r>
              <a:rPr lang="en-US" baseline="30000" dirty="0">
                <a:ea typeface="Cambria Math" pitchFamily="18" charset="0"/>
              </a:rPr>
              <a:t>17</a:t>
            </a:r>
            <a:r>
              <a:rPr lang="en-US" dirty="0">
                <a:ea typeface="Cambria Math" pitchFamily="18" charset="0"/>
              </a:rPr>
              <a:t> is obtained in the product by picking </a:t>
            </a:r>
            <a:br>
              <a:rPr lang="en-US" dirty="0">
                <a:ea typeface="Cambria Math" pitchFamily="18" charset="0"/>
              </a:rPr>
            </a:br>
            <a:r>
              <a:rPr lang="en-US" i="1" dirty="0">
                <a:ea typeface="Cambria Math" pitchFamily="18" charset="0"/>
              </a:rPr>
              <a:t>x</a:t>
            </a:r>
            <a:r>
              <a:rPr lang="en-US" i="1" baseline="30000" dirty="0">
                <a:ea typeface="Cambria Math" pitchFamily="18" charset="0"/>
              </a:rPr>
              <a:t>e</a:t>
            </a:r>
            <a:r>
              <a:rPr lang="en-US" sz="1500" baseline="30000" dirty="0">
                <a:ea typeface="Cambria Math" pitchFamily="18" charset="0"/>
              </a:rPr>
              <a:t>1</a:t>
            </a:r>
            <a:r>
              <a:rPr lang="en-US" dirty="0">
                <a:ea typeface="Cambria Math" pitchFamily="18" charset="0"/>
              </a:rPr>
              <a:t> in the first sum, </a:t>
            </a:r>
            <a:r>
              <a:rPr lang="en-US" i="1" dirty="0">
                <a:ea typeface="Cambria Math" pitchFamily="18" charset="0"/>
              </a:rPr>
              <a:t>x</a:t>
            </a:r>
            <a:r>
              <a:rPr lang="en-US" i="1" baseline="30000" dirty="0">
                <a:ea typeface="Cambria Math" pitchFamily="18" charset="0"/>
              </a:rPr>
              <a:t>e</a:t>
            </a:r>
            <a:r>
              <a:rPr lang="en-US" sz="1500" baseline="30000" dirty="0">
                <a:ea typeface="Cambria Math" pitchFamily="18" charset="0"/>
              </a:rPr>
              <a:t>2</a:t>
            </a:r>
            <a:r>
              <a:rPr lang="en-US" dirty="0">
                <a:ea typeface="Cambria Math" pitchFamily="18" charset="0"/>
              </a:rPr>
              <a:t> in the second sum</a:t>
            </a:r>
            <a:r>
              <a:rPr lang="en-US" i="1" dirty="0">
                <a:ea typeface="Cambria Math" pitchFamily="18" charset="0"/>
              </a:rPr>
              <a:t> x</a:t>
            </a:r>
            <a:r>
              <a:rPr lang="en-US" i="1" baseline="30000" dirty="0">
                <a:ea typeface="Cambria Math" pitchFamily="18" charset="0"/>
              </a:rPr>
              <a:t>e</a:t>
            </a:r>
            <a:r>
              <a:rPr lang="en-US" sz="1500" baseline="30000" dirty="0">
                <a:ea typeface="Cambria Math" pitchFamily="18" charset="0"/>
              </a:rPr>
              <a:t>2</a:t>
            </a:r>
            <a:r>
              <a:rPr lang="en-US" dirty="0">
                <a:ea typeface="Cambria Math" pitchFamily="18" charset="0"/>
              </a:rPr>
              <a:t>, and </a:t>
            </a:r>
            <a:r>
              <a:rPr lang="en-US" i="1" dirty="0">
                <a:ea typeface="Cambria Math" pitchFamily="18" charset="0"/>
              </a:rPr>
              <a:t>x</a:t>
            </a:r>
            <a:r>
              <a:rPr lang="en-US" i="1" baseline="30000" dirty="0">
                <a:ea typeface="Cambria Math" pitchFamily="18" charset="0"/>
              </a:rPr>
              <a:t>e</a:t>
            </a:r>
            <a:r>
              <a:rPr lang="en-US" sz="1500" baseline="30000" dirty="0">
                <a:ea typeface="Cambria Math" pitchFamily="18" charset="0"/>
              </a:rPr>
              <a:t>3 </a:t>
            </a:r>
            <a:r>
              <a:rPr lang="en-US" dirty="0">
                <a:ea typeface="Cambria Math" pitchFamily="18" charset="0"/>
              </a:rPr>
              <a:t>in the third sum</a:t>
            </a:r>
            <a:r>
              <a:rPr lang="en-US" i="1" dirty="0">
                <a:ea typeface="Cambria Math" pitchFamily="18" charset="0"/>
              </a:rPr>
              <a:t> x</a:t>
            </a:r>
            <a:r>
              <a:rPr lang="en-US" i="1" baseline="30000" dirty="0">
                <a:ea typeface="Cambria Math" pitchFamily="18" charset="0"/>
              </a:rPr>
              <a:t>e</a:t>
            </a:r>
            <a:r>
              <a:rPr lang="en-US" sz="1500" baseline="30000" dirty="0">
                <a:ea typeface="Cambria Math" pitchFamily="18" charset="0"/>
              </a:rPr>
              <a:t>3</a:t>
            </a:r>
            <a:r>
              <a:rPr lang="en-US" dirty="0">
                <a:ea typeface="Cambria Math" pitchFamily="18" charset="0"/>
              </a:rPr>
              <a:t>, </a:t>
            </a:r>
            <a:br>
              <a:rPr lang="en-US" dirty="0">
                <a:ea typeface="Cambria Math" pitchFamily="18" charset="0"/>
              </a:rPr>
            </a:br>
            <a:r>
              <a:rPr lang="en-US" dirty="0">
                <a:ea typeface="Cambria Math" pitchFamily="18" charset="0"/>
              </a:rPr>
              <a:t>such that  </a:t>
            </a:r>
            <a:r>
              <a:rPr lang="en-US" i="1" dirty="0"/>
              <a:t>e</a:t>
            </a:r>
            <a:r>
              <a:rPr lang="en-US" baseline="-25000" dirty="0">
                <a:ea typeface="Cambria Math" pitchFamily="18" charset="0"/>
              </a:rPr>
              <a:t>1</a:t>
            </a:r>
            <a:r>
              <a:rPr lang="en-US" dirty="0"/>
              <a:t> + </a:t>
            </a:r>
            <a:r>
              <a:rPr lang="en-US" i="1" dirty="0"/>
              <a:t>e</a:t>
            </a:r>
            <a:r>
              <a:rPr lang="en-US" baseline="-25000" dirty="0">
                <a:ea typeface="Cambria Math" pitchFamily="18" charset="0"/>
              </a:rPr>
              <a:t>2</a:t>
            </a:r>
            <a:r>
              <a:rPr lang="en-US" dirty="0"/>
              <a:t> + </a:t>
            </a:r>
            <a:r>
              <a:rPr lang="en-US" i="1" dirty="0"/>
              <a:t>e</a:t>
            </a:r>
            <a:r>
              <a:rPr lang="en-US" baseline="-25000" dirty="0">
                <a:ea typeface="Cambria Math" pitchFamily="18" charset="0"/>
              </a:rPr>
              <a:t>3</a:t>
            </a:r>
            <a:r>
              <a:rPr lang="en-US" dirty="0"/>
              <a:t> = </a:t>
            </a:r>
            <a:r>
              <a:rPr lang="en-US" dirty="0">
                <a:ea typeface="Cambria Math" pitchFamily="18" charset="0"/>
              </a:rPr>
              <a:t>17.</a:t>
            </a:r>
          </a:p>
          <a:p>
            <a:pPr>
              <a:buNone/>
            </a:pPr>
            <a:r>
              <a:rPr lang="en-US" dirty="0">
                <a:ea typeface="Cambria Math" pitchFamily="18" charset="0"/>
              </a:rPr>
              <a:t>There are three solutions since the coefficient of </a:t>
            </a:r>
            <a:r>
              <a:rPr lang="en-US" i="1" dirty="0"/>
              <a:t>x</a:t>
            </a:r>
            <a:r>
              <a:rPr lang="en-US" baseline="30000" dirty="0">
                <a:ea typeface="Cambria Math" pitchFamily="18" charset="0"/>
              </a:rPr>
              <a:t>17</a:t>
            </a:r>
            <a:r>
              <a:rPr lang="en-US" dirty="0">
                <a:ea typeface="Cambria Math" pitchFamily="18" charset="0"/>
              </a:rPr>
              <a:t> in the product is 3. </a:t>
            </a:r>
          </a:p>
          <a:p>
            <a:pPr>
              <a:buNone/>
            </a:pPr>
            <a:endParaRPr lang="en-US" dirty="0"/>
          </a:p>
        </p:txBody>
      </p:sp>
    </p:spTree>
    <p:extLst>
      <p:ext uri="{BB962C8B-B14F-4D97-AF65-F5344CB8AC3E}">
        <p14:creationId xmlns:p14="http://schemas.microsoft.com/office/powerpoint/2010/main" val="35713877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89A19-11A7-3347-89F3-AE0E256F7773}"/>
              </a:ext>
            </a:extLst>
          </p:cNvPr>
          <p:cNvSpPr>
            <a:spLocks noGrp="1"/>
          </p:cNvSpPr>
          <p:nvPr>
            <p:ph type="title"/>
          </p:nvPr>
        </p:nvSpPr>
        <p:spPr/>
        <p:txBody>
          <a:bodyPr/>
          <a:lstStyle/>
          <a:p>
            <a:r>
              <a:rPr lang="en-US"/>
              <a:t>Combinations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0CA545-C2F7-2D48-A4A3-C16C1831D01A}"/>
                  </a:ext>
                </a:extLst>
              </p:cNvPr>
              <p:cNvSpPr>
                <a:spLocks noGrp="1"/>
              </p:cNvSpPr>
              <p:nvPr>
                <p:ph idx="1"/>
              </p:nvPr>
            </p:nvSpPr>
            <p:spPr/>
            <p:txBody>
              <a:bodyPr/>
              <a:lstStyle/>
              <a:p>
                <a:pPr marL="0" indent="0">
                  <a:buNone/>
                </a:pPr>
                <a:r>
                  <a:rPr lang="en-US"/>
                  <a:t>Find the number of </a:t>
                </a:r>
                <a:r>
                  <a:rPr lang="en-US" i="1"/>
                  <a:t>k</a:t>
                </a:r>
                <a:r>
                  <a:rPr lang="en-US"/>
                  <a:t>-combinations of a set with n elements using generating functions</a:t>
                </a:r>
              </a:p>
              <a:p>
                <a:r>
                  <a:rPr lang="en-US"/>
                  <a:t>The number of </a:t>
                </a:r>
                <a:r>
                  <a:rPr lang="en-US" i="1"/>
                  <a:t>k</a:t>
                </a:r>
                <a:r>
                  <a:rPr lang="en-US"/>
                  <a:t>-combinations is the coefficient of </a:t>
                </a:r>
                <a14:m>
                  <m:oMath xmlns:m="http://schemas.openxmlformats.org/officeDocument/2006/math">
                    <m:r>
                      <a:rPr lang="en-US" i="1">
                        <a:latin typeface="Cambria Math" panose="02040503050406030204" pitchFamily="18" charset="0"/>
                      </a:rPr>
                      <m:t>𝑥</m:t>
                    </m:r>
                    <m:r>
                      <a:rPr lang="en-US" i="1" baseline="30000">
                        <a:latin typeface="Cambria Math" panose="02040503050406030204" pitchFamily="18" charset="0"/>
                      </a:rPr>
                      <m:t>𝑘</m:t>
                    </m:r>
                  </m:oMath>
                </a14:m>
                <a:r>
                  <a:rPr lang="en-US"/>
                  <a:t> in the generating function</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 = (1+</m:t>
                      </m:r>
                      <m:r>
                        <a:rPr lang="en-US" i="1">
                          <a:latin typeface="Cambria Math" panose="02040503050406030204" pitchFamily="18" charset="0"/>
                        </a:rPr>
                        <m:t>𝑥</m:t>
                      </m:r>
                      <m:r>
                        <a:rPr lang="en-US" i="1">
                          <a:latin typeface="Cambria Math" panose="02040503050406030204" pitchFamily="18" charset="0"/>
                        </a:rPr>
                        <m:t>)</m:t>
                      </m:r>
                      <m:r>
                        <a:rPr lang="en-US" i="1" baseline="30000">
                          <a:latin typeface="Cambria Math" panose="02040503050406030204" pitchFamily="18" charset="0"/>
                        </a:rPr>
                        <m:t>𝑛</m:t>
                      </m:r>
                    </m:oMath>
                  </m:oMathPara>
                </a14:m>
                <a:endParaRPr lang="en-US" baseline="30000"/>
              </a:p>
              <a:p>
                <a:r>
                  <a:rPr lang="en-US"/>
                  <a:t>Using the binomial theorem: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 =</m:t>
                    </m:r>
                    <m:nary>
                      <m:naryPr>
                        <m:chr m:val="∑"/>
                        <m:ctrlPr>
                          <a:rPr lang="en-US" i="1">
                            <a:latin typeface="Cambria Math" panose="02040503050406030204" pitchFamily="18" charset="0"/>
                          </a:rPr>
                        </m:ctrlPr>
                      </m:naryPr>
                      <m:sub>
                        <m:r>
                          <m:rPr>
                            <m:brk m:alnAt="23"/>
                          </m:rPr>
                          <a:rPr lang="fr-CH" b="0" i="1">
                            <a:latin typeface="Cambria Math" panose="02040503050406030204" pitchFamily="18" charset="0"/>
                          </a:rPr>
                          <m:t>𝑘</m:t>
                        </m:r>
                        <m:r>
                          <a:rPr lang="fr-CH" b="0" i="1">
                            <a:latin typeface="Cambria Math" panose="02040503050406030204" pitchFamily="18" charset="0"/>
                          </a:rPr>
                          <m:t>=0</m:t>
                        </m:r>
                      </m:sub>
                      <m:sup>
                        <m:r>
                          <a:rPr lang="fr-CH" b="0" i="1">
                            <a:latin typeface="Cambria Math" panose="02040503050406030204" pitchFamily="18" charset="0"/>
                          </a:rPr>
                          <m:t>𝑛</m:t>
                        </m:r>
                      </m:sup>
                      <m:e>
                        <m:d>
                          <m:dPr>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fr-CH" b="0" i="1">
                                      <a:latin typeface="Cambria Math" panose="02040503050406030204" pitchFamily="18" charset="0"/>
                                    </a:rPr>
                                    <m:t>𝑛</m:t>
                                  </m:r>
                                </m:e>
                              </m:mr>
                              <m:mr>
                                <m:e>
                                  <m:r>
                                    <a:rPr lang="fr-CH" b="0" i="1">
                                      <a:latin typeface="Cambria Math" panose="02040503050406030204" pitchFamily="18" charset="0"/>
                                    </a:rPr>
                                    <m:t>𝑘</m:t>
                                  </m:r>
                                </m:e>
                              </m:mr>
                            </m:m>
                          </m:e>
                        </m:d>
                        <m:sSup>
                          <m:sSupPr>
                            <m:ctrlPr>
                              <a:rPr lang="en-US" i="1">
                                <a:latin typeface="Cambria Math" panose="02040503050406030204" pitchFamily="18" charset="0"/>
                              </a:rPr>
                            </m:ctrlPr>
                          </m:sSupPr>
                          <m:e>
                            <m:r>
                              <a:rPr lang="fr-CH" b="0" i="1">
                                <a:latin typeface="Cambria Math" panose="02040503050406030204" pitchFamily="18" charset="0"/>
                              </a:rPr>
                              <m:t>𝑥</m:t>
                            </m:r>
                          </m:e>
                          <m:sup>
                            <m:r>
                              <a:rPr lang="fr-CH" b="0" i="1">
                                <a:latin typeface="Cambria Math" panose="02040503050406030204" pitchFamily="18" charset="0"/>
                              </a:rPr>
                              <m:t>𝑘</m:t>
                            </m:r>
                          </m:sup>
                        </m:sSup>
                      </m:e>
                    </m:nary>
                    <m:r>
                      <a:rPr lang="en-US" i="1">
                        <a:latin typeface="Cambria Math" panose="02040503050406030204" pitchFamily="18" charset="0"/>
                      </a:rPr>
                      <m:t> </m:t>
                    </m:r>
                  </m:oMath>
                </a14:m>
                <a:endParaRPr lang="en-US"/>
              </a:p>
              <a:p>
                <a:r>
                  <a:rPr lang="en-US"/>
                  <a:t>Therefore the number of k-combinations is </a:t>
                </a:r>
                <a14:m>
                  <m:oMath xmlns:m="http://schemas.openxmlformats.org/officeDocument/2006/math">
                    <m:d>
                      <m:dPr>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fr-CH" i="1">
                                  <a:latin typeface="Cambria Math" panose="02040503050406030204" pitchFamily="18" charset="0"/>
                                </a:rPr>
                                <m:t>𝑛</m:t>
                              </m:r>
                            </m:e>
                          </m:mr>
                          <m:mr>
                            <m:e>
                              <m:r>
                                <a:rPr lang="fr-CH" i="1">
                                  <a:latin typeface="Cambria Math" panose="02040503050406030204" pitchFamily="18" charset="0"/>
                                </a:rPr>
                                <m:t>𝑘</m:t>
                              </m:r>
                            </m:e>
                          </m:mr>
                        </m:m>
                      </m:e>
                    </m:d>
                  </m:oMath>
                </a14:m>
                <a:endParaRPr lang="en-US"/>
              </a:p>
            </p:txBody>
          </p:sp>
        </mc:Choice>
        <mc:Fallback xmlns="">
          <p:sp>
            <p:nvSpPr>
              <p:cNvPr id="3" name="Content Placeholder 2">
                <a:extLst>
                  <a:ext uri="{FF2B5EF4-FFF2-40B4-BE49-F238E27FC236}">
                    <a16:creationId xmlns:a16="http://schemas.microsoft.com/office/drawing/2014/main" id="{3A0CA545-C2F7-2D48-A4A3-C16C1831D01A}"/>
                  </a:ext>
                </a:extLst>
              </p:cNvPr>
              <p:cNvSpPr>
                <a:spLocks noGrp="1" noRot="1" noChangeAspect="1" noMove="1" noResize="1" noEditPoints="1" noAdjustHandles="1" noChangeArrowheads="1" noChangeShapeType="1" noTextEdit="1"/>
              </p:cNvSpPr>
              <p:nvPr>
                <p:ph idx="1"/>
              </p:nvPr>
            </p:nvSpPr>
            <p:spPr>
              <a:blipFill>
                <a:blip r:embed="rId2"/>
                <a:stretch>
                  <a:fillRect l="-1086" t="-2632"/>
                </a:stretch>
              </a:blipFill>
            </p:spPr>
            <p:txBody>
              <a:bodyPr/>
              <a:lstStyle/>
              <a:p>
                <a:r>
                  <a:rPr lang="en-US">
                    <a:noFill/>
                  </a:rPr>
                  <a:t> </a:t>
                </a:r>
              </a:p>
            </p:txBody>
          </p:sp>
        </mc:Fallback>
      </mc:AlternateContent>
    </p:spTree>
    <p:extLst>
      <p:ext uri="{BB962C8B-B14F-4D97-AF65-F5344CB8AC3E}">
        <p14:creationId xmlns:p14="http://schemas.microsoft.com/office/powerpoint/2010/main" val="20792860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764A5-0C46-2342-B7CA-A4FD156CBCC5}"/>
              </a:ext>
            </a:extLst>
          </p:cNvPr>
          <p:cNvSpPr>
            <a:spLocks noGrp="1"/>
          </p:cNvSpPr>
          <p:nvPr>
            <p:ph type="title"/>
          </p:nvPr>
        </p:nvSpPr>
        <p:spPr/>
        <p:txBody>
          <a:bodyPr/>
          <a:lstStyle/>
          <a:p>
            <a:r>
              <a:rPr lang="en-US"/>
              <a:t>Extended Binomial Coefficients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4F0BEDB-0B8D-624C-B43B-3FDAED6C9DB6}"/>
                  </a:ext>
                </a:extLst>
              </p:cNvPr>
              <p:cNvSpPr>
                <a:spLocks noGrp="1"/>
              </p:cNvSpPr>
              <p:nvPr>
                <p:ph idx="1"/>
              </p:nvPr>
            </p:nvSpPr>
            <p:spPr/>
            <p:txBody>
              <a:bodyPr/>
              <a:lstStyle/>
              <a:p>
                <a:pPr marL="0" indent="0">
                  <a:buNone/>
                </a:pPr>
                <a:r>
                  <a:rPr lang="en-US" b="1"/>
                  <a:t>Definition</a:t>
                </a:r>
                <a:r>
                  <a:rPr lang="en-US"/>
                  <a:t>: Let u be a real number and k a nonnegative integer. Then the extended binomial coefficient </a:t>
                </a:r>
                <a14:m>
                  <m:oMath xmlns:m="http://schemas.openxmlformats.org/officeDocument/2006/math">
                    <m:d>
                      <m:dPr>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fr-CH" b="0" i="1">
                                  <a:latin typeface="Cambria Math" panose="02040503050406030204" pitchFamily="18" charset="0"/>
                                </a:rPr>
                                <m:t>𝑢</m:t>
                              </m:r>
                            </m:e>
                          </m:mr>
                          <m:mr>
                            <m:e>
                              <m:r>
                                <a:rPr lang="fr-CH" i="1">
                                  <a:latin typeface="Cambria Math" panose="02040503050406030204" pitchFamily="18" charset="0"/>
                                </a:rPr>
                                <m:t>𝑘</m:t>
                              </m:r>
                            </m:e>
                          </m:mr>
                        </m:m>
                      </m:e>
                    </m:d>
                  </m:oMath>
                </a14:m>
                <a:r>
                  <a:rPr lang="en-US"/>
                  <a:t> is defined as</a:t>
                </a:r>
              </a:p>
              <a:p>
                <a:pPr marL="0" indent="0">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fr-CH" i="1">
                                    <a:latin typeface="Cambria Math" panose="02040503050406030204" pitchFamily="18" charset="0"/>
                                  </a:rPr>
                                  <m:t>𝑢</m:t>
                                </m:r>
                              </m:e>
                            </m:mr>
                            <m:mr>
                              <m:e>
                                <m:r>
                                  <a:rPr lang="fr-CH" i="1">
                                    <a:latin typeface="Cambria Math" panose="02040503050406030204" pitchFamily="18" charset="0"/>
                                  </a:rPr>
                                  <m:t>𝑘</m:t>
                                </m:r>
                              </m:e>
                            </m:mr>
                          </m:m>
                        </m:e>
                      </m:d>
                      <m:r>
                        <a:rPr lang="fr-CH" b="0" i="0">
                          <a:latin typeface="Cambria Math" panose="02040503050406030204" pitchFamily="18" charset="0"/>
                        </a:rPr>
                        <m:t>=</m:t>
                      </m:r>
                      <m:d>
                        <m:dPr>
                          <m:begChr m:val="{"/>
                          <m:endChr m:val=""/>
                          <m:ctrlPr>
                            <a:rPr lang="fr-CH" b="0" i="1">
                              <a:latin typeface="Cambria Math" panose="02040503050406030204" pitchFamily="18" charset="0"/>
                            </a:rPr>
                          </m:ctrlPr>
                        </m:dPr>
                        <m:e>
                          <m:m>
                            <m:mPr>
                              <m:mcs>
                                <m:mc>
                                  <m:mcPr>
                                    <m:count m:val="1"/>
                                    <m:mcJc m:val="center"/>
                                  </m:mcPr>
                                </m:mc>
                              </m:mcs>
                              <m:ctrlPr>
                                <a:rPr lang="fr-CH" b="0" i="1">
                                  <a:latin typeface="Cambria Math" panose="02040503050406030204" pitchFamily="18" charset="0"/>
                                </a:rPr>
                              </m:ctrlPr>
                            </m:mPr>
                            <m:mr>
                              <m:e>
                                <m:f>
                                  <m:fPr>
                                    <m:ctrlPr>
                                      <a:rPr lang="fr-CH" b="0" i="1">
                                        <a:latin typeface="Cambria Math" panose="02040503050406030204" pitchFamily="18" charset="0"/>
                                      </a:rPr>
                                    </m:ctrlPr>
                                  </m:fPr>
                                  <m:num>
                                    <m:r>
                                      <m:rPr>
                                        <m:brk m:alnAt="7"/>
                                      </m:rPr>
                                      <a:rPr lang="fr-CH" i="1">
                                        <a:latin typeface="Cambria Math" panose="02040503050406030204" pitchFamily="18" charset="0"/>
                                      </a:rPr>
                                      <m:t>𝑢</m:t>
                                    </m:r>
                                    <m:d>
                                      <m:dPr>
                                        <m:ctrlPr>
                                          <a:rPr lang="fr-CH" i="1">
                                            <a:latin typeface="Cambria Math" panose="02040503050406030204" pitchFamily="18" charset="0"/>
                                          </a:rPr>
                                        </m:ctrlPr>
                                      </m:dPr>
                                      <m:e>
                                        <m:r>
                                          <m:rPr>
                                            <m:brk m:alnAt="7"/>
                                          </m:rPr>
                                          <a:rPr lang="fr-CH" i="1">
                                            <a:latin typeface="Cambria Math" panose="02040503050406030204" pitchFamily="18" charset="0"/>
                                          </a:rPr>
                                          <m:t>𝑢</m:t>
                                        </m:r>
                                        <m:r>
                                          <a:rPr lang="fr-CH" i="1">
                                            <a:latin typeface="Cambria Math" panose="02040503050406030204" pitchFamily="18" charset="0"/>
                                          </a:rPr>
                                          <m:t>−1</m:t>
                                        </m:r>
                                      </m:e>
                                    </m:d>
                                    <m:r>
                                      <a:rPr lang="fr-CH" i="1">
                                        <a:latin typeface="Cambria Math" panose="02040503050406030204" pitchFamily="18" charset="0"/>
                                      </a:rPr>
                                      <m:t>⋯</m:t>
                                    </m:r>
                                    <m:r>
                                      <a:rPr lang="fr-CH" b="0" i="1">
                                        <a:latin typeface="Cambria Math" panose="02040503050406030204" pitchFamily="18" charset="0"/>
                                      </a:rPr>
                                      <m:t>(</m:t>
                                    </m:r>
                                    <m:r>
                                      <m:rPr>
                                        <m:brk m:alnAt="7"/>
                                      </m:rPr>
                                      <a:rPr lang="fr-CH" b="0" i="1">
                                        <a:latin typeface="Cambria Math" panose="02040503050406030204" pitchFamily="18" charset="0"/>
                                      </a:rPr>
                                      <m:t>𝑢</m:t>
                                    </m:r>
                                    <m:r>
                                      <a:rPr lang="fr-CH" b="0" i="1">
                                        <a:latin typeface="Cambria Math" panose="02040503050406030204" pitchFamily="18" charset="0"/>
                                      </a:rPr>
                                      <m:t>−</m:t>
                                    </m:r>
                                    <m:r>
                                      <a:rPr lang="fr-CH" b="0" i="1">
                                        <a:latin typeface="Cambria Math" panose="02040503050406030204" pitchFamily="18" charset="0"/>
                                      </a:rPr>
                                      <m:t>𝑘</m:t>
                                    </m:r>
                                    <m:r>
                                      <a:rPr lang="fr-CH" b="0" i="1">
                                        <a:latin typeface="Cambria Math" panose="02040503050406030204" pitchFamily="18" charset="0"/>
                                      </a:rPr>
                                      <m:t>+1)</m:t>
                                    </m:r>
                                  </m:num>
                                  <m:den>
                                    <m:r>
                                      <m:rPr>
                                        <m:brk m:alnAt="7"/>
                                      </m:rPr>
                                      <a:rPr lang="fr-CH" b="0" i="1">
                                        <a:latin typeface="Cambria Math" panose="02040503050406030204" pitchFamily="18" charset="0"/>
                                      </a:rPr>
                                      <m:t>𝑘</m:t>
                                    </m:r>
                                    <m:r>
                                      <a:rPr lang="fr-CH" b="0" i="1">
                                        <a:latin typeface="Cambria Math" panose="02040503050406030204" pitchFamily="18" charset="0"/>
                                      </a:rPr>
                                      <m:t>!</m:t>
                                    </m:r>
                                  </m:den>
                                </m:f>
                                <m:r>
                                  <a:rPr lang="fr-CH" b="0" i="1">
                                    <a:latin typeface="Cambria Math" panose="02040503050406030204" pitchFamily="18" charset="0"/>
                                  </a:rPr>
                                  <m:t>,</m:t>
                                </m:r>
                                <m:r>
                                  <a:rPr lang="fr-CH" b="0" i="1">
                                    <a:latin typeface="Cambria Math" panose="02040503050406030204" pitchFamily="18" charset="0"/>
                                  </a:rPr>
                                  <m:t>𝑖𝑓</m:t>
                                </m:r>
                                <m:r>
                                  <a:rPr lang="fr-CH" b="0" i="1">
                                    <a:latin typeface="Cambria Math" panose="02040503050406030204" pitchFamily="18" charset="0"/>
                                  </a:rPr>
                                  <m:t> </m:t>
                                </m:r>
                                <m:r>
                                  <a:rPr lang="fr-CH" b="0" i="1">
                                    <a:latin typeface="Cambria Math" panose="02040503050406030204" pitchFamily="18" charset="0"/>
                                  </a:rPr>
                                  <m:t>𝑘</m:t>
                                </m:r>
                                <m:r>
                                  <a:rPr lang="fr-CH" b="0" i="1">
                                    <a:latin typeface="Cambria Math" panose="02040503050406030204" pitchFamily="18" charset="0"/>
                                  </a:rPr>
                                  <m:t>&gt;0 </m:t>
                                </m:r>
                              </m:e>
                            </m:mr>
                            <m:mr>
                              <m:e>
                                <m:r>
                                  <a:rPr lang="fr-CH" b="0" i="1">
                                    <a:latin typeface="Cambria Math" panose="02040503050406030204" pitchFamily="18" charset="0"/>
                                  </a:rPr>
                                  <m:t>1,</m:t>
                                </m:r>
                                <m:r>
                                  <a:rPr lang="fr-CH" b="0" i="1">
                                    <a:latin typeface="Cambria Math" panose="02040503050406030204" pitchFamily="18" charset="0"/>
                                  </a:rPr>
                                  <m:t>𝑖𝑓</m:t>
                                </m:r>
                                <m:r>
                                  <a:rPr lang="fr-CH" b="0" i="1">
                                    <a:latin typeface="Cambria Math" panose="02040503050406030204" pitchFamily="18" charset="0"/>
                                  </a:rPr>
                                  <m:t> </m:t>
                                </m:r>
                                <m:r>
                                  <a:rPr lang="fr-CH" b="0" i="1">
                                    <a:latin typeface="Cambria Math" panose="02040503050406030204" pitchFamily="18" charset="0"/>
                                  </a:rPr>
                                  <m:t>𝑘</m:t>
                                </m:r>
                                <m:r>
                                  <a:rPr lang="fr-CH" b="0" i="1">
                                    <a:latin typeface="Cambria Math" panose="02040503050406030204" pitchFamily="18" charset="0"/>
                                  </a:rPr>
                                  <m:t>=0</m:t>
                                </m:r>
                              </m:e>
                            </m:mr>
                          </m:m>
                        </m:e>
                      </m:d>
                    </m:oMath>
                  </m:oMathPara>
                </a14:m>
                <a:endParaRPr lang="en-US"/>
              </a:p>
              <a:p>
                <a:pPr marL="0" indent="0">
                  <a:buNone/>
                </a:pPr>
                <a:r>
                  <a:rPr lang="en-US" b="1"/>
                  <a:t>Example</a:t>
                </a:r>
                <a:r>
                  <a:rPr lang="en-US"/>
                  <a:t>:</a:t>
                </a:r>
              </a:p>
              <a:p>
                <a:pPr marL="0" indent="0">
                  <a:buNone/>
                </a:pPr>
                <a:r>
                  <a:rPr lang="en-US"/>
                  <a:t> </a:t>
                </a:r>
                <a14:m>
                  <m:oMath xmlns:m="http://schemas.openxmlformats.org/officeDocument/2006/math">
                    <m:d>
                      <m:dPr>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fr-CH" i="1">
                                  <a:latin typeface="Cambria Math" panose="02040503050406030204" pitchFamily="18" charset="0"/>
                                </a:rPr>
                                <m:t>−2</m:t>
                              </m:r>
                            </m:e>
                          </m:mr>
                          <m:mr>
                            <m:e>
                              <m:r>
                                <a:rPr lang="fr-CH" i="1">
                                  <a:latin typeface="Cambria Math" panose="02040503050406030204" pitchFamily="18" charset="0"/>
                                </a:rPr>
                                <m:t>3</m:t>
                              </m:r>
                            </m:e>
                          </m:mr>
                        </m:m>
                      </m:e>
                    </m:d>
                    <m:r>
                      <a:rPr lang="fr-CH">
                        <a:latin typeface="Cambria Math" panose="02040503050406030204" pitchFamily="18" charset="0"/>
                      </a:rPr>
                      <m:t>=</m:t>
                    </m:r>
                    <m:f>
                      <m:fPr>
                        <m:ctrlPr>
                          <a:rPr lang="fr-CH" i="1">
                            <a:latin typeface="Cambria Math" panose="02040503050406030204" pitchFamily="18" charset="0"/>
                          </a:rPr>
                        </m:ctrlPr>
                      </m:fPr>
                      <m:num>
                        <m:r>
                          <a:rPr lang="fr-CH" b="0" i="1">
                            <a:latin typeface="Cambria Math" panose="02040503050406030204" pitchFamily="18" charset="0"/>
                          </a:rPr>
                          <m:t>−2</m:t>
                        </m:r>
                        <m:r>
                          <a:rPr lang="fr-CH" i="1">
                            <a:latin typeface="Cambria Math" panose="02040503050406030204" pitchFamily="18" charset="0"/>
                            <a:ea typeface="Cambria Math" panose="02040503050406030204" pitchFamily="18" charset="0"/>
                          </a:rPr>
                          <m:t>∙</m:t>
                        </m:r>
                        <m:r>
                          <a:rPr lang="fr-CH" b="0" i="1">
                            <a:latin typeface="Cambria Math" panose="02040503050406030204" pitchFamily="18" charset="0"/>
                            <a:ea typeface="Cambria Math" panose="02040503050406030204" pitchFamily="18" charset="0"/>
                          </a:rPr>
                          <m:t>−3∙−4</m:t>
                        </m:r>
                      </m:num>
                      <m:den>
                        <m:r>
                          <a:rPr lang="fr-CH" b="0" i="1">
                            <a:latin typeface="Cambria Math" panose="02040503050406030204" pitchFamily="18" charset="0"/>
                          </a:rPr>
                          <m:t>3!</m:t>
                        </m:r>
                      </m:den>
                    </m:f>
                    <m:r>
                      <a:rPr lang="fr-CH" b="0" i="1">
                        <a:latin typeface="Cambria Math" panose="02040503050406030204" pitchFamily="18" charset="0"/>
                      </a:rPr>
                      <m:t>=−4</m:t>
                    </m:r>
                  </m:oMath>
                </a14:m>
                <a:r>
                  <a:rPr lang="fr-CH" b="0"/>
                  <a:t>		</a:t>
                </a:r>
                <a14:m>
                  <m:oMath xmlns:m="http://schemas.openxmlformats.org/officeDocument/2006/math">
                    <m:d>
                      <m:dPr>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fr-CH" b="0" i="1">
                                  <a:latin typeface="Cambria Math" panose="02040503050406030204" pitchFamily="18" charset="0"/>
                                </a:rPr>
                                <m:t>1</m:t>
                              </m:r>
                              <m:r>
                                <a:rPr lang="fr-CH" b="0" i="1">
                                  <a:latin typeface="Cambria Math" panose="02040503050406030204" pitchFamily="18" charset="0"/>
                                </a:rPr>
                                <m:t>/2</m:t>
                              </m:r>
                            </m:e>
                          </m:mr>
                          <m:mr>
                            <m:e>
                              <m:r>
                                <a:rPr lang="fr-CH" i="1">
                                  <a:latin typeface="Cambria Math" panose="02040503050406030204" pitchFamily="18" charset="0"/>
                                </a:rPr>
                                <m:t>3</m:t>
                              </m:r>
                            </m:e>
                          </m:mr>
                        </m:m>
                      </m:e>
                    </m:d>
                    <m:r>
                      <a:rPr lang="fr-CH">
                        <a:latin typeface="Cambria Math" panose="02040503050406030204" pitchFamily="18" charset="0"/>
                      </a:rPr>
                      <m:t>=</m:t>
                    </m:r>
                    <m:f>
                      <m:fPr>
                        <m:ctrlPr>
                          <a:rPr lang="fr-CH" i="1">
                            <a:latin typeface="Cambria Math" panose="02040503050406030204" pitchFamily="18" charset="0"/>
                          </a:rPr>
                        </m:ctrlPr>
                      </m:fPr>
                      <m:num>
                        <m:r>
                          <a:rPr lang="fr-CH" b="0" i="1">
                            <a:latin typeface="Cambria Math" panose="02040503050406030204" pitchFamily="18" charset="0"/>
                          </a:rPr>
                          <m:t>1/2</m:t>
                        </m:r>
                        <m:r>
                          <a:rPr lang="fr-CH" b="0" i="1">
                            <a:latin typeface="Cambria Math" panose="02040503050406030204" pitchFamily="18" charset="0"/>
                            <a:ea typeface="Cambria Math" panose="02040503050406030204" pitchFamily="18" charset="0"/>
                          </a:rPr>
                          <m:t>∙(</m:t>
                        </m:r>
                        <m:f>
                          <m:fPr>
                            <m:ctrlPr>
                              <a:rPr lang="fr-CH" b="0" i="1">
                                <a:latin typeface="Cambria Math" panose="02040503050406030204" pitchFamily="18" charset="0"/>
                                <a:ea typeface="Cambria Math" panose="02040503050406030204" pitchFamily="18" charset="0"/>
                              </a:rPr>
                            </m:ctrlPr>
                          </m:fPr>
                          <m:num>
                            <m:r>
                              <a:rPr lang="fr-CH" b="0" i="1">
                                <a:latin typeface="Cambria Math" panose="02040503050406030204" pitchFamily="18" charset="0"/>
                                <a:ea typeface="Cambria Math" panose="02040503050406030204" pitchFamily="18" charset="0"/>
                              </a:rPr>
                              <m:t>1</m:t>
                            </m:r>
                          </m:num>
                          <m:den>
                            <m:r>
                              <a:rPr lang="fr-CH" b="0" i="1">
                                <a:latin typeface="Cambria Math" panose="02040503050406030204" pitchFamily="18" charset="0"/>
                                <a:ea typeface="Cambria Math" panose="02040503050406030204" pitchFamily="18" charset="0"/>
                              </a:rPr>
                              <m:t>2</m:t>
                            </m:r>
                          </m:den>
                        </m:f>
                        <m:r>
                          <a:rPr lang="fr-CH" b="0" i="1">
                            <a:latin typeface="Cambria Math" panose="02040503050406030204" pitchFamily="18" charset="0"/>
                            <a:ea typeface="Cambria Math" panose="02040503050406030204" pitchFamily="18" charset="0"/>
                          </a:rPr>
                          <m:t>−1)∙(</m:t>
                        </m:r>
                        <m:f>
                          <m:fPr>
                            <m:ctrlPr>
                              <a:rPr lang="fr-CH" b="0" i="1">
                                <a:latin typeface="Cambria Math" panose="02040503050406030204" pitchFamily="18" charset="0"/>
                                <a:ea typeface="Cambria Math" panose="02040503050406030204" pitchFamily="18" charset="0"/>
                              </a:rPr>
                            </m:ctrlPr>
                          </m:fPr>
                          <m:num>
                            <m:r>
                              <a:rPr lang="fr-CH" b="0" i="1">
                                <a:latin typeface="Cambria Math" panose="02040503050406030204" pitchFamily="18" charset="0"/>
                                <a:ea typeface="Cambria Math" panose="02040503050406030204" pitchFamily="18" charset="0"/>
                              </a:rPr>
                              <m:t>1</m:t>
                            </m:r>
                          </m:num>
                          <m:den>
                            <m:r>
                              <a:rPr lang="fr-CH" b="0" i="1">
                                <a:latin typeface="Cambria Math" panose="02040503050406030204" pitchFamily="18" charset="0"/>
                                <a:ea typeface="Cambria Math" panose="02040503050406030204" pitchFamily="18" charset="0"/>
                              </a:rPr>
                              <m:t>2</m:t>
                            </m:r>
                          </m:den>
                        </m:f>
                        <m:r>
                          <a:rPr lang="fr-CH" b="0" i="1">
                            <a:latin typeface="Cambria Math" panose="02040503050406030204" pitchFamily="18" charset="0"/>
                            <a:ea typeface="Cambria Math" panose="02040503050406030204" pitchFamily="18" charset="0"/>
                          </a:rPr>
                          <m:t>−2)</m:t>
                        </m:r>
                      </m:num>
                      <m:den>
                        <m:r>
                          <a:rPr lang="fr-CH" i="1">
                            <a:latin typeface="Cambria Math" panose="02040503050406030204" pitchFamily="18" charset="0"/>
                          </a:rPr>
                          <m:t>3!</m:t>
                        </m:r>
                      </m:den>
                    </m:f>
                    <m:r>
                      <a:rPr lang="fr-CH" i="1">
                        <a:latin typeface="Cambria Math" panose="02040503050406030204" pitchFamily="18" charset="0"/>
                      </a:rPr>
                      <m:t>=</m:t>
                    </m:r>
                    <m:f>
                      <m:fPr>
                        <m:ctrlPr>
                          <a:rPr lang="fr-CH" i="1">
                            <a:latin typeface="Cambria Math" panose="02040503050406030204" pitchFamily="18" charset="0"/>
                          </a:rPr>
                        </m:ctrlPr>
                      </m:fPr>
                      <m:num>
                        <m:r>
                          <a:rPr lang="fr-CH" b="0" i="1">
                            <a:latin typeface="Cambria Math" panose="02040503050406030204" pitchFamily="18" charset="0"/>
                          </a:rPr>
                          <m:t>1</m:t>
                        </m:r>
                      </m:num>
                      <m:den>
                        <m:r>
                          <a:rPr lang="fr-CH" b="0" i="1">
                            <a:latin typeface="Cambria Math" panose="02040503050406030204" pitchFamily="18" charset="0"/>
                          </a:rPr>
                          <m:t>16</m:t>
                        </m:r>
                      </m:den>
                    </m:f>
                  </m:oMath>
                </a14:m>
                <a:endParaRPr lang="fr-CH" b="0"/>
              </a:p>
              <a:p>
                <a:pPr marL="0" indent="0">
                  <a:buNone/>
                </a:pPr>
                <a:endParaRPr lang="en-US"/>
              </a:p>
            </p:txBody>
          </p:sp>
        </mc:Choice>
        <mc:Fallback xmlns="">
          <p:sp>
            <p:nvSpPr>
              <p:cNvPr id="3" name="Content Placeholder 2">
                <a:extLst>
                  <a:ext uri="{FF2B5EF4-FFF2-40B4-BE49-F238E27FC236}">
                    <a16:creationId xmlns:a16="http://schemas.microsoft.com/office/drawing/2014/main" id="{B4F0BEDB-0B8D-624C-B43B-3FDAED6C9DB6}"/>
                  </a:ext>
                </a:extLst>
              </p:cNvPr>
              <p:cNvSpPr>
                <a:spLocks noGrp="1" noRot="1" noChangeAspect="1" noMove="1" noResize="1" noEditPoints="1" noAdjustHandles="1" noChangeArrowheads="1" noChangeShapeType="1" noTextEdit="1"/>
              </p:cNvSpPr>
              <p:nvPr>
                <p:ph idx="1"/>
              </p:nvPr>
            </p:nvSpPr>
            <p:spPr>
              <a:blipFill>
                <a:blip r:embed="rId2"/>
                <a:stretch>
                  <a:fillRect l="-1086" t="-66082" b="-79532"/>
                </a:stretch>
              </a:blipFill>
            </p:spPr>
            <p:txBody>
              <a:bodyPr/>
              <a:lstStyle/>
              <a:p>
                <a:r>
                  <a:rPr lang="en-US">
                    <a:noFill/>
                  </a:rPr>
                  <a:t> </a:t>
                </a:r>
              </a:p>
            </p:txBody>
          </p:sp>
        </mc:Fallback>
      </mc:AlternateContent>
    </p:spTree>
    <p:extLst>
      <p:ext uri="{BB962C8B-B14F-4D97-AF65-F5344CB8AC3E}">
        <p14:creationId xmlns:p14="http://schemas.microsoft.com/office/powerpoint/2010/main" val="26780826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7CA5B-FE24-D240-B6B9-89521C0588FB}"/>
              </a:ext>
            </a:extLst>
          </p:cNvPr>
          <p:cNvSpPr>
            <a:spLocks noGrp="1"/>
          </p:cNvSpPr>
          <p:nvPr>
            <p:ph type="title"/>
          </p:nvPr>
        </p:nvSpPr>
        <p:spPr/>
        <p:txBody>
          <a:bodyPr/>
          <a:lstStyle/>
          <a:p>
            <a:r>
              <a:rPr lang="en-US"/>
              <a:t>Extended Binomial Theorem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502315-A090-6749-A373-13BF606F3DCA}"/>
                  </a:ext>
                </a:extLst>
              </p:cNvPr>
              <p:cNvSpPr>
                <a:spLocks noGrp="1"/>
              </p:cNvSpPr>
              <p:nvPr>
                <p:ph idx="1"/>
              </p:nvPr>
            </p:nvSpPr>
            <p:spPr/>
            <p:txBody>
              <a:bodyPr/>
              <a:lstStyle/>
              <a:p>
                <a:pPr marL="0" indent="0">
                  <a:buNone/>
                </a:pPr>
                <a:r>
                  <a:rPr lang="en-US" b="1"/>
                  <a:t>Theorem</a:t>
                </a:r>
                <a:r>
                  <a:rPr lang="en-US"/>
                  <a:t>: Let x be real number with |x|&lt;1 and let u be real number. Then</a:t>
                </a:r>
                <a:endParaRPr lang="fr-CH" i="1">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𝑥</m:t>
                          </m:r>
                        </m:e>
                      </m:d>
                      <m:r>
                        <a:rPr lang="fr-CH" b="0" i="1" baseline="30000">
                          <a:latin typeface="Cambria Math" panose="02040503050406030204" pitchFamily="18" charset="0"/>
                        </a:rPr>
                        <m:t>𝑢</m:t>
                      </m:r>
                      <m:r>
                        <a:rPr lang="en-US"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fr-CH" i="1">
                              <a:latin typeface="Cambria Math" panose="02040503050406030204" pitchFamily="18" charset="0"/>
                            </a:rPr>
                            <m:t>𝑘</m:t>
                          </m:r>
                          <m:r>
                            <a:rPr lang="fr-CH" i="1">
                              <a:latin typeface="Cambria Math" panose="02040503050406030204" pitchFamily="18" charset="0"/>
                            </a:rPr>
                            <m:t>=0</m:t>
                          </m:r>
                        </m:sub>
                        <m:sup>
                          <m:r>
                            <a:rPr lang="fr-CH" i="1">
                              <a:latin typeface="Cambria Math" panose="02040503050406030204" pitchFamily="18" charset="0"/>
                            </a:rPr>
                            <m:t>𝑛</m:t>
                          </m:r>
                        </m:sup>
                        <m:e>
                          <m:d>
                            <m:dPr>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fr-CH" b="0" i="1">
                                        <a:latin typeface="Cambria Math" panose="02040503050406030204" pitchFamily="18" charset="0"/>
                                      </a:rPr>
                                      <m:t>𝑢</m:t>
                                    </m:r>
                                  </m:e>
                                </m:mr>
                                <m:mr>
                                  <m:e>
                                    <m:r>
                                      <a:rPr lang="fr-CH" i="1">
                                        <a:latin typeface="Cambria Math" panose="02040503050406030204" pitchFamily="18" charset="0"/>
                                      </a:rPr>
                                      <m:t>𝑘</m:t>
                                    </m:r>
                                  </m:e>
                                </m:mr>
                              </m:m>
                            </m:e>
                          </m:d>
                          <m:sSup>
                            <m:sSupPr>
                              <m:ctrlPr>
                                <a:rPr lang="en-US" i="1">
                                  <a:latin typeface="Cambria Math" panose="02040503050406030204" pitchFamily="18" charset="0"/>
                                </a:rPr>
                              </m:ctrlPr>
                            </m:sSupPr>
                            <m:e>
                              <m:r>
                                <a:rPr lang="fr-CH" i="1">
                                  <a:latin typeface="Cambria Math" panose="02040503050406030204" pitchFamily="18" charset="0"/>
                                </a:rPr>
                                <m:t>𝑥</m:t>
                              </m:r>
                            </m:e>
                            <m:sup>
                              <m:r>
                                <a:rPr lang="fr-CH" i="1">
                                  <a:latin typeface="Cambria Math" panose="02040503050406030204" pitchFamily="18" charset="0"/>
                                </a:rPr>
                                <m:t>𝑘</m:t>
                              </m:r>
                            </m:sup>
                          </m:sSup>
                        </m:e>
                      </m:nary>
                    </m:oMath>
                  </m:oMathPara>
                </a14:m>
                <a:endParaRPr lang="en-US"/>
              </a:p>
              <a:p>
                <a:pPr marL="0" indent="0">
                  <a:buNone/>
                </a:pPr>
                <a:endParaRPr lang="en-US"/>
              </a:p>
            </p:txBody>
          </p:sp>
        </mc:Choice>
        <mc:Fallback xmlns="">
          <p:sp>
            <p:nvSpPr>
              <p:cNvPr id="3" name="Content Placeholder 2">
                <a:extLst>
                  <a:ext uri="{FF2B5EF4-FFF2-40B4-BE49-F238E27FC236}">
                    <a16:creationId xmlns:a16="http://schemas.microsoft.com/office/drawing/2014/main" id="{3B502315-A090-6749-A373-13BF606F3DCA}"/>
                  </a:ext>
                </a:extLst>
              </p:cNvPr>
              <p:cNvSpPr>
                <a:spLocks noGrp="1" noRot="1" noChangeAspect="1" noMove="1" noResize="1" noEditPoints="1" noAdjustHandles="1" noChangeArrowheads="1" noChangeShapeType="1" noTextEdit="1"/>
              </p:cNvSpPr>
              <p:nvPr>
                <p:ph idx="1"/>
              </p:nvPr>
            </p:nvSpPr>
            <p:spPr>
              <a:blipFill>
                <a:blip r:embed="rId2"/>
                <a:stretch>
                  <a:fillRect l="-1086" t="-16082"/>
                </a:stretch>
              </a:blipFill>
            </p:spPr>
            <p:txBody>
              <a:bodyPr/>
              <a:lstStyle/>
              <a:p>
                <a:r>
                  <a:rPr lang="en-US">
                    <a:noFill/>
                  </a:rPr>
                  <a:t> </a:t>
                </a:r>
              </a:p>
            </p:txBody>
          </p:sp>
        </mc:Fallback>
      </mc:AlternateContent>
    </p:spTree>
    <p:extLst>
      <p:ext uri="{BB962C8B-B14F-4D97-AF65-F5344CB8AC3E}">
        <p14:creationId xmlns:p14="http://schemas.microsoft.com/office/powerpoint/2010/main" val="15554935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13B27-EF26-C24F-831D-F99778CDCEC3}"/>
              </a:ext>
            </a:extLst>
          </p:cNvPr>
          <p:cNvSpPr>
            <a:spLocks noGrp="1"/>
          </p:cNvSpPr>
          <p:nvPr>
            <p:ph type="title"/>
          </p:nvPr>
        </p:nvSpPr>
        <p:spPr/>
        <p:txBody>
          <a:bodyPr/>
          <a:lstStyle/>
          <a:p>
            <a:r>
              <a:rPr lang="en-US"/>
              <a:t>Combinations with Repetition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1C7761-1D5C-A54B-B9FE-9291AA06747C}"/>
                  </a:ext>
                </a:extLst>
              </p:cNvPr>
              <p:cNvSpPr>
                <a:spLocks noGrp="1"/>
              </p:cNvSpPr>
              <p:nvPr>
                <p:ph idx="1"/>
              </p:nvPr>
            </p:nvSpPr>
            <p:spPr/>
            <p:txBody>
              <a:bodyPr/>
              <a:lstStyle/>
              <a:p>
                <a:pPr marL="0" indent="0">
                  <a:buNone/>
                </a:pPr>
                <a:r>
                  <a:rPr lang="en-US"/>
                  <a:t>Find the number of </a:t>
                </a:r>
                <a:r>
                  <a:rPr lang="en-US" i="1"/>
                  <a:t>k</a:t>
                </a:r>
                <a:r>
                  <a:rPr lang="en-US"/>
                  <a:t>-combinations of a set with </a:t>
                </a:r>
                <a14:m>
                  <m:oMath xmlns:m="http://schemas.openxmlformats.org/officeDocument/2006/math">
                    <m:r>
                      <a:rPr lang="en-US" i="1">
                        <a:latin typeface="Cambria Math" panose="02040503050406030204" pitchFamily="18" charset="0"/>
                      </a:rPr>
                      <m:t>𝑛</m:t>
                    </m:r>
                  </m:oMath>
                </a14:m>
                <a:r>
                  <a:rPr lang="en-US"/>
                  <a:t> elements using generating functions when repetition is allowed</a:t>
                </a:r>
              </a:p>
              <a:p>
                <a:r>
                  <a:rPr lang="en-US"/>
                  <a:t>The number of </a:t>
                </a:r>
                <a:r>
                  <a:rPr lang="en-US" i="1"/>
                  <a:t>k</a:t>
                </a:r>
                <a:r>
                  <a:rPr lang="en-US"/>
                  <a:t>-combinations is the coefficient of </a:t>
                </a:r>
                <a14:m>
                  <m:oMath xmlns:m="http://schemas.openxmlformats.org/officeDocument/2006/math">
                    <m:r>
                      <a:rPr lang="en-US" i="1">
                        <a:latin typeface="Cambria Math" panose="02040503050406030204" pitchFamily="18" charset="0"/>
                      </a:rPr>
                      <m:t>𝑥</m:t>
                    </m:r>
                    <m:r>
                      <a:rPr lang="en-US" i="1" baseline="30000">
                        <a:latin typeface="Cambria Math" panose="02040503050406030204" pitchFamily="18" charset="0"/>
                      </a:rPr>
                      <m:t>𝑘</m:t>
                    </m:r>
                  </m:oMath>
                </a14:m>
                <a:r>
                  <a:rPr lang="en-US"/>
                  <a:t> in the generating function</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 = (1+</m:t>
                      </m:r>
                      <m:r>
                        <a:rPr lang="en-US" i="1">
                          <a:latin typeface="Cambria Math" panose="02040503050406030204" pitchFamily="18" charset="0"/>
                        </a:rPr>
                        <m:t>𝑥</m:t>
                      </m:r>
                      <m:r>
                        <a:rPr lang="fr-CH" b="0" i="1">
                          <a:latin typeface="Cambria Math" panose="02040503050406030204" pitchFamily="18" charset="0"/>
                        </a:rPr>
                        <m:t>+</m:t>
                      </m:r>
                      <m:sSup>
                        <m:sSupPr>
                          <m:ctrlPr>
                            <a:rPr lang="fr-CH" b="0" i="1">
                              <a:latin typeface="Cambria Math" panose="02040503050406030204" pitchFamily="18" charset="0"/>
                            </a:rPr>
                          </m:ctrlPr>
                        </m:sSupPr>
                        <m:e>
                          <m:r>
                            <a:rPr lang="fr-CH" b="0" i="1">
                              <a:latin typeface="Cambria Math" panose="02040503050406030204" pitchFamily="18" charset="0"/>
                            </a:rPr>
                            <m:t>𝑥</m:t>
                          </m:r>
                        </m:e>
                        <m:sup>
                          <m:r>
                            <a:rPr lang="fr-CH" b="0" i="1">
                              <a:latin typeface="Cambria Math" panose="02040503050406030204" pitchFamily="18" charset="0"/>
                            </a:rPr>
                            <m:t>2</m:t>
                          </m:r>
                        </m:sup>
                      </m:sSup>
                      <m:r>
                        <a:rPr lang="fr-CH" b="0" i="1">
                          <a:latin typeface="Cambria Math" panose="02040503050406030204" pitchFamily="18" charset="0"/>
                        </a:rPr>
                        <m:t>+⋯</m:t>
                      </m:r>
                      <m:r>
                        <a:rPr lang="en-US" i="1">
                          <a:latin typeface="Cambria Math" panose="02040503050406030204" pitchFamily="18" charset="0"/>
                        </a:rPr>
                        <m:t>)</m:t>
                      </m:r>
                      <m:r>
                        <a:rPr lang="en-US" i="1" baseline="30000">
                          <a:latin typeface="Cambria Math" panose="02040503050406030204" pitchFamily="18" charset="0"/>
                        </a:rPr>
                        <m:t>𝑛</m:t>
                      </m:r>
                    </m:oMath>
                  </m:oMathPara>
                </a14:m>
                <a:endParaRPr lang="en-US" baseline="30000"/>
              </a:p>
              <a:p>
                <a:r>
                  <a:rPr lang="en-US"/>
                  <a:t>As long as |x|&lt; 1 we have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𝑥</m:t>
                        </m:r>
                        <m:r>
                          <a:rPr lang="fr-CH" i="1">
                            <a:latin typeface="Cambria Math" panose="02040503050406030204" pitchFamily="18" charset="0"/>
                          </a:rPr>
                          <m:t>+</m:t>
                        </m:r>
                        <m:sSup>
                          <m:sSupPr>
                            <m:ctrlPr>
                              <a:rPr lang="fr-CH" i="1">
                                <a:latin typeface="Cambria Math" panose="02040503050406030204" pitchFamily="18" charset="0"/>
                              </a:rPr>
                            </m:ctrlPr>
                          </m:sSupPr>
                          <m:e>
                            <m:r>
                              <a:rPr lang="fr-CH" i="1">
                                <a:latin typeface="Cambria Math" panose="02040503050406030204" pitchFamily="18" charset="0"/>
                              </a:rPr>
                              <m:t>𝑥</m:t>
                            </m:r>
                          </m:e>
                          <m:sup>
                            <m:r>
                              <a:rPr lang="fr-CH" i="1">
                                <a:latin typeface="Cambria Math" panose="02040503050406030204" pitchFamily="18" charset="0"/>
                              </a:rPr>
                              <m:t>2</m:t>
                            </m:r>
                          </m:sup>
                        </m:sSup>
                        <m:r>
                          <a:rPr lang="fr-CH" i="1">
                            <a:latin typeface="Cambria Math" panose="02040503050406030204" pitchFamily="18" charset="0"/>
                          </a:rPr>
                          <m:t>+⋯</m:t>
                        </m:r>
                      </m:e>
                    </m:d>
                    <m:r>
                      <a:rPr lang="fr-CH" b="0" i="1">
                        <a:latin typeface="Cambria Math" panose="02040503050406030204" pitchFamily="18" charset="0"/>
                      </a:rPr>
                      <m:t>=</m:t>
                    </m:r>
                    <m:f>
                      <m:fPr>
                        <m:ctrlPr>
                          <a:rPr lang="fr-CH" b="0" i="1">
                            <a:latin typeface="Cambria Math" panose="02040503050406030204" pitchFamily="18" charset="0"/>
                          </a:rPr>
                        </m:ctrlPr>
                      </m:fPr>
                      <m:num>
                        <m:r>
                          <a:rPr lang="fr-CH" b="0" i="1">
                            <a:latin typeface="Cambria Math" panose="02040503050406030204" pitchFamily="18" charset="0"/>
                          </a:rPr>
                          <m:t>1</m:t>
                        </m:r>
                      </m:num>
                      <m:den>
                        <m:r>
                          <a:rPr lang="fr-CH" b="0" i="1">
                            <a:latin typeface="Cambria Math" panose="02040503050406030204" pitchFamily="18" charset="0"/>
                          </a:rPr>
                          <m:t>1−</m:t>
                        </m:r>
                        <m:r>
                          <a:rPr lang="fr-CH" b="0" i="1">
                            <a:latin typeface="Cambria Math" panose="02040503050406030204" pitchFamily="18" charset="0"/>
                          </a:rPr>
                          <m:t>𝑥</m:t>
                        </m:r>
                      </m:den>
                    </m:f>
                  </m:oMath>
                </a14:m>
                <a:endParaRPr lang="fr-CH" b="0"/>
              </a:p>
              <a:p>
                <a:r>
                  <a:rPr lang="en-US"/>
                  <a:t>Therefore </a:t>
                </a: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f>
                      <m:fPr>
                        <m:ctrlPr>
                          <a:rPr lang="fr-CH" i="1">
                            <a:latin typeface="Cambria Math" panose="02040503050406030204" pitchFamily="18" charset="0"/>
                          </a:rPr>
                        </m:ctrlPr>
                      </m:fPr>
                      <m:num>
                        <m:r>
                          <a:rPr lang="fr-CH" i="1">
                            <a:latin typeface="Cambria Math" panose="02040503050406030204" pitchFamily="18" charset="0"/>
                          </a:rPr>
                          <m:t>1</m:t>
                        </m:r>
                      </m:num>
                      <m:den>
                        <m:sSup>
                          <m:sSupPr>
                            <m:ctrlPr>
                              <a:rPr lang="fr-CH" b="0" i="1">
                                <a:latin typeface="Cambria Math" panose="02040503050406030204" pitchFamily="18" charset="0"/>
                              </a:rPr>
                            </m:ctrlPr>
                          </m:sSupPr>
                          <m:e>
                            <m:d>
                              <m:dPr>
                                <m:ctrlPr>
                                  <a:rPr lang="fr-CH" i="1">
                                    <a:latin typeface="Cambria Math" panose="02040503050406030204" pitchFamily="18" charset="0"/>
                                  </a:rPr>
                                </m:ctrlPr>
                              </m:dPr>
                              <m:e>
                                <m:r>
                                  <a:rPr lang="fr-CH" i="1">
                                    <a:latin typeface="Cambria Math" panose="02040503050406030204" pitchFamily="18" charset="0"/>
                                  </a:rPr>
                                  <m:t>1−</m:t>
                                </m:r>
                                <m:r>
                                  <a:rPr lang="fr-CH" i="1">
                                    <a:latin typeface="Cambria Math" panose="02040503050406030204" pitchFamily="18" charset="0"/>
                                  </a:rPr>
                                  <m:t>𝑥</m:t>
                                </m:r>
                              </m:e>
                            </m:d>
                          </m:e>
                          <m:sup>
                            <m:r>
                              <a:rPr lang="fr-CH" i="1">
                                <a:latin typeface="Cambria Math" panose="02040503050406030204" pitchFamily="18" charset="0"/>
                              </a:rPr>
                              <m:t>𝑛</m:t>
                            </m:r>
                          </m:sup>
                        </m:sSup>
                      </m:den>
                    </m:f>
                    <m:sSup>
                      <m:sSupPr>
                        <m:ctrlPr>
                          <a:rPr lang="fr-CH" b="0" i="1">
                            <a:latin typeface="Cambria Math" panose="02040503050406030204" pitchFamily="18" charset="0"/>
                          </a:rPr>
                        </m:ctrlPr>
                      </m:sSupPr>
                      <m:e>
                        <m:r>
                          <a:rPr lang="fr-CH" i="1">
                            <a:latin typeface="Cambria Math" panose="02040503050406030204" pitchFamily="18" charset="0"/>
                          </a:rPr>
                          <m:t>=(1+</m:t>
                        </m:r>
                        <m:d>
                          <m:dPr>
                            <m:ctrlPr>
                              <a:rPr lang="fr-CH" i="1">
                                <a:latin typeface="Cambria Math" panose="02040503050406030204" pitchFamily="18" charset="0"/>
                              </a:rPr>
                            </m:ctrlPr>
                          </m:dPr>
                          <m:e>
                            <m:r>
                              <a:rPr lang="fr-CH" i="1">
                                <a:latin typeface="Cambria Math" panose="02040503050406030204" pitchFamily="18" charset="0"/>
                              </a:rPr>
                              <m:t>−</m:t>
                            </m:r>
                            <m:r>
                              <a:rPr lang="fr-CH" i="1">
                                <a:latin typeface="Cambria Math" panose="02040503050406030204" pitchFamily="18" charset="0"/>
                              </a:rPr>
                              <m:t>𝑥</m:t>
                            </m:r>
                          </m:e>
                        </m:d>
                        <m:r>
                          <a:rPr lang="fr-CH" b="0" i="1">
                            <a:latin typeface="Cambria Math" panose="02040503050406030204" pitchFamily="18" charset="0"/>
                          </a:rPr>
                          <m:t>)</m:t>
                        </m:r>
                      </m:e>
                      <m:sup>
                        <m:r>
                          <a:rPr lang="fr-CH" b="0" i="1">
                            <a:latin typeface="Cambria Math" panose="02040503050406030204" pitchFamily="18" charset="0"/>
                          </a:rPr>
                          <m:t>−</m:t>
                        </m:r>
                        <m:r>
                          <a:rPr lang="fr-CH" b="0" i="1">
                            <a:latin typeface="Cambria Math" panose="02040503050406030204" pitchFamily="18" charset="0"/>
                          </a:rPr>
                          <m:t>𝑛</m:t>
                        </m:r>
                      </m:sup>
                    </m:sSup>
                    <m:r>
                      <a:rPr lang="fr-CH" b="0"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fr-CH" i="1">
                            <a:latin typeface="Cambria Math" panose="02040503050406030204" pitchFamily="18" charset="0"/>
                          </a:rPr>
                          <m:t>𝑘</m:t>
                        </m:r>
                        <m:r>
                          <a:rPr lang="fr-CH" i="1">
                            <a:latin typeface="Cambria Math" panose="02040503050406030204" pitchFamily="18" charset="0"/>
                          </a:rPr>
                          <m:t>=0</m:t>
                        </m:r>
                      </m:sub>
                      <m:sup>
                        <m:r>
                          <a:rPr lang="fr-CH" i="1">
                            <a:latin typeface="Cambria Math" panose="02040503050406030204" pitchFamily="18" charset="0"/>
                          </a:rPr>
                          <m:t>𝑛</m:t>
                        </m:r>
                      </m:sup>
                      <m:e>
                        <m:d>
                          <m:dPr>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fr-CH" b="0" i="1">
                                      <a:latin typeface="Cambria Math" panose="02040503050406030204" pitchFamily="18" charset="0"/>
                                    </a:rPr>
                                    <m:t>−</m:t>
                                  </m:r>
                                  <m:r>
                                    <a:rPr lang="fr-CH" b="0" i="1">
                                      <a:latin typeface="Cambria Math" panose="02040503050406030204" pitchFamily="18" charset="0"/>
                                    </a:rPr>
                                    <m:t>𝑛</m:t>
                                  </m:r>
                                </m:e>
                              </m:mr>
                              <m:mr>
                                <m:e>
                                  <m:r>
                                    <a:rPr lang="fr-CH" i="1">
                                      <a:latin typeface="Cambria Math" panose="02040503050406030204" pitchFamily="18" charset="0"/>
                                    </a:rPr>
                                    <m:t>𝑘</m:t>
                                  </m:r>
                                </m:e>
                              </m:mr>
                            </m:m>
                          </m:e>
                        </m:d>
                        <m:sSup>
                          <m:sSupPr>
                            <m:ctrlPr>
                              <a:rPr lang="en-US" i="1">
                                <a:latin typeface="Cambria Math" panose="02040503050406030204" pitchFamily="18" charset="0"/>
                              </a:rPr>
                            </m:ctrlPr>
                          </m:sSupPr>
                          <m:e>
                            <m:r>
                              <a:rPr lang="fr-CH" i="1">
                                <a:latin typeface="Cambria Math" panose="02040503050406030204" pitchFamily="18" charset="0"/>
                              </a:rPr>
                              <m:t>𝑥</m:t>
                            </m:r>
                          </m:e>
                          <m:sup>
                            <m:r>
                              <a:rPr lang="fr-CH" i="1">
                                <a:latin typeface="Cambria Math" panose="02040503050406030204" pitchFamily="18" charset="0"/>
                              </a:rPr>
                              <m:t>𝑘</m:t>
                            </m:r>
                          </m:sup>
                        </m:sSup>
                      </m:e>
                    </m:nary>
                  </m:oMath>
                </a14:m>
                <a:endParaRPr lang="en-US"/>
              </a:p>
              <a:p>
                <a:endParaRPr lang="en-US"/>
              </a:p>
            </p:txBody>
          </p:sp>
        </mc:Choice>
        <mc:Fallback xmlns="">
          <p:sp>
            <p:nvSpPr>
              <p:cNvPr id="3" name="Content Placeholder 2">
                <a:extLst>
                  <a:ext uri="{FF2B5EF4-FFF2-40B4-BE49-F238E27FC236}">
                    <a16:creationId xmlns:a16="http://schemas.microsoft.com/office/drawing/2014/main" id="{011C7761-1D5C-A54B-B9FE-9291AA06747C}"/>
                  </a:ext>
                </a:extLst>
              </p:cNvPr>
              <p:cNvSpPr>
                <a:spLocks noGrp="1" noRot="1" noChangeAspect="1" noMove="1" noResize="1" noEditPoints="1" noAdjustHandles="1" noChangeArrowheads="1" noChangeShapeType="1" noTextEdit="1"/>
              </p:cNvSpPr>
              <p:nvPr>
                <p:ph idx="1"/>
              </p:nvPr>
            </p:nvSpPr>
            <p:spPr>
              <a:blipFill>
                <a:blip r:embed="rId2"/>
                <a:stretch>
                  <a:fillRect l="-1086" t="-2632" b="-2339"/>
                </a:stretch>
              </a:blipFill>
            </p:spPr>
            <p:txBody>
              <a:bodyPr/>
              <a:lstStyle/>
              <a:p>
                <a:r>
                  <a:rPr lang="en-US">
                    <a:noFill/>
                  </a:rPr>
                  <a:t> </a:t>
                </a:r>
              </a:p>
            </p:txBody>
          </p:sp>
        </mc:Fallback>
      </mc:AlternateContent>
    </p:spTree>
    <p:extLst>
      <p:ext uri="{BB962C8B-B14F-4D97-AF65-F5344CB8AC3E}">
        <p14:creationId xmlns:p14="http://schemas.microsoft.com/office/powerpoint/2010/main" val="42090514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6DD8E-7551-744C-8116-04AAE8346934}"/>
              </a:ext>
            </a:extLst>
          </p:cNvPr>
          <p:cNvSpPr>
            <a:spLocks noGrp="1"/>
          </p:cNvSpPr>
          <p:nvPr>
            <p:ph type="title"/>
          </p:nvPr>
        </p:nvSpPr>
        <p:spPr/>
        <p:txBody>
          <a:bodyPr/>
          <a:lstStyle/>
          <a:p>
            <a:r>
              <a:rPr lang="en-US"/>
              <a:t>Combinations with Repetition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EA8DFB-89A4-A542-AD23-98D6A7D54E73}"/>
                  </a:ext>
                </a:extLst>
              </p:cNvPr>
              <p:cNvSpPr>
                <a:spLocks noGrp="1"/>
              </p:cNvSpPr>
              <p:nvPr>
                <p:ph idx="1"/>
              </p:nvPr>
            </p:nvSpPr>
            <p:spPr/>
            <p:txBody>
              <a:bodyPr>
                <a:normAutofit/>
              </a:bodyPr>
              <a:lstStyle/>
              <a:p>
                <a:r>
                  <a:rPr lang="en-US"/>
                  <a:t>The coefficient of </a:t>
                </a:r>
                <a14:m>
                  <m:oMath xmlns:m="http://schemas.openxmlformats.org/officeDocument/2006/math">
                    <m:r>
                      <a:rPr lang="en-US" i="1">
                        <a:latin typeface="Cambria Math" panose="02040503050406030204" pitchFamily="18" charset="0"/>
                      </a:rPr>
                      <m:t>𝑥</m:t>
                    </m:r>
                    <m:r>
                      <a:rPr lang="en-US" i="1" baseline="30000">
                        <a:latin typeface="Cambria Math" panose="02040503050406030204" pitchFamily="18" charset="0"/>
                      </a:rPr>
                      <m:t>𝑘</m:t>
                    </m:r>
                  </m:oMath>
                </a14:m>
                <a:r>
                  <a:rPr lang="en-US"/>
                  <a:t> is </a:t>
                </a:r>
                <a14:m>
                  <m:oMath xmlns:m="http://schemas.openxmlformats.org/officeDocument/2006/math">
                    <m:d>
                      <m:dPr>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fr-CH" i="1">
                                  <a:latin typeface="Cambria Math" panose="02040503050406030204" pitchFamily="18" charset="0"/>
                                </a:rPr>
                                <m:t>−</m:t>
                              </m:r>
                              <m:r>
                                <a:rPr lang="fr-CH" i="1">
                                  <a:latin typeface="Cambria Math" panose="02040503050406030204" pitchFamily="18" charset="0"/>
                                </a:rPr>
                                <m:t>𝑛</m:t>
                              </m:r>
                            </m:e>
                          </m:mr>
                          <m:mr>
                            <m:e>
                              <m:r>
                                <a:rPr lang="fr-CH" i="1">
                                  <a:latin typeface="Cambria Math" panose="02040503050406030204" pitchFamily="18" charset="0"/>
                                </a:rPr>
                                <m:t>𝑘</m:t>
                              </m:r>
                            </m:e>
                          </m:mr>
                        </m:m>
                      </m:e>
                    </m:d>
                    <m:sSup>
                      <m:sSupPr>
                        <m:ctrlPr>
                          <a:rPr lang="en-US" i="1">
                            <a:latin typeface="Cambria Math" panose="02040503050406030204" pitchFamily="18" charset="0"/>
                          </a:rPr>
                        </m:ctrlPr>
                      </m:sSupPr>
                      <m:e>
                        <m:r>
                          <a:rPr lang="fr-CH" b="0" i="1">
                            <a:latin typeface="Cambria Math" panose="02040503050406030204" pitchFamily="18" charset="0"/>
                          </a:rPr>
                          <m:t>(−1)</m:t>
                        </m:r>
                      </m:e>
                      <m:sup>
                        <m:r>
                          <a:rPr lang="fr-CH" i="1">
                            <a:latin typeface="Cambria Math" panose="02040503050406030204" pitchFamily="18" charset="0"/>
                          </a:rPr>
                          <m:t>𝑘</m:t>
                        </m:r>
                      </m:sup>
                    </m:sSup>
                  </m:oMath>
                </a14:m>
                <a:endParaRPr lang="fr-CH" i="1">
                  <a:latin typeface="Cambria Math" panose="02040503050406030204" pitchFamily="18" charset="0"/>
                </a:endParaRPr>
              </a:p>
              <a:p>
                <a:pPr marL="0" indent="0" algn="ctr">
                  <a:buNone/>
                </a:pPr>
                <a14:m>
                  <m:oMath xmlns:m="http://schemas.openxmlformats.org/officeDocument/2006/math">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a:rPr lang="fr-CH" sz="2400" i="1">
                                  <a:latin typeface="Cambria Math" panose="02040503050406030204" pitchFamily="18" charset="0"/>
                                </a:rPr>
                                <m:t>−</m:t>
                              </m:r>
                              <m:r>
                                <a:rPr lang="fr-CH" sz="2400" i="1">
                                  <a:latin typeface="Cambria Math" panose="02040503050406030204" pitchFamily="18" charset="0"/>
                                </a:rPr>
                                <m:t>𝑛</m:t>
                              </m:r>
                            </m:e>
                          </m:mr>
                          <m:mr>
                            <m:e>
                              <m:r>
                                <a:rPr lang="fr-CH" sz="2400" i="1">
                                  <a:latin typeface="Cambria Math" panose="02040503050406030204" pitchFamily="18" charset="0"/>
                                </a:rPr>
                                <m:t>𝑘</m:t>
                              </m:r>
                            </m:e>
                          </m:mr>
                        </m:m>
                      </m:e>
                    </m:d>
                    <m:r>
                      <a:rPr lang="fr-CH" sz="2400" b="0" i="1">
                        <a:latin typeface="Cambria Math" panose="02040503050406030204" pitchFamily="18" charset="0"/>
                      </a:rPr>
                      <m:t>=</m:t>
                    </m:r>
                    <m:f>
                      <m:fPr>
                        <m:ctrlPr>
                          <a:rPr lang="fr-CH" sz="2400" b="0" i="1">
                            <a:latin typeface="Cambria Math" panose="02040503050406030204" pitchFamily="18" charset="0"/>
                          </a:rPr>
                        </m:ctrlPr>
                      </m:fPr>
                      <m:num>
                        <m:d>
                          <m:dPr>
                            <m:ctrlPr>
                              <a:rPr lang="fr-CH" sz="2400" b="0" i="1">
                                <a:latin typeface="Cambria Math" panose="02040503050406030204" pitchFamily="18" charset="0"/>
                              </a:rPr>
                            </m:ctrlPr>
                          </m:dPr>
                          <m:e>
                            <m:r>
                              <a:rPr lang="fr-CH" sz="2400" b="0" i="1">
                                <a:latin typeface="Cambria Math" panose="02040503050406030204" pitchFamily="18" charset="0"/>
                              </a:rPr>
                              <m:t>−</m:t>
                            </m:r>
                            <m:r>
                              <a:rPr lang="fr-CH" sz="2400" b="0" i="1">
                                <a:latin typeface="Cambria Math" panose="02040503050406030204" pitchFamily="18" charset="0"/>
                              </a:rPr>
                              <m:t>𝑛</m:t>
                            </m:r>
                          </m:e>
                        </m:d>
                        <m:d>
                          <m:dPr>
                            <m:ctrlPr>
                              <a:rPr lang="fr-CH" sz="2400" b="0" i="1">
                                <a:latin typeface="Cambria Math" panose="02040503050406030204" pitchFamily="18" charset="0"/>
                              </a:rPr>
                            </m:ctrlPr>
                          </m:dPr>
                          <m:e>
                            <m:r>
                              <a:rPr lang="fr-CH" sz="2400" b="0" i="1">
                                <a:latin typeface="Cambria Math" panose="02040503050406030204" pitchFamily="18" charset="0"/>
                              </a:rPr>
                              <m:t>−</m:t>
                            </m:r>
                            <m:r>
                              <a:rPr lang="fr-CH" sz="2400" b="0" i="1">
                                <a:latin typeface="Cambria Math" panose="02040503050406030204" pitchFamily="18" charset="0"/>
                              </a:rPr>
                              <m:t>𝑛</m:t>
                            </m:r>
                            <m:r>
                              <a:rPr lang="fr-CH" sz="2400" b="0" i="1">
                                <a:latin typeface="Cambria Math" panose="02040503050406030204" pitchFamily="18" charset="0"/>
                              </a:rPr>
                              <m:t>−1</m:t>
                            </m:r>
                          </m:e>
                        </m:d>
                        <m:r>
                          <a:rPr lang="fr-CH" sz="2400" b="0" i="1">
                            <a:latin typeface="Cambria Math" panose="02040503050406030204" pitchFamily="18" charset="0"/>
                          </a:rPr>
                          <m:t>…(−</m:t>
                        </m:r>
                        <m:r>
                          <a:rPr lang="fr-CH" sz="2400" b="0" i="1">
                            <a:latin typeface="Cambria Math" panose="02040503050406030204" pitchFamily="18" charset="0"/>
                          </a:rPr>
                          <m:t>𝑛</m:t>
                        </m:r>
                        <m:r>
                          <a:rPr lang="fr-CH" sz="2400" b="0" i="1">
                            <a:latin typeface="Cambria Math" panose="02040503050406030204" pitchFamily="18" charset="0"/>
                          </a:rPr>
                          <m:t>−</m:t>
                        </m:r>
                        <m:r>
                          <a:rPr lang="fr-CH" sz="2400" b="0" i="1">
                            <a:latin typeface="Cambria Math" panose="02040503050406030204" pitchFamily="18" charset="0"/>
                          </a:rPr>
                          <m:t>𝑘</m:t>
                        </m:r>
                        <m:r>
                          <a:rPr lang="fr-CH" sz="2400" b="0" i="1">
                            <a:latin typeface="Cambria Math" panose="02040503050406030204" pitchFamily="18" charset="0"/>
                          </a:rPr>
                          <m:t>+1)</m:t>
                        </m:r>
                      </m:num>
                      <m:den>
                        <m:r>
                          <a:rPr lang="fr-CH" sz="2400" b="0" i="1">
                            <a:latin typeface="Cambria Math" panose="02040503050406030204" pitchFamily="18" charset="0"/>
                          </a:rPr>
                          <m:t>𝑘</m:t>
                        </m:r>
                        <m:r>
                          <a:rPr lang="fr-CH" sz="2400" b="0" i="1">
                            <a:latin typeface="Cambria Math" panose="02040503050406030204" pitchFamily="18" charset="0"/>
                          </a:rPr>
                          <m:t>!</m:t>
                        </m:r>
                      </m:den>
                    </m:f>
                    <m:r>
                      <a:rPr lang="fr-CH" sz="2400" b="0" i="1">
                        <a:latin typeface="Cambria Math" panose="02040503050406030204" pitchFamily="18" charset="0"/>
                      </a:rPr>
                      <m:t>=</m:t>
                    </m:r>
                  </m:oMath>
                </a14:m>
                <a:r>
                  <a:rPr lang="fr-CH" sz="2400"/>
                  <a:t> </a:t>
                </a:r>
                <a14:m>
                  <m:oMath xmlns:m="http://schemas.openxmlformats.org/officeDocument/2006/math">
                    <m:f>
                      <m:fPr>
                        <m:ctrlPr>
                          <a:rPr lang="fr-CH" sz="2400" i="1">
                            <a:latin typeface="Cambria Math" panose="02040503050406030204" pitchFamily="18" charset="0"/>
                          </a:rPr>
                        </m:ctrlPr>
                      </m:fPr>
                      <m:num>
                        <m:sSup>
                          <m:sSupPr>
                            <m:ctrlPr>
                              <a:rPr lang="fr-CH" sz="2400" i="1">
                                <a:latin typeface="Cambria Math" panose="02040503050406030204" pitchFamily="18" charset="0"/>
                              </a:rPr>
                            </m:ctrlPr>
                          </m:sSupPr>
                          <m:e>
                            <m:r>
                              <a:rPr lang="fr-CH" sz="2400" b="0" i="1">
                                <a:latin typeface="Cambria Math" panose="02040503050406030204" pitchFamily="18" charset="0"/>
                              </a:rPr>
                              <m:t>(−1)</m:t>
                            </m:r>
                          </m:e>
                          <m:sup>
                            <m:r>
                              <a:rPr lang="fr-CH" sz="2400" b="0" i="1">
                                <a:latin typeface="Cambria Math" panose="02040503050406030204" pitchFamily="18" charset="0"/>
                              </a:rPr>
                              <m:t>𝑘</m:t>
                            </m:r>
                          </m:sup>
                        </m:sSup>
                        <m:d>
                          <m:dPr>
                            <m:ctrlPr>
                              <a:rPr lang="fr-CH" sz="2400" i="1">
                                <a:latin typeface="Cambria Math" panose="02040503050406030204" pitchFamily="18" charset="0"/>
                              </a:rPr>
                            </m:ctrlPr>
                          </m:dPr>
                          <m:e>
                            <m:r>
                              <a:rPr lang="fr-CH" sz="2400" i="1">
                                <a:latin typeface="Cambria Math" panose="02040503050406030204" pitchFamily="18" charset="0"/>
                              </a:rPr>
                              <m:t>𝑛</m:t>
                            </m:r>
                          </m:e>
                        </m:d>
                        <m:d>
                          <m:dPr>
                            <m:ctrlPr>
                              <a:rPr lang="fr-CH" sz="2400" i="1">
                                <a:latin typeface="Cambria Math" panose="02040503050406030204" pitchFamily="18" charset="0"/>
                              </a:rPr>
                            </m:ctrlPr>
                          </m:dPr>
                          <m:e>
                            <m:r>
                              <a:rPr lang="fr-CH" sz="2400" i="1">
                                <a:latin typeface="Cambria Math" panose="02040503050406030204" pitchFamily="18" charset="0"/>
                              </a:rPr>
                              <m:t>𝑛</m:t>
                            </m:r>
                            <m:r>
                              <a:rPr lang="fr-CH" sz="2400" i="1">
                                <a:latin typeface="Cambria Math" panose="02040503050406030204" pitchFamily="18" charset="0"/>
                              </a:rPr>
                              <m:t>−1</m:t>
                            </m:r>
                          </m:e>
                        </m:d>
                        <m:r>
                          <a:rPr lang="fr-CH" sz="2400" i="1">
                            <a:latin typeface="Cambria Math" panose="02040503050406030204" pitchFamily="18" charset="0"/>
                          </a:rPr>
                          <m:t>…(</m:t>
                        </m:r>
                        <m:r>
                          <a:rPr lang="fr-CH" sz="2400" i="1">
                            <a:latin typeface="Cambria Math" panose="02040503050406030204" pitchFamily="18" charset="0"/>
                          </a:rPr>
                          <m:t>𝑛</m:t>
                        </m:r>
                        <m:r>
                          <a:rPr lang="fr-CH" sz="2400" i="1">
                            <a:latin typeface="Cambria Math" panose="02040503050406030204" pitchFamily="18" charset="0"/>
                          </a:rPr>
                          <m:t>−</m:t>
                        </m:r>
                        <m:r>
                          <a:rPr lang="fr-CH" sz="2400" i="1">
                            <a:latin typeface="Cambria Math" panose="02040503050406030204" pitchFamily="18" charset="0"/>
                          </a:rPr>
                          <m:t>𝑘</m:t>
                        </m:r>
                        <m:r>
                          <a:rPr lang="fr-CH" sz="2400" i="1">
                            <a:latin typeface="Cambria Math" panose="02040503050406030204" pitchFamily="18" charset="0"/>
                          </a:rPr>
                          <m:t>+1)</m:t>
                        </m:r>
                      </m:num>
                      <m:den>
                        <m:r>
                          <a:rPr lang="fr-CH" sz="2400" i="1">
                            <a:latin typeface="Cambria Math" panose="02040503050406030204" pitchFamily="18" charset="0"/>
                          </a:rPr>
                          <m:t>𝑘</m:t>
                        </m:r>
                        <m:r>
                          <a:rPr lang="fr-CH" sz="2400" i="1">
                            <a:latin typeface="Cambria Math" panose="02040503050406030204" pitchFamily="18" charset="0"/>
                          </a:rPr>
                          <m:t>!</m:t>
                        </m:r>
                      </m:den>
                    </m:f>
                    <m:r>
                      <a:rPr lang="fr-CH" sz="2400" i="1">
                        <a:latin typeface="Cambria Math" panose="02040503050406030204" pitchFamily="18" charset="0"/>
                      </a:rPr>
                      <m:t>=</m:t>
                    </m:r>
                  </m:oMath>
                </a14:m>
                <a:endParaRPr lang="fr-CH" sz="2400" i="1">
                  <a:latin typeface="Cambria Math" panose="02040503050406030204" pitchFamily="18" charset="0"/>
                </a:endParaRPr>
              </a:p>
              <a:p>
                <a:endParaRPr lang="fr-CH"/>
              </a:p>
              <a:p>
                <a:pPr marL="0" indent="0">
                  <a:buNone/>
                </a:pPr>
                <a14:m>
                  <m:oMathPara xmlns:m="http://schemas.openxmlformats.org/officeDocument/2006/math">
                    <m:oMathParaPr>
                      <m:jc m:val="center"/>
                    </m:oMathParaPr>
                    <m:oMath xmlns:m="http://schemas.openxmlformats.org/officeDocument/2006/math">
                      <m:r>
                        <m:rPr>
                          <m:nor/>
                        </m:rPr>
                        <a:rPr lang="fr-CH" sz="2000" b="0" i="0"/>
                        <m:t>=</m:t>
                      </m:r>
                      <m:r>
                        <m:rPr>
                          <m:nor/>
                        </m:rPr>
                        <a:rPr lang="fr-CH" sz="2000"/>
                        <m:t> </m:t>
                      </m:r>
                      <m:f>
                        <m:fPr>
                          <m:ctrlPr>
                            <a:rPr lang="fr-CH" sz="2000" i="1">
                              <a:latin typeface="Cambria Math" panose="02040503050406030204" pitchFamily="18" charset="0"/>
                            </a:rPr>
                          </m:ctrlPr>
                        </m:fPr>
                        <m:num>
                          <m:sSup>
                            <m:sSupPr>
                              <m:ctrlPr>
                                <a:rPr lang="fr-CH" sz="2000" i="1">
                                  <a:latin typeface="Cambria Math" panose="02040503050406030204" pitchFamily="18" charset="0"/>
                                </a:rPr>
                              </m:ctrlPr>
                            </m:sSupPr>
                            <m:e>
                              <m:r>
                                <a:rPr lang="fr-CH" sz="2000" i="1">
                                  <a:latin typeface="Cambria Math" panose="02040503050406030204" pitchFamily="18" charset="0"/>
                                </a:rPr>
                                <m:t>(−1)</m:t>
                              </m:r>
                            </m:e>
                            <m:sup>
                              <m:r>
                                <a:rPr lang="fr-CH" sz="2000" i="1">
                                  <a:latin typeface="Cambria Math" panose="02040503050406030204" pitchFamily="18" charset="0"/>
                                </a:rPr>
                                <m:t>𝑘</m:t>
                              </m:r>
                            </m:sup>
                          </m:sSup>
                          <m:d>
                            <m:dPr>
                              <m:ctrlPr>
                                <a:rPr lang="fr-CH" sz="2000" i="1">
                                  <a:latin typeface="Cambria Math" panose="02040503050406030204" pitchFamily="18" charset="0"/>
                                </a:rPr>
                              </m:ctrlPr>
                            </m:dPr>
                            <m:e>
                              <m:r>
                                <a:rPr lang="fr-CH" sz="2000" i="1">
                                  <a:latin typeface="Cambria Math" panose="02040503050406030204" pitchFamily="18" charset="0"/>
                                </a:rPr>
                                <m:t>𝑛</m:t>
                              </m:r>
                            </m:e>
                          </m:d>
                          <m:d>
                            <m:dPr>
                              <m:ctrlPr>
                                <a:rPr lang="fr-CH" sz="2000" i="1">
                                  <a:latin typeface="Cambria Math" panose="02040503050406030204" pitchFamily="18" charset="0"/>
                                </a:rPr>
                              </m:ctrlPr>
                            </m:dPr>
                            <m:e>
                              <m:r>
                                <a:rPr lang="fr-CH" sz="2000" i="1">
                                  <a:latin typeface="Cambria Math" panose="02040503050406030204" pitchFamily="18" charset="0"/>
                                </a:rPr>
                                <m:t>𝑛</m:t>
                              </m:r>
                              <m:r>
                                <a:rPr lang="fr-CH" sz="2000" i="1">
                                  <a:latin typeface="Cambria Math" panose="02040503050406030204" pitchFamily="18" charset="0"/>
                                </a:rPr>
                                <m:t>−1</m:t>
                              </m:r>
                            </m:e>
                          </m:d>
                          <m:r>
                            <a:rPr lang="fr-CH" sz="2000" i="1">
                              <a:latin typeface="Cambria Math" panose="02040503050406030204" pitchFamily="18" charset="0"/>
                            </a:rPr>
                            <m:t>…(</m:t>
                          </m:r>
                          <m:r>
                            <a:rPr lang="fr-CH" sz="2000" i="1">
                              <a:latin typeface="Cambria Math" panose="02040503050406030204" pitchFamily="18" charset="0"/>
                            </a:rPr>
                            <m:t>𝑛</m:t>
                          </m:r>
                          <m:r>
                            <a:rPr lang="fr-CH" sz="2000" i="1">
                              <a:latin typeface="Cambria Math" panose="02040503050406030204" pitchFamily="18" charset="0"/>
                            </a:rPr>
                            <m:t>−</m:t>
                          </m:r>
                          <m:r>
                            <a:rPr lang="fr-CH" sz="2000" i="1">
                              <a:latin typeface="Cambria Math" panose="02040503050406030204" pitchFamily="18" charset="0"/>
                            </a:rPr>
                            <m:t>𝑘</m:t>
                          </m:r>
                          <m:r>
                            <a:rPr lang="fr-CH" sz="2000" i="1">
                              <a:latin typeface="Cambria Math" panose="02040503050406030204" pitchFamily="18" charset="0"/>
                            </a:rPr>
                            <m:t>+1)</m:t>
                          </m:r>
                        </m:num>
                        <m:den>
                          <m:r>
                            <a:rPr lang="fr-CH" sz="2000" i="1">
                              <a:latin typeface="Cambria Math" panose="02040503050406030204" pitchFamily="18" charset="0"/>
                            </a:rPr>
                            <m:t>𝑘</m:t>
                          </m:r>
                          <m:r>
                            <a:rPr lang="fr-CH" sz="2000" i="1">
                              <a:latin typeface="Cambria Math" panose="02040503050406030204" pitchFamily="18" charset="0"/>
                            </a:rPr>
                            <m:t>!</m:t>
                          </m:r>
                        </m:den>
                      </m:f>
                      <m:r>
                        <a:rPr lang="fr-CH" sz="2000" b="0" i="1">
                          <a:latin typeface="Cambria Math" panose="02040503050406030204" pitchFamily="18" charset="0"/>
                        </a:rPr>
                        <m:t>=</m:t>
                      </m:r>
                      <m:f>
                        <m:fPr>
                          <m:ctrlPr>
                            <a:rPr lang="fr-CH" sz="2000" i="1">
                              <a:latin typeface="Cambria Math" panose="02040503050406030204" pitchFamily="18" charset="0"/>
                            </a:rPr>
                          </m:ctrlPr>
                        </m:fPr>
                        <m:num>
                          <m:sSup>
                            <m:sSupPr>
                              <m:ctrlPr>
                                <a:rPr lang="fr-CH" sz="2000" i="1">
                                  <a:latin typeface="Cambria Math" panose="02040503050406030204" pitchFamily="18" charset="0"/>
                                </a:rPr>
                              </m:ctrlPr>
                            </m:sSupPr>
                            <m:e>
                              <m:d>
                                <m:dPr>
                                  <m:ctrlPr>
                                    <a:rPr lang="fr-CH" sz="2000" i="1">
                                      <a:latin typeface="Cambria Math" panose="02040503050406030204" pitchFamily="18" charset="0"/>
                                    </a:rPr>
                                  </m:ctrlPr>
                                </m:dPr>
                                <m:e>
                                  <m:r>
                                    <a:rPr lang="fr-CH" sz="2000" i="1">
                                      <a:latin typeface="Cambria Math" panose="02040503050406030204" pitchFamily="18" charset="0"/>
                                    </a:rPr>
                                    <m:t>−1</m:t>
                                  </m:r>
                                </m:e>
                              </m:d>
                            </m:e>
                            <m:sup>
                              <m:r>
                                <a:rPr lang="fr-CH" sz="2000" i="1">
                                  <a:latin typeface="Cambria Math" panose="02040503050406030204" pitchFamily="18" charset="0"/>
                                </a:rPr>
                                <m:t>𝑘</m:t>
                              </m:r>
                            </m:sup>
                          </m:sSup>
                          <m:d>
                            <m:dPr>
                              <m:ctrlPr>
                                <a:rPr lang="fr-CH" sz="2000" b="0" i="1">
                                  <a:latin typeface="Cambria Math" panose="02040503050406030204" pitchFamily="18" charset="0"/>
                                </a:rPr>
                              </m:ctrlPr>
                            </m:dPr>
                            <m:e>
                              <m:r>
                                <a:rPr lang="fr-CH" sz="2000" i="1">
                                  <a:latin typeface="Cambria Math" panose="02040503050406030204" pitchFamily="18" charset="0"/>
                                </a:rPr>
                                <m:t>𝑛</m:t>
                              </m:r>
                              <m:r>
                                <a:rPr lang="fr-CH" sz="2000" i="1">
                                  <a:latin typeface="Cambria Math" panose="02040503050406030204" pitchFamily="18" charset="0"/>
                                </a:rPr>
                                <m:t>−</m:t>
                              </m:r>
                              <m:r>
                                <a:rPr lang="fr-CH" sz="2000" i="1">
                                  <a:latin typeface="Cambria Math" panose="02040503050406030204" pitchFamily="18" charset="0"/>
                                </a:rPr>
                                <m:t>𝑘</m:t>
                              </m:r>
                              <m:r>
                                <a:rPr lang="fr-CH" sz="2000" i="1">
                                  <a:latin typeface="Cambria Math" panose="02040503050406030204" pitchFamily="18" charset="0"/>
                                </a:rPr>
                                <m:t>+1</m:t>
                              </m:r>
                            </m:e>
                          </m:d>
                          <m:r>
                            <a:rPr lang="fr-CH" sz="2000" b="0" i="1">
                              <a:latin typeface="Cambria Math" panose="02040503050406030204" pitchFamily="18" charset="0"/>
                            </a:rPr>
                            <m:t>…</m:t>
                          </m:r>
                          <m:d>
                            <m:dPr>
                              <m:ctrlPr>
                                <a:rPr lang="fr-CH" sz="2000" i="1">
                                  <a:latin typeface="Cambria Math" panose="02040503050406030204" pitchFamily="18" charset="0"/>
                                </a:rPr>
                              </m:ctrlPr>
                            </m:dPr>
                            <m:e>
                              <m:r>
                                <a:rPr lang="fr-CH" sz="2000" i="1">
                                  <a:latin typeface="Cambria Math" panose="02040503050406030204" pitchFamily="18" charset="0"/>
                                </a:rPr>
                                <m:t>𝑛</m:t>
                              </m:r>
                            </m:e>
                          </m:d>
                        </m:num>
                        <m:den>
                          <m:r>
                            <a:rPr lang="fr-CH" sz="2000" i="1">
                              <a:latin typeface="Cambria Math" panose="02040503050406030204" pitchFamily="18" charset="0"/>
                            </a:rPr>
                            <m:t>𝑘</m:t>
                          </m:r>
                          <m:r>
                            <a:rPr lang="fr-CH" sz="2000" i="1">
                              <a:latin typeface="Cambria Math" panose="02040503050406030204" pitchFamily="18" charset="0"/>
                            </a:rPr>
                            <m:t>!</m:t>
                          </m:r>
                        </m:den>
                      </m:f>
                      <m:r>
                        <a:rPr lang="fr-CH" sz="2000" b="0" i="1">
                          <a:latin typeface="Cambria Math" panose="02040503050406030204" pitchFamily="18" charset="0"/>
                        </a:rPr>
                        <m:t>=</m:t>
                      </m:r>
                      <m:f>
                        <m:fPr>
                          <m:ctrlPr>
                            <a:rPr lang="fr-CH" sz="2000" i="1">
                              <a:latin typeface="Cambria Math" panose="02040503050406030204" pitchFamily="18" charset="0"/>
                            </a:rPr>
                          </m:ctrlPr>
                        </m:fPr>
                        <m:num>
                          <m:sSup>
                            <m:sSupPr>
                              <m:ctrlPr>
                                <a:rPr lang="fr-CH" sz="2000" i="1">
                                  <a:latin typeface="Cambria Math" panose="02040503050406030204" pitchFamily="18" charset="0"/>
                                </a:rPr>
                              </m:ctrlPr>
                            </m:sSupPr>
                            <m:e>
                              <m:d>
                                <m:dPr>
                                  <m:ctrlPr>
                                    <a:rPr lang="fr-CH" sz="2000" i="1">
                                      <a:latin typeface="Cambria Math" panose="02040503050406030204" pitchFamily="18" charset="0"/>
                                    </a:rPr>
                                  </m:ctrlPr>
                                </m:dPr>
                                <m:e>
                                  <m:r>
                                    <a:rPr lang="fr-CH" sz="2000" i="1">
                                      <a:latin typeface="Cambria Math" panose="02040503050406030204" pitchFamily="18" charset="0"/>
                                    </a:rPr>
                                    <m:t>−1</m:t>
                                  </m:r>
                                </m:e>
                              </m:d>
                            </m:e>
                            <m:sup>
                              <m:r>
                                <a:rPr lang="fr-CH" sz="2000" i="1">
                                  <a:latin typeface="Cambria Math" panose="02040503050406030204" pitchFamily="18" charset="0"/>
                                </a:rPr>
                                <m:t>𝑘</m:t>
                              </m:r>
                            </m:sup>
                          </m:sSup>
                          <m:d>
                            <m:dPr>
                              <m:ctrlPr>
                                <a:rPr lang="fr-CH" sz="2000" i="1">
                                  <a:latin typeface="Cambria Math" panose="02040503050406030204" pitchFamily="18" charset="0"/>
                                </a:rPr>
                              </m:ctrlPr>
                            </m:dPr>
                            <m:e>
                              <m:r>
                                <a:rPr lang="fr-CH" sz="2000" i="1">
                                  <a:latin typeface="Cambria Math" panose="02040503050406030204" pitchFamily="18" charset="0"/>
                                </a:rPr>
                                <m:t>𝑛</m:t>
                              </m:r>
                              <m:r>
                                <a:rPr lang="fr-CH" sz="2000" i="1">
                                  <a:latin typeface="Cambria Math" panose="02040503050406030204" pitchFamily="18" charset="0"/>
                                </a:rPr>
                                <m:t>−</m:t>
                              </m:r>
                              <m:r>
                                <a:rPr lang="fr-CH" sz="2000" i="1">
                                  <a:latin typeface="Cambria Math" panose="02040503050406030204" pitchFamily="18" charset="0"/>
                                </a:rPr>
                                <m:t>𝑘</m:t>
                              </m:r>
                              <m:r>
                                <a:rPr lang="fr-CH" sz="2000" i="1">
                                  <a:latin typeface="Cambria Math" panose="02040503050406030204" pitchFamily="18" charset="0"/>
                                </a:rPr>
                                <m:t>+1</m:t>
                              </m:r>
                            </m:e>
                          </m:d>
                          <m:r>
                            <a:rPr lang="fr-CH" sz="2000" i="1">
                              <a:latin typeface="Cambria Math" panose="02040503050406030204" pitchFamily="18" charset="0"/>
                            </a:rPr>
                            <m:t>…</m:t>
                          </m:r>
                          <m:d>
                            <m:dPr>
                              <m:ctrlPr>
                                <a:rPr lang="fr-CH" sz="2000" i="1">
                                  <a:latin typeface="Cambria Math" panose="02040503050406030204" pitchFamily="18" charset="0"/>
                                </a:rPr>
                              </m:ctrlPr>
                            </m:dPr>
                            <m:e>
                              <m:r>
                                <a:rPr lang="fr-CH" sz="2000" i="1">
                                  <a:latin typeface="Cambria Math" panose="02040503050406030204" pitchFamily="18" charset="0"/>
                                </a:rPr>
                                <m:t>𝑛</m:t>
                              </m:r>
                            </m:e>
                          </m:d>
                        </m:num>
                        <m:den>
                          <m:r>
                            <a:rPr lang="fr-CH" sz="2000" i="1">
                              <a:latin typeface="Cambria Math" panose="02040503050406030204" pitchFamily="18" charset="0"/>
                            </a:rPr>
                            <m:t>𝑘</m:t>
                          </m:r>
                          <m:r>
                            <a:rPr lang="fr-CH" sz="2000" i="1">
                              <a:latin typeface="Cambria Math" panose="02040503050406030204" pitchFamily="18" charset="0"/>
                            </a:rPr>
                            <m:t>!</m:t>
                          </m:r>
                        </m:den>
                      </m:f>
                    </m:oMath>
                  </m:oMathPara>
                </a14:m>
                <a:endParaRPr lang="fr-CH" sz="2000" i="1">
                  <a:latin typeface="Cambria Math" panose="02040503050406030204" pitchFamily="18" charset="0"/>
                </a:endParaRPr>
              </a:p>
              <a:p>
                <a:pPr marL="0" indent="0" algn="ctr">
                  <a:buNone/>
                </a:pPr>
                <a14:m>
                  <m:oMath xmlns:m="http://schemas.openxmlformats.org/officeDocument/2006/math">
                    <m:r>
                      <a:rPr lang="fr-CH" sz="2400" b="0" i="1">
                        <a:latin typeface="Cambria Math" panose="02040503050406030204" pitchFamily="18" charset="0"/>
                      </a:rPr>
                      <m:t>=</m:t>
                    </m:r>
                    <m:f>
                      <m:fPr>
                        <m:ctrlPr>
                          <a:rPr lang="fr-CH" sz="2400" i="1">
                            <a:latin typeface="Cambria Math" panose="02040503050406030204" pitchFamily="18" charset="0"/>
                          </a:rPr>
                        </m:ctrlPr>
                      </m:fPr>
                      <m:num>
                        <m:sSup>
                          <m:sSupPr>
                            <m:ctrlPr>
                              <a:rPr lang="fr-CH" sz="2400" i="1">
                                <a:latin typeface="Cambria Math" panose="02040503050406030204" pitchFamily="18" charset="0"/>
                              </a:rPr>
                            </m:ctrlPr>
                          </m:sSupPr>
                          <m:e>
                            <m:d>
                              <m:dPr>
                                <m:ctrlPr>
                                  <a:rPr lang="fr-CH" sz="2400" i="1">
                                    <a:latin typeface="Cambria Math" panose="02040503050406030204" pitchFamily="18" charset="0"/>
                                  </a:rPr>
                                </m:ctrlPr>
                              </m:dPr>
                              <m:e>
                                <m:r>
                                  <a:rPr lang="fr-CH" sz="2400" i="1">
                                    <a:latin typeface="Cambria Math" panose="02040503050406030204" pitchFamily="18" charset="0"/>
                                  </a:rPr>
                                  <m:t>−1</m:t>
                                </m:r>
                              </m:e>
                            </m:d>
                          </m:e>
                          <m:sup>
                            <m:r>
                              <a:rPr lang="fr-CH" sz="2400" i="1">
                                <a:latin typeface="Cambria Math" panose="02040503050406030204" pitchFamily="18" charset="0"/>
                              </a:rPr>
                              <m:t>𝑘</m:t>
                            </m:r>
                          </m:sup>
                        </m:sSup>
                        <m:d>
                          <m:dPr>
                            <m:ctrlPr>
                              <a:rPr lang="fr-CH" sz="2400" i="1">
                                <a:latin typeface="Cambria Math" panose="02040503050406030204" pitchFamily="18" charset="0"/>
                              </a:rPr>
                            </m:ctrlPr>
                          </m:dPr>
                          <m:e>
                            <m:r>
                              <a:rPr lang="fr-CH" sz="2400" i="1">
                                <a:latin typeface="Cambria Math" panose="02040503050406030204" pitchFamily="18" charset="0"/>
                              </a:rPr>
                              <m:t>𝑛</m:t>
                            </m:r>
                            <m:r>
                              <a:rPr lang="fr-CH" sz="2400" i="1">
                                <a:latin typeface="Cambria Math" panose="02040503050406030204" pitchFamily="18" charset="0"/>
                              </a:rPr>
                              <m:t>−</m:t>
                            </m:r>
                            <m:r>
                              <a:rPr lang="fr-CH" sz="2400" i="1">
                                <a:latin typeface="Cambria Math" panose="02040503050406030204" pitchFamily="18" charset="0"/>
                              </a:rPr>
                              <m:t>𝑘</m:t>
                            </m:r>
                            <m:r>
                              <a:rPr lang="fr-CH" sz="2400" i="1">
                                <a:latin typeface="Cambria Math" panose="02040503050406030204" pitchFamily="18" charset="0"/>
                              </a:rPr>
                              <m:t>+1</m:t>
                            </m:r>
                          </m:e>
                        </m:d>
                        <m:r>
                          <a:rPr lang="fr-CH" sz="2400" b="0" i="1">
                            <a:latin typeface="Cambria Math" panose="02040503050406030204" pitchFamily="18" charset="0"/>
                          </a:rPr>
                          <m:t>!</m:t>
                        </m:r>
                      </m:num>
                      <m:den>
                        <m:r>
                          <a:rPr lang="fr-CH" sz="2400" i="1">
                            <a:latin typeface="Cambria Math" panose="02040503050406030204" pitchFamily="18" charset="0"/>
                          </a:rPr>
                          <m:t>𝑘</m:t>
                        </m:r>
                        <m:r>
                          <a:rPr lang="fr-CH" sz="2400" i="1">
                            <a:latin typeface="Cambria Math" panose="02040503050406030204" pitchFamily="18" charset="0"/>
                          </a:rPr>
                          <m:t>!</m:t>
                        </m:r>
                        <m:d>
                          <m:dPr>
                            <m:ctrlPr>
                              <a:rPr lang="fr-CH" sz="2400" b="0" i="1">
                                <a:latin typeface="Cambria Math" panose="02040503050406030204" pitchFamily="18" charset="0"/>
                              </a:rPr>
                            </m:ctrlPr>
                          </m:dPr>
                          <m:e>
                            <m:r>
                              <a:rPr lang="fr-CH" sz="2400" b="0" i="1">
                                <a:latin typeface="Cambria Math" panose="02040503050406030204" pitchFamily="18" charset="0"/>
                              </a:rPr>
                              <m:t>𝑛</m:t>
                            </m:r>
                            <m:r>
                              <a:rPr lang="fr-CH" sz="2400" b="0" i="1">
                                <a:latin typeface="Cambria Math" panose="02040503050406030204" pitchFamily="18" charset="0"/>
                              </a:rPr>
                              <m:t>−1</m:t>
                            </m:r>
                          </m:e>
                        </m:d>
                        <m:r>
                          <a:rPr lang="fr-CH" sz="2400" b="0" i="1">
                            <a:latin typeface="Cambria Math" panose="02040503050406030204" pitchFamily="18" charset="0"/>
                          </a:rPr>
                          <m:t>!</m:t>
                        </m:r>
                      </m:den>
                    </m:f>
                    <m:r>
                      <a:rPr lang="fr-CH" sz="2400" b="0" i="1">
                        <a:latin typeface="Cambria Math" panose="02040503050406030204" pitchFamily="18" charset="0"/>
                      </a:rPr>
                      <m:t>=</m:t>
                    </m:r>
                    <m:sSup>
                      <m:sSupPr>
                        <m:ctrlPr>
                          <a:rPr lang="fr-CH" sz="2400" i="1">
                            <a:latin typeface="Cambria Math" panose="02040503050406030204" pitchFamily="18" charset="0"/>
                          </a:rPr>
                        </m:ctrlPr>
                      </m:sSupPr>
                      <m:e>
                        <m:d>
                          <m:dPr>
                            <m:ctrlPr>
                              <a:rPr lang="fr-CH" sz="2400" i="1">
                                <a:latin typeface="Cambria Math" panose="02040503050406030204" pitchFamily="18" charset="0"/>
                              </a:rPr>
                            </m:ctrlPr>
                          </m:dPr>
                          <m:e>
                            <m:r>
                              <a:rPr lang="fr-CH" sz="2400" i="1">
                                <a:latin typeface="Cambria Math" panose="02040503050406030204" pitchFamily="18" charset="0"/>
                              </a:rPr>
                              <m:t>−1</m:t>
                            </m:r>
                          </m:e>
                        </m:d>
                      </m:e>
                      <m:sup>
                        <m:r>
                          <a:rPr lang="fr-CH" sz="2400" i="1">
                            <a:latin typeface="Cambria Math" panose="02040503050406030204" pitchFamily="18" charset="0"/>
                          </a:rPr>
                          <m:t>𝑘</m:t>
                        </m:r>
                      </m:sup>
                    </m:sSup>
                  </m:oMath>
                </a14:m>
                <a:r>
                  <a:rPr lang="en-US" sz="2400"/>
                  <a:t> </a:t>
                </a:r>
                <a14:m>
                  <m:oMath xmlns:m="http://schemas.openxmlformats.org/officeDocument/2006/math">
                    <m:d>
                      <m:dPr>
                        <m:ctrlPr>
                          <a:rPr lang="en-US" sz="2000" i="1">
                            <a:latin typeface="Cambria Math" panose="02040503050406030204" pitchFamily="18" charset="0"/>
                          </a:rPr>
                        </m:ctrlPr>
                      </m:dPr>
                      <m:e>
                        <m:m>
                          <m:mPr>
                            <m:mcs>
                              <m:mc>
                                <m:mcPr>
                                  <m:count m:val="1"/>
                                  <m:mcJc m:val="center"/>
                                </m:mcPr>
                              </m:mc>
                            </m:mcs>
                            <m:ctrlPr>
                              <a:rPr lang="en-US" sz="2000" i="1">
                                <a:latin typeface="Cambria Math" panose="02040503050406030204" pitchFamily="18" charset="0"/>
                              </a:rPr>
                            </m:ctrlPr>
                          </m:mPr>
                          <m:mr>
                            <m:e>
                              <m:r>
                                <m:rPr>
                                  <m:brk m:alnAt="7"/>
                                </m:rPr>
                                <a:rPr lang="fr-CH" sz="2000" b="0" i="1">
                                  <a:latin typeface="Cambria Math" panose="02040503050406030204" pitchFamily="18" charset="0"/>
                                </a:rPr>
                                <m:t>𝑛</m:t>
                              </m:r>
                              <m:r>
                                <a:rPr lang="fr-CH" sz="2000" b="0" i="1">
                                  <a:latin typeface="Cambria Math" panose="02040503050406030204" pitchFamily="18" charset="0"/>
                                </a:rPr>
                                <m:t>+</m:t>
                              </m:r>
                              <m:r>
                                <a:rPr lang="fr-CH" sz="2000" b="0" i="1">
                                  <a:latin typeface="Cambria Math" panose="02040503050406030204" pitchFamily="18" charset="0"/>
                                </a:rPr>
                                <m:t>𝑘</m:t>
                              </m:r>
                              <m:r>
                                <a:rPr lang="fr-CH" sz="2000" b="0" i="1">
                                  <a:latin typeface="Cambria Math" panose="02040503050406030204" pitchFamily="18" charset="0"/>
                                </a:rPr>
                                <m:t>−1</m:t>
                              </m:r>
                            </m:e>
                          </m:mr>
                          <m:mr>
                            <m:e>
                              <m:r>
                                <a:rPr lang="fr-CH" sz="2000" i="1">
                                  <a:latin typeface="Cambria Math" panose="02040503050406030204" pitchFamily="18" charset="0"/>
                                </a:rPr>
                                <m:t>𝑘</m:t>
                              </m:r>
                            </m:e>
                          </m:mr>
                        </m:m>
                      </m:e>
                    </m:d>
                  </m:oMath>
                </a14:m>
                <a:endParaRPr lang="en-US" sz="2400"/>
              </a:p>
              <a:p>
                <a:r>
                  <a:rPr lang="en-US"/>
                  <a:t>Therefore</a:t>
                </a:r>
                <a:r>
                  <a:rPr lang="en-US" sz="2400"/>
                  <a:t> </a:t>
                </a:r>
                <a14:m>
                  <m:oMath xmlns:m="http://schemas.openxmlformats.org/officeDocument/2006/math">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a:rPr lang="fr-CH" sz="2400" i="1">
                                  <a:latin typeface="Cambria Math" panose="02040503050406030204" pitchFamily="18" charset="0"/>
                                </a:rPr>
                                <m:t>−</m:t>
                              </m:r>
                              <m:r>
                                <a:rPr lang="fr-CH" sz="2400" i="1">
                                  <a:latin typeface="Cambria Math" panose="02040503050406030204" pitchFamily="18" charset="0"/>
                                </a:rPr>
                                <m:t>𝑛</m:t>
                              </m:r>
                            </m:e>
                          </m:mr>
                          <m:mr>
                            <m:e>
                              <m:r>
                                <a:rPr lang="fr-CH" sz="2400" i="1">
                                  <a:latin typeface="Cambria Math" panose="02040503050406030204" pitchFamily="18" charset="0"/>
                                </a:rPr>
                                <m:t>𝑘</m:t>
                              </m:r>
                            </m:e>
                          </m:mr>
                        </m:m>
                      </m:e>
                    </m:d>
                    <m:sSup>
                      <m:sSupPr>
                        <m:ctrlPr>
                          <a:rPr lang="en-US" sz="2400" i="1">
                            <a:latin typeface="Cambria Math" panose="02040503050406030204" pitchFamily="18" charset="0"/>
                          </a:rPr>
                        </m:ctrlPr>
                      </m:sSupPr>
                      <m:e>
                        <m:r>
                          <a:rPr lang="fr-CH" sz="2400" i="1">
                            <a:latin typeface="Cambria Math" panose="02040503050406030204" pitchFamily="18" charset="0"/>
                          </a:rPr>
                          <m:t>(−1)</m:t>
                        </m:r>
                      </m:e>
                      <m:sup>
                        <m:r>
                          <a:rPr lang="fr-CH" sz="2400" i="1">
                            <a:latin typeface="Cambria Math" panose="02040503050406030204" pitchFamily="18" charset="0"/>
                          </a:rPr>
                          <m:t>𝑘</m:t>
                        </m:r>
                      </m:sup>
                    </m:sSup>
                    <m:r>
                      <a:rPr lang="fr-CH" sz="2400" b="0" i="0">
                        <a:latin typeface="Cambria Math" panose="02040503050406030204" pitchFamily="18" charset="0"/>
                      </a:rPr>
                      <m:t>=</m:t>
                    </m:r>
                  </m:oMath>
                </a14:m>
                <a:r>
                  <a:rPr lang="en-US" sz="2400"/>
                  <a:t> </a:t>
                </a:r>
                <a14:m>
                  <m:oMath xmlns:m="http://schemas.openxmlformats.org/officeDocument/2006/math">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fr-CH" sz="2400" i="1">
                                  <a:latin typeface="Cambria Math" panose="02040503050406030204" pitchFamily="18" charset="0"/>
                                </a:rPr>
                                <m:t>𝑛</m:t>
                              </m:r>
                              <m:r>
                                <a:rPr lang="fr-CH" sz="2400" i="1">
                                  <a:latin typeface="Cambria Math" panose="02040503050406030204" pitchFamily="18" charset="0"/>
                                </a:rPr>
                                <m:t>+</m:t>
                              </m:r>
                              <m:r>
                                <a:rPr lang="fr-CH" sz="2400" i="1">
                                  <a:latin typeface="Cambria Math" panose="02040503050406030204" pitchFamily="18" charset="0"/>
                                </a:rPr>
                                <m:t>𝑘</m:t>
                              </m:r>
                              <m:r>
                                <a:rPr lang="fr-CH" sz="2400" i="1">
                                  <a:latin typeface="Cambria Math" panose="02040503050406030204" pitchFamily="18" charset="0"/>
                                </a:rPr>
                                <m:t>−1</m:t>
                              </m:r>
                            </m:e>
                          </m:mr>
                          <m:mr>
                            <m:e>
                              <m:r>
                                <a:rPr lang="fr-CH" sz="2400" i="1">
                                  <a:latin typeface="Cambria Math" panose="02040503050406030204" pitchFamily="18" charset="0"/>
                                </a:rPr>
                                <m:t>𝑘</m:t>
                              </m:r>
                            </m:e>
                          </m:mr>
                        </m:m>
                      </m:e>
                    </m:d>
                  </m:oMath>
                </a14:m>
                <a:endParaRPr lang="en-US" sz="2400"/>
              </a:p>
            </p:txBody>
          </p:sp>
        </mc:Choice>
        <mc:Fallback xmlns="">
          <p:sp>
            <p:nvSpPr>
              <p:cNvPr id="3" name="Content Placeholder 2">
                <a:extLst>
                  <a:ext uri="{FF2B5EF4-FFF2-40B4-BE49-F238E27FC236}">
                    <a16:creationId xmlns:a16="http://schemas.microsoft.com/office/drawing/2014/main" id="{9AEA8DFB-89A4-A542-AD23-98D6A7D54E73}"/>
                  </a:ext>
                </a:extLst>
              </p:cNvPr>
              <p:cNvSpPr>
                <a:spLocks noGrp="1" noRot="1" noChangeAspect="1" noMove="1" noResize="1" noEditPoints="1" noAdjustHandles="1" noChangeArrowheads="1" noChangeShapeType="1" noTextEdit="1"/>
              </p:cNvSpPr>
              <p:nvPr>
                <p:ph idx="1"/>
              </p:nvPr>
            </p:nvSpPr>
            <p:spPr>
              <a:blipFill>
                <a:blip r:embed="rId2"/>
                <a:stretch>
                  <a:fillRect l="-965" t="-292"/>
                </a:stretch>
              </a:blipFill>
            </p:spPr>
            <p:txBody>
              <a:bodyPr/>
              <a:lstStyle/>
              <a:p>
                <a:r>
                  <a:rPr lang="en-US">
                    <a:noFill/>
                  </a:rPr>
                  <a:t> </a:t>
                </a:r>
              </a:p>
            </p:txBody>
          </p:sp>
        </mc:Fallback>
      </mc:AlternateContent>
    </p:spTree>
    <p:extLst>
      <p:ext uri="{BB962C8B-B14F-4D97-AF65-F5344CB8AC3E}">
        <p14:creationId xmlns:p14="http://schemas.microsoft.com/office/powerpoint/2010/main" val="22161172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A253C-A931-EF4A-8D4E-434B70B4336F}"/>
              </a:ext>
            </a:extLst>
          </p:cNvPr>
          <p:cNvSpPr>
            <a:spLocks noGrp="1"/>
          </p:cNvSpPr>
          <p:nvPr>
            <p:ph type="title"/>
          </p:nvPr>
        </p:nvSpPr>
        <p:spPr/>
        <p:txBody>
          <a:bodyPr/>
          <a:lstStyle/>
          <a:p>
            <a:r>
              <a:rPr lang="en-US"/>
              <a:t>Summary</a:t>
            </a:r>
          </a:p>
        </p:txBody>
      </p:sp>
      <p:sp>
        <p:nvSpPr>
          <p:cNvPr id="3" name="Content Placeholder 2">
            <a:extLst>
              <a:ext uri="{FF2B5EF4-FFF2-40B4-BE49-F238E27FC236}">
                <a16:creationId xmlns:a16="http://schemas.microsoft.com/office/drawing/2014/main" id="{D9496F00-75E2-0F40-B516-2279025891E7}"/>
              </a:ext>
            </a:extLst>
          </p:cNvPr>
          <p:cNvSpPr>
            <a:spLocks noGrp="1"/>
          </p:cNvSpPr>
          <p:nvPr>
            <p:ph idx="1"/>
          </p:nvPr>
        </p:nvSpPr>
        <p:spPr/>
        <p:txBody>
          <a:bodyPr/>
          <a:lstStyle/>
          <a:p>
            <a:r>
              <a:rPr lang="en-US"/>
              <a:t>Counting combinations with generating functions</a:t>
            </a:r>
          </a:p>
          <a:p>
            <a:r>
              <a:rPr lang="en-US"/>
              <a:t>Extended Binomial Theorem</a:t>
            </a:r>
          </a:p>
          <a:p>
            <a:r>
              <a:rPr lang="en-US"/>
              <a:t>Counting Combinations with Repetition with generating functions</a:t>
            </a:r>
          </a:p>
        </p:txBody>
      </p:sp>
    </p:spTree>
    <p:extLst>
      <p:ext uri="{BB962C8B-B14F-4D97-AF65-F5344CB8AC3E}">
        <p14:creationId xmlns:p14="http://schemas.microsoft.com/office/powerpoint/2010/main" val="29524094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Inclusion-Exclusion</a:t>
            </a:r>
          </a:p>
        </p:txBody>
      </p:sp>
      <p:sp>
        <p:nvSpPr>
          <p:cNvPr id="3" name="Subtitle 2"/>
          <p:cNvSpPr>
            <a:spLocks noGrp="1"/>
          </p:cNvSpPr>
          <p:nvPr>
            <p:ph type="subTitle" idx="1"/>
          </p:nvPr>
        </p:nvSpPr>
        <p:spPr/>
        <p:txBody>
          <a:bodyPr/>
          <a:lstStyle/>
          <a:p>
            <a:r>
              <a:rPr lang="en-US" dirty="0"/>
              <a:t>Section </a:t>
            </a:r>
            <a:r>
              <a:rPr lang="en-US" dirty="0">
                <a:latin typeface="Cambria Math" pitchFamily="18" charset="0"/>
                <a:ea typeface="Cambria Math" pitchFamily="18" charset="0"/>
              </a:rPr>
              <a:t>8.5</a:t>
            </a:r>
          </a:p>
        </p:txBody>
      </p:sp>
    </p:spTree>
    <p:extLst>
      <p:ext uri="{BB962C8B-B14F-4D97-AF65-F5344CB8AC3E}">
        <p14:creationId xmlns:p14="http://schemas.microsoft.com/office/powerpoint/2010/main" val="37955038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Video 71: Inclusion-Exclusion</a:t>
            </a:r>
          </a:p>
        </p:txBody>
      </p:sp>
      <p:sp>
        <p:nvSpPr>
          <p:cNvPr id="3" name="Content Placeholder 2"/>
          <p:cNvSpPr>
            <a:spLocks noGrp="1"/>
          </p:cNvSpPr>
          <p:nvPr>
            <p:ph idx="1"/>
          </p:nvPr>
        </p:nvSpPr>
        <p:spPr/>
        <p:txBody>
          <a:bodyPr>
            <a:normAutofit/>
          </a:bodyPr>
          <a:lstStyle/>
          <a:p>
            <a:r>
              <a:rPr lang="en-US" dirty="0"/>
              <a:t>The Principle of Inclusion-Exclusion</a:t>
            </a:r>
          </a:p>
          <a:p>
            <a:r>
              <a:rPr lang="en-US" dirty="0"/>
              <a:t>Examples</a:t>
            </a:r>
          </a:p>
        </p:txBody>
      </p:sp>
    </p:spTree>
    <p:extLst>
      <p:ext uri="{BB962C8B-B14F-4D97-AF65-F5344CB8AC3E}">
        <p14:creationId xmlns:p14="http://schemas.microsoft.com/office/powerpoint/2010/main" val="59567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A2544-5444-E841-A30A-FACEF28C48D9}"/>
              </a:ext>
            </a:extLst>
          </p:cNvPr>
          <p:cNvSpPr>
            <a:spLocks noGrp="1"/>
          </p:cNvSpPr>
          <p:nvPr>
            <p:ph type="title"/>
          </p:nvPr>
        </p:nvSpPr>
        <p:spPr/>
        <p:txBody>
          <a:bodyPr/>
          <a:lstStyle/>
          <a:p>
            <a:r>
              <a:rPr lang="en-US" dirty="0"/>
              <a:t>Principle of Inclusion-Exclusion</a:t>
            </a: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220DB4-A9E6-7041-9B09-BCC8FDF7370F}"/>
                  </a:ext>
                </a:extLst>
              </p:cNvPr>
              <p:cNvSpPr>
                <a:spLocks noGrp="1"/>
              </p:cNvSpPr>
              <p:nvPr>
                <p:ph idx="1"/>
              </p:nvPr>
            </p:nvSpPr>
            <p:spPr/>
            <p:txBody>
              <a:bodyPr/>
              <a:lstStyle/>
              <a:p>
                <a:pPr marL="0" indent="0">
                  <a:buNone/>
                </a:pPr>
                <a:r>
                  <a:rPr lang="en-US"/>
                  <a:t>We have shown that for finite sets A and B</a:t>
                </a:r>
              </a:p>
              <a:p>
                <a:pPr marL="0" indent="0">
                  <a:buNone/>
                </a:pPr>
                <a:endParaRPr lang="en-US"/>
              </a:p>
              <a:p>
                <a:pPr marL="0" indent="0">
                  <a:buNone/>
                </a:pPr>
                <a:endParaRPr lang="en-US"/>
              </a:p>
              <a:p>
                <a:pPr marL="0" indent="0">
                  <a:buNone/>
                </a:pPr>
                <a:r>
                  <a:rPr lang="en-US" sz="2400" b="1"/>
                  <a:t>Example</a:t>
                </a:r>
                <a:r>
                  <a:rPr lang="en-US" sz="2400"/>
                  <a:t>: How many positive integers less or equal 1000 are divisible by 7 or 11?</a:t>
                </a:r>
              </a:p>
              <a:p>
                <a:pPr marL="0" indent="0">
                  <a:buNone/>
                </a:pPr>
                <a:r>
                  <a:rPr lang="en-US" sz="2400"/>
                  <a:t>For integer </a:t>
                </a:r>
                <a14:m>
                  <m:oMath xmlns:m="http://schemas.openxmlformats.org/officeDocument/2006/math">
                    <m:r>
                      <a:rPr lang="en-US" sz="2400" i="1">
                        <a:latin typeface="Cambria Math" panose="02040503050406030204" pitchFamily="18" charset="0"/>
                      </a:rPr>
                      <m:t>𝑛</m:t>
                    </m:r>
                  </m:oMath>
                </a14:m>
                <a:r>
                  <a:rPr lang="en-US" sz="2400"/>
                  <a:t> are </a:t>
                </a:r>
                <a14:m>
                  <m:oMath xmlns:m="http://schemas.openxmlformats.org/officeDocument/2006/math">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fr-CH" sz="2400" i="1">
                                <a:latin typeface="Cambria Math" panose="02040503050406030204" pitchFamily="18" charset="0"/>
                              </a:rPr>
                              <m:t>1000</m:t>
                            </m:r>
                          </m:num>
                          <m:den>
                            <m:r>
                              <a:rPr lang="fr-CH" sz="2400" b="0" i="1">
                                <a:latin typeface="Cambria Math" panose="02040503050406030204" pitchFamily="18" charset="0"/>
                              </a:rPr>
                              <m:t>𝑛</m:t>
                            </m:r>
                          </m:den>
                        </m:f>
                      </m:e>
                    </m:d>
                  </m:oMath>
                </a14:m>
                <a:r>
                  <a:rPr lang="en-US" sz="2400"/>
                  <a:t> integers less or equal 1000 divisible by </a:t>
                </a:r>
                <a14:m>
                  <m:oMath xmlns:m="http://schemas.openxmlformats.org/officeDocument/2006/math">
                    <m:r>
                      <a:rPr lang="en-US" sz="2400" i="1">
                        <a:latin typeface="Cambria Math" panose="02040503050406030204" pitchFamily="18" charset="0"/>
                      </a:rPr>
                      <m:t>𝑛</m:t>
                    </m:r>
                  </m:oMath>
                </a14:m>
                <a:endParaRPr lang="en-US" sz="2400"/>
              </a:p>
              <a:p>
                <a:pPr marL="0" indent="0">
                  <a:buNone/>
                </a:pPr>
                <a:r>
                  <a:rPr lang="en-US" sz="2400"/>
                  <a:t>Therefore </a:t>
                </a:r>
                <a14:m>
                  <m:oMath xmlns:m="http://schemas.openxmlformats.org/officeDocument/2006/math">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fr-CH" sz="2400" i="1">
                                <a:latin typeface="Cambria Math" panose="02040503050406030204" pitchFamily="18" charset="0"/>
                              </a:rPr>
                              <m:t>1000</m:t>
                            </m:r>
                          </m:num>
                          <m:den>
                            <m:r>
                              <a:rPr lang="fr-CH" sz="2400" b="0" i="1">
                                <a:latin typeface="Cambria Math" panose="02040503050406030204" pitchFamily="18" charset="0"/>
                              </a:rPr>
                              <m:t>7</m:t>
                            </m:r>
                          </m:den>
                        </m:f>
                      </m:e>
                    </m:d>
                    <m:r>
                      <a:rPr lang="fr-CH" sz="2400" b="0" i="0">
                        <a:latin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fr-CH" sz="2400" i="1">
                                <a:latin typeface="Cambria Math" panose="02040503050406030204" pitchFamily="18" charset="0"/>
                              </a:rPr>
                              <m:t>1000</m:t>
                            </m:r>
                          </m:num>
                          <m:den>
                            <m:r>
                              <a:rPr lang="fr-CH" sz="2400" b="0" i="1">
                                <a:latin typeface="Cambria Math" panose="02040503050406030204" pitchFamily="18" charset="0"/>
                              </a:rPr>
                              <m:t>11</m:t>
                            </m:r>
                          </m:den>
                        </m:f>
                      </m:e>
                    </m:d>
                    <m:r>
                      <a:rPr lang="fr-CH" sz="2400" b="0" i="1">
                        <a:latin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fr-CH" sz="2400" i="1">
                                <a:latin typeface="Cambria Math" panose="02040503050406030204" pitchFamily="18" charset="0"/>
                              </a:rPr>
                              <m:t>1000</m:t>
                            </m:r>
                          </m:num>
                          <m:den>
                            <m:r>
                              <a:rPr lang="fr-CH" sz="2400" b="0" i="1">
                                <a:latin typeface="Cambria Math" panose="02040503050406030204" pitchFamily="18" charset="0"/>
                              </a:rPr>
                              <m:t>7</m:t>
                            </m:r>
                            <m:r>
                              <a:rPr lang="fr-CH" sz="2400" b="0" i="1">
                                <a:latin typeface="Cambria Math" panose="02040503050406030204" pitchFamily="18" charset="0"/>
                                <a:ea typeface="Cambria Math" panose="02040503050406030204" pitchFamily="18" charset="0"/>
                              </a:rPr>
                              <m:t>∙11</m:t>
                            </m:r>
                          </m:den>
                        </m:f>
                      </m:e>
                    </m:d>
                    <m:r>
                      <a:rPr lang="fr-CH" sz="2400" b="0" i="0">
                        <a:latin typeface="Cambria Math" panose="02040503050406030204" pitchFamily="18" charset="0"/>
                      </a:rPr>
                      <m:t>=142+90−12=220</m:t>
                    </m:r>
                  </m:oMath>
                </a14:m>
                <a:r>
                  <a:rPr lang="en-US" sz="2400"/>
                  <a:t> integers less or equal 1000 are divisible by 7 or 11.</a:t>
                </a:r>
              </a:p>
            </p:txBody>
          </p:sp>
        </mc:Choice>
        <mc:Fallback xmlns="">
          <p:sp>
            <p:nvSpPr>
              <p:cNvPr id="3" name="Content Placeholder 2">
                <a:extLst>
                  <a:ext uri="{FF2B5EF4-FFF2-40B4-BE49-F238E27FC236}">
                    <a16:creationId xmlns:a16="http://schemas.microsoft.com/office/drawing/2014/main" id="{E9220DB4-A9E6-7041-9B09-BCC8FDF7370F}"/>
                  </a:ext>
                </a:extLst>
              </p:cNvPr>
              <p:cNvSpPr>
                <a:spLocks noGrp="1" noRot="1" noChangeAspect="1" noMove="1" noResize="1" noEditPoints="1" noAdjustHandles="1" noChangeArrowheads="1" noChangeShapeType="1" noTextEdit="1"/>
              </p:cNvSpPr>
              <p:nvPr>
                <p:ph idx="1"/>
              </p:nvPr>
            </p:nvSpPr>
            <p:spPr>
              <a:blipFill>
                <a:blip r:embed="rId3"/>
                <a:stretch>
                  <a:fillRect l="-1086" t="-2632"/>
                </a:stretch>
              </a:blipFill>
            </p:spPr>
            <p:txBody>
              <a:bodyPr/>
              <a:lstStyle/>
              <a:p>
                <a:r>
                  <a:rPr lang="en-US">
                    <a:noFill/>
                  </a:rPr>
                  <a:t> </a:t>
                </a:r>
              </a:p>
            </p:txBody>
          </p:sp>
        </mc:Fallback>
      </mc:AlternateContent>
      <p:pic>
        <p:nvPicPr>
          <p:cNvPr id="4" name="Picture 3" descr="addin_tmp.png">
            <a:extLst>
              <a:ext uri="{FF2B5EF4-FFF2-40B4-BE49-F238E27FC236}">
                <a16:creationId xmlns:a16="http://schemas.microsoft.com/office/drawing/2014/main" id="{A26BD35E-B1F8-1249-A155-09CDBE8E670E}"/>
              </a:ext>
            </a:extLst>
          </p:cNvPr>
          <p:cNvPicPr>
            <a:picLocks noChangeAspect="1"/>
          </p:cNvPicPr>
          <p:nvPr>
            <p:custDataLst>
              <p:tags r:id="rId1"/>
            </p:custDataLst>
          </p:nvPr>
        </p:nvPicPr>
        <p:blipFill>
          <a:blip r:embed="rId4" cstate="print"/>
          <a:stretch>
            <a:fillRect/>
          </a:stretch>
        </p:blipFill>
        <p:spPr>
          <a:xfrm>
            <a:off x="3450899" y="2560634"/>
            <a:ext cx="4812030" cy="380048"/>
          </a:xfrm>
          <a:prstGeom prst="rect">
            <a:avLst/>
          </a:prstGeom>
        </p:spPr>
      </p:pic>
      <p:pic>
        <p:nvPicPr>
          <p:cNvPr id="6" name="Picture 5">
            <a:extLst>
              <a:ext uri="{FF2B5EF4-FFF2-40B4-BE49-F238E27FC236}">
                <a16:creationId xmlns:a16="http://schemas.microsoft.com/office/drawing/2014/main" id="{2B654B43-4E83-5245-939A-3E6ABC58F48F}"/>
              </a:ext>
            </a:extLst>
          </p:cNvPr>
          <p:cNvPicPr>
            <a:picLocks noChangeAspect="1"/>
          </p:cNvPicPr>
          <p:nvPr/>
        </p:nvPicPr>
        <p:blipFill>
          <a:blip r:embed="rId5"/>
          <a:stretch>
            <a:fillRect/>
          </a:stretch>
        </p:blipFill>
        <p:spPr>
          <a:xfrm>
            <a:off x="8262929" y="5044785"/>
            <a:ext cx="2697726" cy="1740468"/>
          </a:xfrm>
          <a:prstGeom prst="rect">
            <a:avLst/>
          </a:prstGeom>
        </p:spPr>
      </p:pic>
    </p:spTree>
    <p:extLst>
      <p:ext uri="{BB962C8B-B14F-4D97-AF65-F5344CB8AC3E}">
        <p14:creationId xmlns:p14="http://schemas.microsoft.com/office/powerpoint/2010/main" val="15260334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Finite Sets</a:t>
            </a:r>
          </a:p>
        </p:txBody>
      </p:sp>
      <p:pic>
        <p:nvPicPr>
          <p:cNvPr id="10" name="Picture 9" descr="addin_tmp.png"/>
          <p:cNvPicPr>
            <a:picLocks noChangeAspect="1"/>
          </p:cNvPicPr>
          <p:nvPr>
            <p:custDataLst>
              <p:tags r:id="rId1"/>
            </p:custDataLst>
          </p:nvPr>
        </p:nvPicPr>
        <p:blipFill>
          <a:blip r:embed="rId4" cstate="print"/>
          <a:stretch>
            <a:fillRect/>
          </a:stretch>
        </p:blipFill>
        <p:spPr>
          <a:xfrm>
            <a:off x="1069656" y="2319337"/>
            <a:ext cx="9835799" cy="379617"/>
          </a:xfrm>
          <a:prstGeom prst="rect">
            <a:avLst/>
          </a:prstGeom>
        </p:spPr>
      </p:pic>
      <p:pic>
        <p:nvPicPr>
          <p:cNvPr id="9" name="Picture 8" descr="addin_tmp.png"/>
          <p:cNvPicPr>
            <a:picLocks noChangeAspect="1"/>
          </p:cNvPicPr>
          <p:nvPr>
            <p:custDataLst>
              <p:tags r:id="rId2"/>
            </p:custDataLst>
          </p:nvPr>
        </p:nvPicPr>
        <p:blipFill>
          <a:blip r:embed="rId5" cstate="print"/>
          <a:stretch>
            <a:fillRect/>
          </a:stretch>
        </p:blipFill>
        <p:spPr>
          <a:xfrm>
            <a:off x="1069657" y="1685687"/>
            <a:ext cx="2280285" cy="380048"/>
          </a:xfrm>
          <a:prstGeom prst="rect">
            <a:avLst/>
          </a:prstGeom>
        </p:spPr>
      </p:pic>
      <p:pic>
        <p:nvPicPr>
          <p:cNvPr id="5" name="Content Placeholder 3" descr="0709.jpg"/>
          <p:cNvPicPr>
            <a:picLocks noGrp="1" noChangeAspect="1"/>
          </p:cNvPicPr>
          <p:nvPr>
            <p:ph idx="1"/>
          </p:nvPr>
        </p:nvPicPr>
        <p:blipFill>
          <a:blip r:embed="rId6" cstate="print"/>
          <a:stretch>
            <a:fillRect/>
          </a:stretch>
        </p:blipFill>
        <p:spPr>
          <a:xfrm>
            <a:off x="1550140" y="3075039"/>
            <a:ext cx="8434518" cy="3361226"/>
          </a:xfrm>
        </p:spPr>
      </p:pic>
    </p:spTree>
    <p:extLst>
      <p:ext uri="{BB962C8B-B14F-4D97-AF65-F5344CB8AC3E}">
        <p14:creationId xmlns:p14="http://schemas.microsoft.com/office/powerpoint/2010/main" val="28195685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B6E04-2EBF-0049-9C55-062CD2D25EB0}"/>
              </a:ext>
            </a:extLst>
          </p:cNvPr>
          <p:cNvSpPr>
            <a:spLocks noGrp="1"/>
          </p:cNvSpPr>
          <p:nvPr>
            <p:ph type="title"/>
          </p:nvPr>
        </p:nvSpPr>
        <p:spPr/>
        <p:txBody>
          <a:bodyPr/>
          <a:lstStyle/>
          <a:p>
            <a:r>
              <a:rPr lang="en-US"/>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042189-EBE8-2741-875E-2C40FCFF5B84}"/>
                  </a:ext>
                </a:extLst>
              </p:cNvPr>
              <p:cNvSpPr>
                <a:spLocks noGrp="1"/>
              </p:cNvSpPr>
              <p:nvPr>
                <p:ph idx="1"/>
              </p:nvPr>
            </p:nvSpPr>
            <p:spPr>
              <a:xfrm>
                <a:off x="838199" y="1825625"/>
                <a:ext cx="10990007" cy="4351338"/>
              </a:xfrm>
            </p:spPr>
            <p:txBody>
              <a:bodyPr>
                <a:normAutofit/>
              </a:bodyPr>
              <a:lstStyle/>
              <a:p>
                <a:pPr marL="0" indent="0">
                  <a:buNone/>
                </a:pPr>
                <a:r>
                  <a:rPr lang="en-US"/>
                  <a:t>How many positive integers less or equal 1000 are divisible by 5, 7, or 11?</a:t>
                </a:r>
              </a:p>
              <a:p>
                <a:pPr marL="0" indent="0">
                  <a:buNone/>
                </a:pPr>
                <a:endParaRPr lang="en-US" i="1">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fr-CH" sz="2400" i="1">
                                  <a:latin typeface="Cambria Math" panose="02040503050406030204" pitchFamily="18" charset="0"/>
                                </a:rPr>
                                <m:t>1000</m:t>
                              </m:r>
                            </m:num>
                            <m:den>
                              <m:r>
                                <a:rPr lang="fr-CH" sz="2400" b="0" i="1">
                                  <a:latin typeface="Cambria Math" panose="02040503050406030204" pitchFamily="18" charset="0"/>
                                </a:rPr>
                                <m:t>5</m:t>
                              </m:r>
                            </m:den>
                          </m:f>
                        </m:e>
                      </m:d>
                      <m:r>
                        <a:rPr lang="fr-CH" sz="2400">
                          <a:latin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fr-CH" sz="2400" i="1">
                                  <a:latin typeface="Cambria Math" panose="02040503050406030204" pitchFamily="18" charset="0"/>
                                </a:rPr>
                                <m:t>1000</m:t>
                              </m:r>
                            </m:num>
                            <m:den>
                              <m:r>
                                <a:rPr lang="fr-CH" sz="2400" b="0" i="1">
                                  <a:latin typeface="Cambria Math" panose="02040503050406030204" pitchFamily="18" charset="0"/>
                                </a:rPr>
                                <m:t>7</m:t>
                              </m:r>
                            </m:den>
                          </m:f>
                        </m:e>
                      </m:d>
                      <m:r>
                        <a:rPr lang="fr-CH" sz="2400">
                          <a:latin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fr-CH" sz="2400" i="1">
                                  <a:latin typeface="Cambria Math" panose="02040503050406030204" pitchFamily="18" charset="0"/>
                                </a:rPr>
                                <m:t>1000</m:t>
                              </m:r>
                            </m:num>
                            <m:den>
                              <m:r>
                                <a:rPr lang="fr-CH" sz="2400" i="1">
                                  <a:latin typeface="Cambria Math" panose="02040503050406030204" pitchFamily="18" charset="0"/>
                                </a:rPr>
                                <m:t>1</m:t>
                              </m:r>
                              <m:r>
                                <a:rPr lang="fr-CH" sz="2400" b="0" i="1">
                                  <a:latin typeface="Cambria Math" panose="02040503050406030204" pitchFamily="18" charset="0"/>
                                </a:rPr>
                                <m:t>1</m:t>
                              </m:r>
                            </m:den>
                          </m:f>
                        </m:e>
                      </m:d>
                      <m:r>
                        <a:rPr lang="fr-CH" sz="2400" i="1">
                          <a:latin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fr-CH" sz="2400" i="1">
                                  <a:latin typeface="Cambria Math" panose="02040503050406030204" pitchFamily="18" charset="0"/>
                                </a:rPr>
                                <m:t>1000</m:t>
                              </m:r>
                            </m:num>
                            <m:den>
                              <m:r>
                                <a:rPr lang="fr-CH" sz="2400" b="0" i="1">
                                  <a:latin typeface="Cambria Math" panose="02040503050406030204" pitchFamily="18" charset="0"/>
                                </a:rPr>
                                <m:t>5</m:t>
                              </m:r>
                              <m:r>
                                <a:rPr lang="fr-CH" sz="2400" i="1">
                                  <a:latin typeface="Cambria Math" panose="02040503050406030204" pitchFamily="18" charset="0"/>
                                  <a:ea typeface="Cambria Math" panose="02040503050406030204" pitchFamily="18" charset="0"/>
                                </a:rPr>
                                <m:t>∙7</m:t>
                              </m:r>
                            </m:den>
                          </m:f>
                        </m:e>
                      </m:d>
                      <m:r>
                        <a:rPr lang="fr-CH" sz="2400" i="1">
                          <a:latin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fr-CH" sz="2400" i="1">
                                  <a:latin typeface="Cambria Math" panose="02040503050406030204" pitchFamily="18" charset="0"/>
                                </a:rPr>
                                <m:t>1000</m:t>
                              </m:r>
                            </m:num>
                            <m:den>
                              <m:r>
                                <a:rPr lang="fr-CH" sz="2400" b="0" i="1">
                                  <a:latin typeface="Cambria Math" panose="02040503050406030204" pitchFamily="18" charset="0"/>
                                </a:rPr>
                                <m:t>5</m:t>
                              </m:r>
                              <m:r>
                                <a:rPr lang="fr-CH" sz="2400" i="1">
                                  <a:latin typeface="Cambria Math" panose="02040503050406030204" pitchFamily="18" charset="0"/>
                                  <a:ea typeface="Cambria Math" panose="02040503050406030204" pitchFamily="18" charset="0"/>
                                </a:rPr>
                                <m:t>∙</m:t>
                              </m:r>
                              <m:r>
                                <a:rPr lang="fr-CH" sz="2400" b="0" i="1">
                                  <a:latin typeface="Cambria Math" panose="02040503050406030204" pitchFamily="18" charset="0"/>
                                  <a:ea typeface="Cambria Math" panose="02040503050406030204" pitchFamily="18" charset="0"/>
                                </a:rPr>
                                <m:t>11</m:t>
                              </m:r>
                            </m:den>
                          </m:f>
                        </m:e>
                      </m:d>
                      <m:r>
                        <a:rPr lang="fr-CH" sz="2400" i="1">
                          <a:latin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fr-CH" sz="2400" i="1">
                                  <a:latin typeface="Cambria Math" panose="02040503050406030204" pitchFamily="18" charset="0"/>
                                </a:rPr>
                                <m:t>1000</m:t>
                              </m:r>
                            </m:num>
                            <m:den>
                              <m:r>
                                <a:rPr lang="fr-CH" sz="2400" b="0" i="1">
                                  <a:latin typeface="Cambria Math" panose="02040503050406030204" pitchFamily="18" charset="0"/>
                                </a:rPr>
                                <m:t>7</m:t>
                              </m:r>
                              <m:r>
                                <a:rPr lang="fr-CH" sz="2400" i="1">
                                  <a:latin typeface="Cambria Math" panose="02040503050406030204" pitchFamily="18" charset="0"/>
                                  <a:ea typeface="Cambria Math" panose="02040503050406030204" pitchFamily="18" charset="0"/>
                                </a:rPr>
                                <m:t>∙</m:t>
                              </m:r>
                              <m:r>
                                <a:rPr lang="fr-CH" sz="2400" b="0" i="1">
                                  <a:latin typeface="Cambria Math" panose="02040503050406030204" pitchFamily="18" charset="0"/>
                                  <a:ea typeface="Cambria Math" panose="02040503050406030204" pitchFamily="18" charset="0"/>
                                </a:rPr>
                                <m:t>11</m:t>
                              </m:r>
                            </m:den>
                          </m:f>
                        </m:e>
                      </m:d>
                      <m:r>
                        <a:rPr lang="fr-CH" sz="2400" b="0" i="1">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fr-CH" sz="2400" i="1">
                                  <a:latin typeface="Cambria Math" panose="02040503050406030204" pitchFamily="18" charset="0"/>
                                </a:rPr>
                                <m:t>1000</m:t>
                              </m:r>
                            </m:num>
                            <m:den>
                              <m:r>
                                <a:rPr lang="fr-CH" sz="2400" b="0" i="1">
                                  <a:latin typeface="Cambria Math" panose="02040503050406030204" pitchFamily="18" charset="0"/>
                                </a:rPr>
                                <m:t>5</m:t>
                              </m:r>
                              <m:r>
                                <a:rPr lang="fr-CH" sz="2400" i="1">
                                  <a:latin typeface="Cambria Math" panose="02040503050406030204" pitchFamily="18" charset="0"/>
                                  <a:ea typeface="Cambria Math" panose="02040503050406030204" pitchFamily="18" charset="0"/>
                                </a:rPr>
                                <m:t>∙</m:t>
                              </m:r>
                              <m:r>
                                <a:rPr lang="fr-CH" sz="2400" b="0" i="1">
                                  <a:latin typeface="Cambria Math" panose="02040503050406030204" pitchFamily="18" charset="0"/>
                                </a:rPr>
                                <m:t>7</m:t>
                              </m:r>
                              <m:r>
                                <a:rPr lang="fr-CH" sz="2400" i="1">
                                  <a:latin typeface="Cambria Math" panose="02040503050406030204" pitchFamily="18" charset="0"/>
                                  <a:ea typeface="Cambria Math" panose="02040503050406030204" pitchFamily="18" charset="0"/>
                                </a:rPr>
                                <m:t>∙</m:t>
                              </m:r>
                              <m:r>
                                <a:rPr lang="fr-CH" sz="2400" i="1">
                                  <a:latin typeface="Cambria Math" panose="02040503050406030204" pitchFamily="18" charset="0"/>
                                </a:rPr>
                                <m:t>11</m:t>
                              </m:r>
                            </m:den>
                          </m:f>
                        </m:e>
                      </m:d>
                      <m:r>
                        <a:rPr lang="fr-CH" sz="2400">
                          <a:latin typeface="Cambria Math" panose="02040503050406030204" pitchFamily="18" charset="0"/>
                        </a:rPr>
                        <m:t>=</m:t>
                      </m:r>
                    </m:oMath>
                  </m:oMathPara>
                </a14:m>
                <a:endParaRPr lang="fr-CH" sz="2400">
                  <a:latin typeface="Cambria Math" panose="02040503050406030204" pitchFamily="18" charset="0"/>
                </a:endParaRPr>
              </a:p>
              <a:p>
                <a:pPr marL="0" indent="0">
                  <a:buNone/>
                </a:pPr>
                <a:br>
                  <a:rPr lang="fr-CH" sz="2400" b="0" i="0">
                    <a:latin typeface="Cambria Math" panose="02040503050406030204" pitchFamily="18" charset="0"/>
                  </a:rPr>
                </a:br>
                <a14:m>
                  <m:oMath xmlns:m="http://schemas.openxmlformats.org/officeDocument/2006/math">
                    <m:r>
                      <a:rPr lang="fr-CH" sz="2400" b="0" i="0">
                        <a:latin typeface="Cambria Math" panose="02040503050406030204" pitchFamily="18" charset="0"/>
                      </a:rPr>
                      <m:t>=200+</m:t>
                    </m:r>
                    <m:r>
                      <a:rPr lang="fr-CH" sz="2400">
                        <a:latin typeface="Cambria Math" panose="02040503050406030204" pitchFamily="18" charset="0"/>
                      </a:rPr>
                      <m:t>142+90−</m:t>
                    </m:r>
                    <m:r>
                      <a:rPr lang="fr-CH" sz="2400" b="0" i="0">
                        <a:latin typeface="Cambria Math" panose="02040503050406030204" pitchFamily="18" charset="0"/>
                      </a:rPr>
                      <m:t>28−18−12+2</m:t>
                    </m:r>
                    <m:r>
                      <a:rPr lang="fr-CH" sz="2400">
                        <a:latin typeface="Cambria Math" panose="02040503050406030204" pitchFamily="18" charset="0"/>
                      </a:rPr>
                      <m:t>=</m:t>
                    </m:r>
                    <m:r>
                      <a:rPr lang="fr-CH" sz="2400" b="0" i="0">
                        <a:latin typeface="Cambria Math" panose="02040503050406030204" pitchFamily="18" charset="0"/>
                      </a:rPr>
                      <m:t>372</m:t>
                    </m:r>
                  </m:oMath>
                </a14:m>
                <a:r>
                  <a:rPr lang="en-US" sz="2400"/>
                  <a:t> </a:t>
                </a:r>
              </a:p>
              <a:p>
                <a:pPr marL="0" indent="0">
                  <a:buNone/>
                </a:pPr>
                <a:endParaRPr lang="en-US"/>
              </a:p>
              <a:p>
                <a:pPr marL="0" indent="0">
                  <a:buNone/>
                </a:pPr>
                <a:r>
                  <a:rPr lang="en-US"/>
                  <a:t>integers less or equal 1000 are divisible by 5, 7, or 11</a:t>
                </a:r>
              </a:p>
              <a:p>
                <a:endParaRPr lang="en-US"/>
              </a:p>
            </p:txBody>
          </p:sp>
        </mc:Choice>
        <mc:Fallback xmlns="">
          <p:sp>
            <p:nvSpPr>
              <p:cNvPr id="3" name="Content Placeholder 2">
                <a:extLst>
                  <a:ext uri="{FF2B5EF4-FFF2-40B4-BE49-F238E27FC236}">
                    <a16:creationId xmlns:a16="http://schemas.microsoft.com/office/drawing/2014/main" id="{4A042189-EBE8-2741-875E-2C40FCFF5B84}"/>
                  </a:ext>
                </a:extLst>
              </p:cNvPr>
              <p:cNvSpPr>
                <a:spLocks noGrp="1" noRot="1" noChangeAspect="1" noMove="1" noResize="1" noEditPoints="1" noAdjustHandles="1" noChangeArrowheads="1" noChangeShapeType="1" noTextEdit="1"/>
              </p:cNvSpPr>
              <p:nvPr>
                <p:ph idx="1"/>
              </p:nvPr>
            </p:nvSpPr>
            <p:spPr>
              <a:xfrm>
                <a:off x="838199" y="1825625"/>
                <a:ext cx="10990007" cy="4351338"/>
              </a:xfrm>
              <a:blipFill>
                <a:blip r:embed="rId2"/>
                <a:stretch>
                  <a:fillRect l="-1039" t="-2632"/>
                </a:stretch>
              </a:blipFill>
            </p:spPr>
            <p:txBody>
              <a:bodyPr/>
              <a:lstStyle/>
              <a:p>
                <a:r>
                  <a:rPr lang="en-US">
                    <a:noFill/>
                  </a:rPr>
                  <a:t> </a:t>
                </a:r>
              </a:p>
            </p:txBody>
          </p:sp>
        </mc:Fallback>
      </mc:AlternateContent>
    </p:spTree>
    <p:extLst>
      <p:ext uri="{BB962C8B-B14F-4D97-AF65-F5344CB8AC3E}">
        <p14:creationId xmlns:p14="http://schemas.microsoft.com/office/powerpoint/2010/main" val="26302138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Principle of Inclusion-Exclusion</a:t>
            </a:r>
          </a:p>
        </p:txBody>
      </p:sp>
      <p:sp>
        <p:nvSpPr>
          <p:cNvPr id="3" name="Content Placeholder 2"/>
          <p:cNvSpPr>
            <a:spLocks noGrp="1"/>
          </p:cNvSpPr>
          <p:nvPr>
            <p:ph idx="1"/>
          </p:nvPr>
        </p:nvSpPr>
        <p:spPr/>
        <p:txBody>
          <a:bodyPr/>
          <a:lstStyle/>
          <a:p>
            <a:pPr>
              <a:buNone/>
            </a:pPr>
            <a:r>
              <a:rPr lang="en-US" b="1" dirty="0"/>
              <a:t>Theorem </a:t>
            </a:r>
            <a:r>
              <a:rPr lang="en-US" b="1" dirty="0">
                <a:ea typeface="Cambria Math" pitchFamily="18" charset="0"/>
              </a:rPr>
              <a:t>1. </a:t>
            </a:r>
            <a:r>
              <a:rPr lang="en-US" b="1" dirty="0"/>
              <a:t>The Principle of Inclusion-Exclusion</a:t>
            </a:r>
            <a:r>
              <a:rPr lang="en-US" dirty="0"/>
              <a:t>:</a:t>
            </a:r>
            <a:r>
              <a:rPr lang="en-US" b="1" dirty="0"/>
              <a:t> </a:t>
            </a:r>
            <a:r>
              <a:rPr lang="en-US" dirty="0"/>
              <a:t>Let </a:t>
            </a:r>
            <a:r>
              <a:rPr lang="en-US" i="1" dirty="0"/>
              <a:t>A</a:t>
            </a:r>
            <a:r>
              <a:rPr lang="en-US" baseline="-25000" dirty="0">
                <a:ea typeface="Cambria Math" pitchFamily="18" charset="0"/>
              </a:rPr>
              <a:t>1</a:t>
            </a:r>
            <a:r>
              <a:rPr lang="en-US" dirty="0"/>
              <a:t>, </a:t>
            </a:r>
            <a:r>
              <a:rPr lang="en-US" i="1" dirty="0"/>
              <a:t>A</a:t>
            </a:r>
            <a:r>
              <a:rPr lang="en-US" baseline="-25000" dirty="0">
                <a:ea typeface="Cambria Math" pitchFamily="18" charset="0"/>
              </a:rPr>
              <a:t>2</a:t>
            </a:r>
            <a:r>
              <a:rPr lang="en-US" dirty="0"/>
              <a:t>, …, </a:t>
            </a:r>
            <a:r>
              <a:rPr lang="en-US" i="1" dirty="0"/>
              <a:t>A</a:t>
            </a:r>
            <a:r>
              <a:rPr lang="en-US" i="1" baseline="-25000" dirty="0"/>
              <a:t>n</a:t>
            </a:r>
            <a:r>
              <a:rPr lang="en-US" i="1" dirty="0"/>
              <a:t> </a:t>
            </a:r>
            <a:r>
              <a:rPr lang="en-US" dirty="0"/>
              <a:t>be finite sets. Then:</a:t>
            </a:r>
          </a:p>
        </p:txBody>
      </p:sp>
      <p:pic>
        <p:nvPicPr>
          <p:cNvPr id="6" name="Picture 5" descr="addin_tmp.png"/>
          <p:cNvPicPr>
            <a:picLocks noChangeAspect="1"/>
          </p:cNvPicPr>
          <p:nvPr>
            <p:custDataLst>
              <p:tags r:id="rId1"/>
            </p:custDataLst>
          </p:nvPr>
        </p:nvPicPr>
        <p:blipFill>
          <a:blip r:embed="rId5" cstate="print"/>
          <a:stretch>
            <a:fillRect/>
          </a:stretch>
        </p:blipFill>
        <p:spPr>
          <a:xfrm>
            <a:off x="2286000" y="3048000"/>
            <a:ext cx="3657600" cy="380048"/>
          </a:xfrm>
          <a:prstGeom prst="rect">
            <a:avLst/>
          </a:prstGeom>
        </p:spPr>
      </p:pic>
      <p:pic>
        <p:nvPicPr>
          <p:cNvPr id="10" name="Picture 9" descr="addin_tmp.png"/>
          <p:cNvPicPr>
            <a:picLocks noChangeAspect="1"/>
          </p:cNvPicPr>
          <p:nvPr>
            <p:custDataLst>
              <p:tags r:id="rId2"/>
            </p:custDataLst>
          </p:nvPr>
        </p:nvPicPr>
        <p:blipFill>
          <a:blip r:embed="rId6" cstate="print"/>
          <a:stretch>
            <a:fillRect/>
          </a:stretch>
        </p:blipFill>
        <p:spPr>
          <a:xfrm>
            <a:off x="3429000" y="3733800"/>
            <a:ext cx="5169218" cy="871538"/>
          </a:xfrm>
          <a:prstGeom prst="rect">
            <a:avLst/>
          </a:prstGeom>
        </p:spPr>
      </p:pic>
      <p:pic>
        <p:nvPicPr>
          <p:cNvPr id="13" name="Picture 12" descr="addin_tmp.png"/>
          <p:cNvPicPr>
            <a:picLocks noChangeAspect="1"/>
          </p:cNvPicPr>
          <p:nvPr>
            <p:custDataLst>
              <p:tags r:id="rId3"/>
            </p:custDataLst>
          </p:nvPr>
        </p:nvPicPr>
        <p:blipFill>
          <a:blip r:embed="rId7" cstate="print"/>
          <a:stretch>
            <a:fillRect/>
          </a:stretch>
        </p:blipFill>
        <p:spPr>
          <a:xfrm>
            <a:off x="2133600" y="4953000"/>
            <a:ext cx="8001000" cy="784384"/>
          </a:xfrm>
          <a:prstGeom prst="rect">
            <a:avLst/>
          </a:prstGeom>
        </p:spPr>
      </p:pic>
    </p:spTree>
    <p:extLst>
      <p:ext uri="{BB962C8B-B14F-4D97-AF65-F5344CB8AC3E}">
        <p14:creationId xmlns:p14="http://schemas.microsoft.com/office/powerpoint/2010/main" val="38487730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Principle of Inclusion-Exclusion</a:t>
            </a:r>
          </a:p>
        </p:txBody>
      </p:sp>
      <p:sp>
        <p:nvSpPr>
          <p:cNvPr id="3" name="Content Placeholder 2"/>
          <p:cNvSpPr>
            <a:spLocks noGrp="1"/>
          </p:cNvSpPr>
          <p:nvPr>
            <p:ph idx="1"/>
          </p:nvPr>
        </p:nvSpPr>
        <p:spPr/>
        <p:txBody>
          <a:bodyPr>
            <a:normAutofit/>
          </a:bodyPr>
          <a:lstStyle/>
          <a:p>
            <a:pPr>
              <a:buNone/>
            </a:pPr>
            <a:r>
              <a:rPr lang="en-US" b="1" dirty="0"/>
              <a:t>Proof: </a:t>
            </a:r>
            <a:r>
              <a:rPr lang="en-US" dirty="0"/>
              <a:t>Consider an element </a:t>
            </a:r>
            <a:r>
              <a:rPr lang="en-US" i="1" dirty="0"/>
              <a:t>a</a:t>
            </a:r>
            <a:r>
              <a:rPr lang="en-US" dirty="0"/>
              <a:t> that is a member of </a:t>
            </a:r>
            <a:r>
              <a:rPr lang="en-US" i="1" dirty="0"/>
              <a:t>r</a:t>
            </a:r>
            <a:r>
              <a:rPr lang="en-US" dirty="0"/>
              <a:t> of the sets </a:t>
            </a:r>
            <a:br>
              <a:rPr lang="en-US" dirty="0"/>
            </a:br>
            <a:r>
              <a:rPr lang="en-US" i="1" dirty="0"/>
              <a:t>A</a:t>
            </a:r>
            <a:r>
              <a:rPr lang="en-US" baseline="-25000" dirty="0"/>
              <a:t>1</a:t>
            </a:r>
            <a:r>
              <a:rPr lang="en-US" dirty="0"/>
              <a:t>, …., </a:t>
            </a:r>
            <a:r>
              <a:rPr lang="en-US" i="1" dirty="0"/>
              <a:t>A</a:t>
            </a:r>
            <a:r>
              <a:rPr lang="en-US" i="1" baseline="-25000" dirty="0"/>
              <a:t>n</a:t>
            </a:r>
            <a:r>
              <a:rPr lang="en-US" b="1" dirty="0"/>
              <a:t> </a:t>
            </a:r>
            <a:r>
              <a:rPr lang="en-US" dirty="0"/>
              <a:t>where </a:t>
            </a:r>
            <a:r>
              <a:rPr lang="en-US" dirty="0">
                <a:ea typeface="Cambria Math" pitchFamily="18" charset="0"/>
              </a:rPr>
              <a:t>1 </a:t>
            </a:r>
            <a:r>
              <a:rPr lang="en-US" dirty="0">
                <a:ea typeface="Cambria Math"/>
              </a:rPr>
              <a:t>≤</a:t>
            </a:r>
            <a:r>
              <a:rPr lang="en-US" i="1" dirty="0"/>
              <a:t> </a:t>
            </a:r>
            <a:r>
              <a:rPr lang="en-US" dirty="0"/>
              <a:t>r</a:t>
            </a:r>
            <a:r>
              <a:rPr lang="en-US" i="1" dirty="0">
                <a:ea typeface="Cambria Math"/>
              </a:rPr>
              <a:t> </a:t>
            </a:r>
            <a:r>
              <a:rPr lang="en-US" dirty="0">
                <a:ea typeface="Cambria Math"/>
              </a:rPr>
              <a:t>≤</a:t>
            </a:r>
            <a:r>
              <a:rPr lang="en-US" i="1" dirty="0"/>
              <a:t> n</a:t>
            </a:r>
            <a:r>
              <a:rPr lang="en-US" dirty="0"/>
              <a:t>.</a:t>
            </a:r>
            <a:r>
              <a:rPr lang="en-US" b="1" dirty="0"/>
              <a:t> </a:t>
            </a:r>
          </a:p>
          <a:p>
            <a:r>
              <a:rPr lang="en-US" dirty="0"/>
              <a:t>It is counted </a:t>
            </a:r>
            <a:r>
              <a:rPr lang="en-US" i="1" dirty="0"/>
              <a:t>C</a:t>
            </a:r>
            <a:r>
              <a:rPr lang="en-US" dirty="0"/>
              <a:t>(</a:t>
            </a:r>
            <a:r>
              <a:rPr lang="en-US" i="1" dirty="0"/>
              <a:t>r</a:t>
            </a:r>
            <a:r>
              <a:rPr lang="en-US" dirty="0"/>
              <a:t>, </a:t>
            </a:r>
            <a:r>
              <a:rPr lang="en-US" dirty="0">
                <a:ea typeface="Cambria Math" pitchFamily="18" charset="0"/>
              </a:rPr>
              <a:t>1</a:t>
            </a:r>
            <a:r>
              <a:rPr lang="en-US" dirty="0"/>
              <a:t>) times by </a:t>
            </a:r>
            <a:r>
              <a:rPr lang="el-GR" sz="4600" dirty="0"/>
              <a:t>Σ</a:t>
            </a:r>
            <a:r>
              <a:rPr lang="en-US" dirty="0"/>
              <a:t>|A</a:t>
            </a:r>
            <a:r>
              <a:rPr lang="en-US" baseline="-25000" dirty="0"/>
              <a:t>i</a:t>
            </a:r>
            <a:r>
              <a:rPr lang="en-US" dirty="0"/>
              <a:t>|</a:t>
            </a:r>
          </a:p>
          <a:p>
            <a:r>
              <a:rPr lang="en-US" dirty="0"/>
              <a:t>It is counted </a:t>
            </a:r>
            <a:r>
              <a:rPr lang="en-US" i="1" dirty="0"/>
              <a:t>C</a:t>
            </a:r>
            <a:r>
              <a:rPr lang="en-US" dirty="0"/>
              <a:t>(</a:t>
            </a:r>
            <a:r>
              <a:rPr lang="en-US" i="1" dirty="0"/>
              <a:t>r</a:t>
            </a:r>
            <a:r>
              <a:rPr lang="en-US" dirty="0"/>
              <a:t>, 2) times by </a:t>
            </a:r>
            <a:r>
              <a:rPr lang="el-GR" sz="4600" dirty="0"/>
              <a:t>Σ</a:t>
            </a:r>
            <a:r>
              <a:rPr lang="en-US" dirty="0"/>
              <a:t>|A</a:t>
            </a:r>
            <a:r>
              <a:rPr lang="en-US" i="1" baseline="-25000" dirty="0"/>
              <a:t>i</a:t>
            </a:r>
            <a:r>
              <a:rPr lang="en-US" baseline="-25000" dirty="0"/>
              <a:t> </a:t>
            </a:r>
            <a:r>
              <a:rPr lang="en-US" dirty="0">
                <a:ea typeface="Cambria Math"/>
              </a:rPr>
              <a:t>⋂</a:t>
            </a:r>
            <a:r>
              <a:rPr lang="en-US" dirty="0" err="1">
                <a:ea typeface="Cambria Math"/>
              </a:rPr>
              <a:t>A</a:t>
            </a:r>
            <a:r>
              <a:rPr lang="en-US" i="1" baseline="-25000" dirty="0" err="1">
                <a:ea typeface="Cambria Math"/>
              </a:rPr>
              <a:t>j</a:t>
            </a:r>
            <a:r>
              <a:rPr lang="en-US" dirty="0"/>
              <a:t>|</a:t>
            </a:r>
          </a:p>
          <a:p>
            <a:r>
              <a:rPr lang="en-US" dirty="0"/>
              <a:t>In general, it is counted </a:t>
            </a:r>
            <a:r>
              <a:rPr lang="en-US" i="1" dirty="0"/>
              <a:t>C</a:t>
            </a:r>
            <a:r>
              <a:rPr lang="en-US" dirty="0"/>
              <a:t>(</a:t>
            </a:r>
            <a:r>
              <a:rPr lang="en-US" i="1" dirty="0" err="1"/>
              <a:t>r</a:t>
            </a:r>
            <a:r>
              <a:rPr lang="en-US" dirty="0" err="1"/>
              <a:t>, </a:t>
            </a:r>
            <a:r>
              <a:rPr lang="en-US" i="1" dirty="0" err="1"/>
              <a:t>m</a:t>
            </a:r>
            <a:r>
              <a:rPr lang="en-US" dirty="0"/>
              <a:t>) times by the summation of </a:t>
            </a:r>
            <a:r>
              <a:rPr lang="en-US" i="1" dirty="0"/>
              <a:t>m</a:t>
            </a:r>
            <a:r>
              <a:rPr lang="en-US" dirty="0"/>
              <a:t> of the sets </a:t>
            </a:r>
            <a:r>
              <a:rPr lang="en-US" i="1" dirty="0"/>
              <a:t>A</a:t>
            </a:r>
            <a:r>
              <a:rPr lang="en-US" i="1" baseline="-25000" dirty="0"/>
              <a:t>i</a:t>
            </a:r>
            <a:r>
              <a:rPr lang="en-US" dirty="0"/>
              <a:t>.</a:t>
            </a:r>
            <a:endParaRPr lang="en-US" baseline="-25000" dirty="0"/>
          </a:p>
        </p:txBody>
      </p:sp>
    </p:spTree>
    <p:extLst>
      <p:ext uri="{BB962C8B-B14F-4D97-AF65-F5344CB8AC3E}">
        <p14:creationId xmlns:p14="http://schemas.microsoft.com/office/powerpoint/2010/main" val="38351666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Principle of Inclusion-Exclusion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marL="0" indent="0">
                  <a:buNone/>
                </a:pPr>
                <a:r>
                  <a:rPr lang="en-US" dirty="0"/>
                  <a:t>Thus the element is counted exactly</a:t>
                </a:r>
              </a:p>
              <a:p>
                <a:pPr>
                  <a:buNone/>
                </a:pPr>
                <a:r>
                  <a:rPr lang="en-US" dirty="0"/>
                  <a:t>       </a:t>
                </a:r>
                <a:r>
                  <a:rPr lang="en-US" i="1" dirty="0"/>
                  <a:t>C</a:t>
                </a:r>
                <a:r>
                  <a:rPr lang="en-US" dirty="0"/>
                  <a:t>(</a:t>
                </a:r>
                <a:r>
                  <a:rPr lang="en-US" i="1" dirty="0"/>
                  <a:t>r </a:t>
                </a:r>
                <a:r>
                  <a:rPr lang="en-US" dirty="0"/>
                  <a:t>,</a:t>
                </a:r>
                <a:r>
                  <a:rPr lang="en-US" dirty="0">
                    <a:ea typeface="Cambria Math" pitchFamily="18" charset="0"/>
                  </a:rPr>
                  <a:t>1</a:t>
                </a:r>
                <a:r>
                  <a:rPr lang="en-US" dirty="0"/>
                  <a:t>) </a:t>
                </a:r>
                <a:r>
                  <a:rPr lang="en-US" dirty="0">
                    <a:ea typeface="Cambria Math"/>
                  </a:rPr>
                  <a:t>−</a:t>
                </a:r>
                <a:r>
                  <a:rPr lang="en-US" dirty="0"/>
                  <a:t> </a:t>
                </a:r>
                <a:r>
                  <a:rPr lang="en-US" i="1" dirty="0"/>
                  <a:t>C</a:t>
                </a:r>
                <a:r>
                  <a:rPr lang="en-US" dirty="0"/>
                  <a:t>(</a:t>
                </a:r>
                <a:r>
                  <a:rPr lang="en-US" i="1" dirty="0"/>
                  <a:t>r</a:t>
                </a:r>
                <a:r>
                  <a:rPr lang="en-US" dirty="0"/>
                  <a:t>, </a:t>
                </a:r>
                <a:r>
                  <a:rPr lang="en-US" dirty="0">
                    <a:ea typeface="Cambria Math" pitchFamily="18" charset="0"/>
                  </a:rPr>
                  <a:t>2</a:t>
                </a:r>
                <a:r>
                  <a:rPr lang="en-US" dirty="0"/>
                  <a:t>) + </a:t>
                </a:r>
                <a:r>
                  <a:rPr lang="en-US" i="1" dirty="0"/>
                  <a:t>C</a:t>
                </a:r>
                <a:r>
                  <a:rPr lang="en-US" dirty="0"/>
                  <a:t>(</a:t>
                </a:r>
                <a:r>
                  <a:rPr lang="en-US" i="1" dirty="0"/>
                  <a:t>r</a:t>
                </a:r>
                <a:r>
                  <a:rPr lang="en-US" dirty="0"/>
                  <a:t>, </a:t>
                </a:r>
                <a:r>
                  <a:rPr lang="en-US" dirty="0">
                    <a:ea typeface="Cambria Math" pitchFamily="18" charset="0"/>
                  </a:rPr>
                  <a:t>3</a:t>
                </a:r>
                <a:r>
                  <a:rPr lang="en-US" dirty="0"/>
                  <a:t>) </a:t>
                </a:r>
                <a:r>
                  <a:rPr lang="en-US" dirty="0">
                    <a:ea typeface="Cambria Math"/>
                  </a:rPr>
                  <a:t>−</a:t>
                </a:r>
                <a:r>
                  <a:rPr lang="en-US" dirty="0"/>
                  <a:t> </a:t>
                </a:r>
                <a:r>
                  <a:rPr lang="en-US" dirty="0">
                    <a:ea typeface="Cambria Math"/>
                  </a:rPr>
                  <a:t>⋯</a:t>
                </a:r>
                <a:r>
                  <a:rPr lang="en-US" dirty="0"/>
                  <a:t> + (</a:t>
                </a:r>
                <a:r>
                  <a:rPr lang="en-US" dirty="0">
                    <a:ea typeface="Cambria Math"/>
                  </a:rPr>
                  <a:t>−</a:t>
                </a:r>
                <a:r>
                  <a:rPr lang="en-US" dirty="0">
                    <a:ea typeface="Cambria Math" pitchFamily="18" charset="0"/>
                  </a:rPr>
                  <a:t>1</a:t>
                </a:r>
                <a:r>
                  <a:rPr lang="en-US" dirty="0"/>
                  <a:t>)</a:t>
                </a:r>
                <a:r>
                  <a:rPr lang="en-US" i="1" baseline="30000" dirty="0"/>
                  <a:t>r</a:t>
                </a:r>
                <a:r>
                  <a:rPr lang="en-US" baseline="30000" dirty="0"/>
                  <a:t>+</a:t>
                </a:r>
                <a:r>
                  <a:rPr lang="en-US" baseline="30000" dirty="0">
                    <a:ea typeface="Cambria Math" pitchFamily="18" charset="0"/>
                  </a:rPr>
                  <a:t>1</a:t>
                </a:r>
                <a:r>
                  <a:rPr lang="en-US" dirty="0"/>
                  <a:t> </a:t>
                </a:r>
                <a:r>
                  <a:rPr lang="en-US" i="1" dirty="0"/>
                  <a:t>C</a:t>
                </a:r>
                <a:r>
                  <a:rPr lang="en-US" dirty="0"/>
                  <a:t>(</a:t>
                </a:r>
                <a:r>
                  <a:rPr lang="en-US" i="1" dirty="0" err="1"/>
                  <a:t>r</a:t>
                </a:r>
                <a:r>
                  <a:rPr lang="en-US" dirty="0" err="1"/>
                  <a:t>, </a:t>
                </a:r>
                <a:r>
                  <a:rPr lang="en-US" i="1" dirty="0" err="1"/>
                  <a:t>r</a:t>
                </a:r>
                <a:r>
                  <a:rPr lang="en-US" dirty="0"/>
                  <a:t>) </a:t>
                </a:r>
              </a:p>
              <a:p>
                <a:pPr>
                  <a:buNone/>
                </a:pPr>
                <a:r>
                  <a:rPr lang="en-US" dirty="0"/>
                  <a:t>times by the right hand side of the equation.</a:t>
                </a:r>
              </a:p>
              <a:p>
                <a:pPr>
                  <a:buNone/>
                </a:pPr>
                <a:r>
                  <a:rPr lang="en-US" dirty="0"/>
                  <a:t>Using the binomial theorem</a:t>
                </a:r>
              </a:p>
              <a:p>
                <a:pPr>
                  <a:buNone/>
                </a:pPr>
                <a14:m>
                  <m:oMathPara xmlns:m="http://schemas.openxmlformats.org/officeDocument/2006/math">
                    <m:oMathParaPr>
                      <m:jc m:val="centerGroup"/>
                    </m:oMathParaPr>
                    <m:oMath xmlns:m="http://schemas.openxmlformats.org/officeDocument/2006/math">
                      <m:nary>
                        <m:naryPr>
                          <m:chr m:val="∑"/>
                          <m:ctrlPr>
                            <a:rPr lang="en-US" sz="2200" i="1">
                              <a:latin typeface="Cambria Math" panose="02040503050406030204" pitchFamily="18" charset="0"/>
                            </a:rPr>
                          </m:ctrlPr>
                        </m:naryPr>
                        <m:sub>
                          <m:r>
                            <m:rPr>
                              <m:brk m:alnAt="23"/>
                            </m:rPr>
                            <a:rPr lang="fr-CH" sz="2200" i="1">
                              <a:latin typeface="Cambria Math" panose="02040503050406030204" pitchFamily="18" charset="0"/>
                            </a:rPr>
                            <m:t>𝑘</m:t>
                          </m:r>
                          <m:r>
                            <a:rPr lang="fr-CH" sz="2200" i="1">
                              <a:latin typeface="Cambria Math" panose="02040503050406030204" pitchFamily="18" charset="0"/>
                            </a:rPr>
                            <m:t>=0</m:t>
                          </m:r>
                        </m:sub>
                        <m:sup>
                          <m:r>
                            <a:rPr lang="fr-CH" sz="2200" i="1">
                              <a:latin typeface="Cambria Math" panose="02040503050406030204" pitchFamily="18" charset="0"/>
                            </a:rPr>
                            <m:t>𝑛</m:t>
                          </m:r>
                        </m:sup>
                        <m:e>
                          <m:r>
                            <a:rPr lang="fr-CH" sz="2200" b="0" i="1">
                              <a:latin typeface="Cambria Math" panose="02040503050406030204" pitchFamily="18" charset="0"/>
                            </a:rPr>
                            <m:t>𝐶</m:t>
                          </m:r>
                          <m:r>
                            <a:rPr lang="fr-CH" sz="2200" b="0" i="1">
                              <a:latin typeface="Cambria Math" panose="02040503050406030204" pitchFamily="18" charset="0"/>
                            </a:rPr>
                            <m:t>(</m:t>
                          </m:r>
                          <m:r>
                            <a:rPr lang="fr-CH" sz="2200" b="0" i="1">
                              <a:latin typeface="Cambria Math" panose="02040503050406030204" pitchFamily="18" charset="0"/>
                            </a:rPr>
                            <m:t>𝑟</m:t>
                          </m:r>
                          <m:r>
                            <a:rPr lang="fr-CH" sz="2200" b="0" i="1">
                              <a:latin typeface="Cambria Math" panose="02040503050406030204" pitchFamily="18" charset="0"/>
                            </a:rPr>
                            <m:t>,</m:t>
                          </m:r>
                          <m:r>
                            <a:rPr lang="fr-CH" sz="2200" b="0" i="1">
                              <a:latin typeface="Cambria Math" panose="02040503050406030204" pitchFamily="18" charset="0"/>
                            </a:rPr>
                            <m:t>𝑘</m:t>
                          </m:r>
                          <m:r>
                            <a:rPr lang="fr-CH" sz="2200" b="0" i="1">
                              <a:latin typeface="Cambria Math" panose="02040503050406030204" pitchFamily="18" charset="0"/>
                            </a:rPr>
                            <m:t>)</m:t>
                          </m:r>
                          <m:sSup>
                            <m:sSupPr>
                              <m:ctrlPr>
                                <a:rPr lang="en-US" sz="2200" i="1">
                                  <a:latin typeface="Cambria Math" panose="02040503050406030204" pitchFamily="18" charset="0"/>
                                </a:rPr>
                              </m:ctrlPr>
                            </m:sSupPr>
                            <m:e>
                              <m:r>
                                <a:rPr lang="fr-CH" sz="2200" i="1">
                                  <a:latin typeface="Cambria Math" panose="02040503050406030204" pitchFamily="18" charset="0"/>
                                </a:rPr>
                                <m:t>(−1)</m:t>
                              </m:r>
                            </m:e>
                            <m:sup>
                              <m:r>
                                <a:rPr lang="fr-CH" sz="2200" i="1">
                                  <a:latin typeface="Cambria Math" panose="02040503050406030204" pitchFamily="18" charset="0"/>
                                </a:rPr>
                                <m:t>𝑘</m:t>
                              </m:r>
                            </m:sup>
                          </m:sSup>
                        </m:e>
                      </m:nary>
                      <m:r>
                        <a:rPr lang="fr-CH" sz="2200" b="0" i="1">
                          <a:latin typeface="Cambria Math" panose="02040503050406030204" pitchFamily="18" charset="0"/>
                        </a:rPr>
                        <m:t>=</m:t>
                      </m:r>
                      <m:nary>
                        <m:naryPr>
                          <m:chr m:val="∑"/>
                          <m:ctrlPr>
                            <a:rPr lang="en-US" sz="2200" i="1">
                              <a:latin typeface="Cambria Math" panose="02040503050406030204" pitchFamily="18" charset="0"/>
                            </a:rPr>
                          </m:ctrlPr>
                        </m:naryPr>
                        <m:sub>
                          <m:r>
                            <m:rPr>
                              <m:brk m:alnAt="23"/>
                            </m:rPr>
                            <a:rPr lang="fr-CH" sz="2200" i="1">
                              <a:latin typeface="Cambria Math" panose="02040503050406030204" pitchFamily="18" charset="0"/>
                            </a:rPr>
                            <m:t>𝑘</m:t>
                          </m:r>
                          <m:r>
                            <a:rPr lang="fr-CH" sz="2200" i="1">
                              <a:latin typeface="Cambria Math" panose="02040503050406030204" pitchFamily="18" charset="0"/>
                            </a:rPr>
                            <m:t>=0</m:t>
                          </m:r>
                        </m:sub>
                        <m:sup>
                          <m:r>
                            <a:rPr lang="fr-CH" sz="2200" i="1">
                              <a:latin typeface="Cambria Math" panose="02040503050406030204" pitchFamily="18" charset="0"/>
                            </a:rPr>
                            <m:t>𝑛</m:t>
                          </m:r>
                        </m:sup>
                        <m:e>
                          <m:d>
                            <m:dPr>
                              <m:ctrlPr>
                                <a:rPr lang="en-US" sz="2200" i="1">
                                  <a:latin typeface="Cambria Math" panose="02040503050406030204" pitchFamily="18" charset="0"/>
                                </a:rPr>
                              </m:ctrlPr>
                            </m:dPr>
                            <m:e>
                              <m:m>
                                <m:mPr>
                                  <m:mcs>
                                    <m:mc>
                                      <m:mcPr>
                                        <m:count m:val="1"/>
                                        <m:mcJc m:val="center"/>
                                      </m:mcPr>
                                    </m:mc>
                                  </m:mcs>
                                  <m:ctrlPr>
                                    <a:rPr lang="en-US" sz="2200" i="1">
                                      <a:latin typeface="Cambria Math" panose="02040503050406030204" pitchFamily="18" charset="0"/>
                                    </a:rPr>
                                  </m:ctrlPr>
                                </m:mPr>
                                <m:mr>
                                  <m:e>
                                    <m:r>
                                      <a:rPr lang="fr-CH" sz="2200" b="0" i="1">
                                        <a:latin typeface="Cambria Math" panose="02040503050406030204" pitchFamily="18" charset="0"/>
                                      </a:rPr>
                                      <m:t>𝑟</m:t>
                                    </m:r>
                                  </m:e>
                                </m:mr>
                                <m:mr>
                                  <m:e>
                                    <m:r>
                                      <a:rPr lang="fr-CH" sz="2200" i="1">
                                        <a:latin typeface="Cambria Math" panose="02040503050406030204" pitchFamily="18" charset="0"/>
                                      </a:rPr>
                                      <m:t>𝑘</m:t>
                                    </m:r>
                                  </m:e>
                                </m:mr>
                              </m:m>
                            </m:e>
                          </m:d>
                          <m:sSup>
                            <m:sSupPr>
                              <m:ctrlPr>
                                <a:rPr lang="en-US" sz="2200" i="1">
                                  <a:latin typeface="Cambria Math" panose="02040503050406030204" pitchFamily="18" charset="0"/>
                                </a:rPr>
                              </m:ctrlPr>
                            </m:sSupPr>
                            <m:e>
                              <m:r>
                                <a:rPr lang="fr-CH" sz="2200" b="0" i="1">
                                  <a:latin typeface="Cambria Math" panose="02040503050406030204" pitchFamily="18" charset="0"/>
                                </a:rPr>
                                <m:t>(−1)</m:t>
                              </m:r>
                            </m:e>
                            <m:sup>
                              <m:r>
                                <a:rPr lang="fr-CH" sz="2200" i="1">
                                  <a:latin typeface="Cambria Math" panose="02040503050406030204" pitchFamily="18" charset="0"/>
                                </a:rPr>
                                <m:t>𝑘</m:t>
                              </m:r>
                            </m:sup>
                          </m:sSup>
                        </m:e>
                      </m:nary>
                      <m:r>
                        <a:rPr lang="fr-CH" sz="2200" b="0" i="1">
                          <a:latin typeface="Cambria Math" panose="02040503050406030204" pitchFamily="18" charset="0"/>
                        </a:rPr>
                        <m:t>=</m:t>
                      </m:r>
                      <m:sSup>
                        <m:sSupPr>
                          <m:ctrlPr>
                            <a:rPr lang="fr-CH" sz="2200" b="0" i="1">
                              <a:latin typeface="Cambria Math" panose="02040503050406030204" pitchFamily="18" charset="0"/>
                            </a:rPr>
                          </m:ctrlPr>
                        </m:sSupPr>
                        <m:e>
                          <m:r>
                            <a:rPr lang="fr-CH" sz="2200" i="1">
                              <a:latin typeface="Cambria Math" panose="02040503050406030204" pitchFamily="18" charset="0"/>
                            </a:rPr>
                            <m:t>(1+</m:t>
                          </m:r>
                          <m:d>
                            <m:dPr>
                              <m:ctrlPr>
                                <a:rPr lang="fr-CH" sz="2200" i="1">
                                  <a:latin typeface="Cambria Math" panose="02040503050406030204" pitchFamily="18" charset="0"/>
                                </a:rPr>
                              </m:ctrlPr>
                            </m:dPr>
                            <m:e>
                              <m:r>
                                <a:rPr lang="fr-CH" sz="2200" i="1">
                                  <a:latin typeface="Cambria Math" panose="02040503050406030204" pitchFamily="18" charset="0"/>
                                </a:rPr>
                                <m:t>−1</m:t>
                              </m:r>
                            </m:e>
                          </m:d>
                          <m:r>
                            <a:rPr lang="fr-CH" sz="2200" i="1">
                              <a:latin typeface="Cambria Math" panose="02040503050406030204" pitchFamily="18" charset="0"/>
                            </a:rPr>
                            <m:t>)</m:t>
                          </m:r>
                        </m:e>
                        <m:sup>
                          <m:r>
                            <a:rPr lang="fr-CH" sz="2200" b="0" i="1">
                              <a:latin typeface="Cambria Math" panose="02040503050406030204" pitchFamily="18" charset="0"/>
                            </a:rPr>
                            <m:t>𝑛</m:t>
                          </m:r>
                        </m:sup>
                      </m:sSup>
                      <m:r>
                        <a:rPr lang="fr-CH" sz="2200" b="0" i="1">
                          <a:latin typeface="Cambria Math" panose="02040503050406030204" pitchFamily="18" charset="0"/>
                        </a:rPr>
                        <m:t>=0</m:t>
                      </m:r>
                    </m:oMath>
                  </m:oMathPara>
                </a14:m>
                <a:endParaRPr lang="en-US" sz="2200" dirty="0"/>
              </a:p>
              <a:p>
                <a:pPr marL="0" indent="0">
                  <a:buNone/>
                </a:pPr>
                <a:r>
                  <a:rPr lang="en-US" dirty="0"/>
                  <a:t>we obtain</a:t>
                </a:r>
              </a:p>
              <a:p>
                <a:pPr lvl="1">
                  <a:buNone/>
                </a:pPr>
                <a:r>
                  <a:rPr lang="en-US" dirty="0"/>
                  <a:t>         </a:t>
                </a:r>
                <a:r>
                  <a:rPr lang="en-US" i="1" dirty="0"/>
                  <a:t>C</a:t>
                </a:r>
                <a:r>
                  <a:rPr lang="en-US" dirty="0"/>
                  <a:t>(</a:t>
                </a:r>
                <a:r>
                  <a:rPr lang="en-US" i="1" dirty="0"/>
                  <a:t>r</a:t>
                </a:r>
                <a:r>
                  <a:rPr lang="en-US" dirty="0"/>
                  <a:t>, </a:t>
                </a:r>
                <a:r>
                  <a:rPr lang="en-US" dirty="0">
                    <a:ea typeface="Cambria Math" pitchFamily="18" charset="0"/>
                  </a:rPr>
                  <a:t>0</a:t>
                </a:r>
                <a:r>
                  <a:rPr lang="en-US" dirty="0"/>
                  <a:t>) </a:t>
                </a:r>
                <a:r>
                  <a:rPr lang="en-US" dirty="0">
                    <a:ea typeface="Cambria Math"/>
                  </a:rPr>
                  <a:t>−</a:t>
                </a:r>
                <a:r>
                  <a:rPr lang="en-US" dirty="0"/>
                  <a:t> </a:t>
                </a:r>
                <a:r>
                  <a:rPr lang="en-US" i="1" dirty="0"/>
                  <a:t>C</a:t>
                </a:r>
                <a:r>
                  <a:rPr lang="en-US" dirty="0"/>
                  <a:t>(</a:t>
                </a:r>
                <a:r>
                  <a:rPr lang="en-US" i="1" dirty="0"/>
                  <a:t>r</a:t>
                </a:r>
                <a:r>
                  <a:rPr lang="en-US" dirty="0"/>
                  <a:t>, </a:t>
                </a:r>
                <a:r>
                  <a:rPr lang="en-US" dirty="0">
                    <a:ea typeface="Cambria Math" pitchFamily="18" charset="0"/>
                  </a:rPr>
                  <a:t>1</a:t>
                </a:r>
                <a:r>
                  <a:rPr lang="en-US" dirty="0"/>
                  <a:t>) + C(</a:t>
                </a:r>
                <a:r>
                  <a:rPr lang="en-US" i="1" dirty="0"/>
                  <a:t>r</a:t>
                </a:r>
                <a:r>
                  <a:rPr lang="en-US" dirty="0"/>
                  <a:t>, </a:t>
                </a:r>
                <a:r>
                  <a:rPr lang="en-US" dirty="0">
                    <a:ea typeface="Cambria Math" pitchFamily="18" charset="0"/>
                  </a:rPr>
                  <a:t>2</a:t>
                </a:r>
                <a:r>
                  <a:rPr lang="en-US" dirty="0"/>
                  <a:t>) </a:t>
                </a:r>
                <a:r>
                  <a:rPr lang="en-US" dirty="0">
                    <a:ea typeface="Cambria Math"/>
                  </a:rPr>
                  <a:t>−</a:t>
                </a:r>
                <a:r>
                  <a:rPr lang="en-US" dirty="0"/>
                  <a:t> </a:t>
                </a:r>
                <a:r>
                  <a:rPr lang="en-US" dirty="0">
                    <a:ea typeface="Cambria Math"/>
                  </a:rPr>
                  <a:t>⋯</a:t>
                </a:r>
                <a:r>
                  <a:rPr lang="en-US" dirty="0"/>
                  <a:t> + (</a:t>
                </a:r>
                <a:r>
                  <a:rPr lang="en-US" dirty="0">
                    <a:ea typeface="Cambria Math"/>
                  </a:rPr>
                  <a:t>−</a:t>
                </a:r>
                <a:r>
                  <a:rPr lang="en-US" dirty="0">
                    <a:ea typeface="Cambria Math" pitchFamily="18" charset="0"/>
                  </a:rPr>
                  <a:t>1</a:t>
                </a:r>
                <a:r>
                  <a:rPr lang="en-US" dirty="0"/>
                  <a:t>)</a:t>
                </a:r>
                <a:r>
                  <a:rPr lang="en-US" i="1" baseline="30000" dirty="0"/>
                  <a:t>r</a:t>
                </a:r>
                <a:r>
                  <a:rPr lang="en-US" dirty="0"/>
                  <a:t> </a:t>
                </a:r>
                <a:r>
                  <a:rPr lang="en-US" i="1" dirty="0"/>
                  <a:t>C</a:t>
                </a:r>
                <a:r>
                  <a:rPr lang="en-US" dirty="0"/>
                  <a:t>(</a:t>
                </a:r>
                <a:r>
                  <a:rPr lang="en-US" i="1" dirty="0" err="1"/>
                  <a:t>r</a:t>
                </a:r>
                <a:r>
                  <a:rPr lang="en-US" dirty="0" err="1"/>
                  <a:t>, </a:t>
                </a:r>
                <a:r>
                  <a:rPr lang="en-US" i="1" dirty="0" err="1"/>
                  <a:t>r</a:t>
                </a:r>
                <a:r>
                  <a:rPr lang="en-US" dirty="0"/>
                  <a:t>) = </a:t>
                </a:r>
                <a:r>
                  <a:rPr lang="en-US" dirty="0">
                    <a:ea typeface="Cambria Math" pitchFamily="18" charset="0"/>
                  </a:rPr>
                  <a:t>0.</a:t>
                </a:r>
              </a:p>
              <a:p>
                <a:pPr marL="0" indent="0">
                  <a:buNone/>
                </a:pPr>
                <a:r>
                  <a:rPr lang="en-US" dirty="0"/>
                  <a:t>Hence,</a:t>
                </a:r>
              </a:p>
              <a:p>
                <a:pPr lvl="1">
                  <a:buNone/>
                </a:pPr>
                <a:r>
                  <a:rPr lang="en-US" dirty="0"/>
                  <a:t>         </a:t>
                </a:r>
                <a:r>
                  <a:rPr lang="en-US" dirty="0">
                    <a:ea typeface="Cambria Math" pitchFamily="18" charset="0"/>
                  </a:rPr>
                  <a:t>1 </a:t>
                </a:r>
                <a:r>
                  <a:rPr lang="en-US" dirty="0"/>
                  <a:t>=  </a:t>
                </a:r>
                <a:r>
                  <a:rPr lang="en-US" i="1" dirty="0"/>
                  <a:t>C</a:t>
                </a:r>
                <a:r>
                  <a:rPr lang="en-US" dirty="0"/>
                  <a:t>(</a:t>
                </a:r>
                <a:r>
                  <a:rPr lang="en-US" i="1" dirty="0"/>
                  <a:t>r</a:t>
                </a:r>
                <a:r>
                  <a:rPr lang="en-US" dirty="0"/>
                  <a:t>, </a:t>
                </a:r>
                <a:r>
                  <a:rPr lang="en-US" dirty="0">
                    <a:ea typeface="Cambria Math" pitchFamily="18" charset="0"/>
                  </a:rPr>
                  <a:t>0</a:t>
                </a:r>
                <a:r>
                  <a:rPr lang="en-US" dirty="0"/>
                  <a:t>) = </a:t>
                </a:r>
                <a:r>
                  <a:rPr lang="en-US" i="1" dirty="0"/>
                  <a:t>C</a:t>
                </a:r>
                <a:r>
                  <a:rPr lang="en-US" dirty="0"/>
                  <a:t>(</a:t>
                </a:r>
                <a:r>
                  <a:rPr lang="en-US" i="1" dirty="0"/>
                  <a:t>r</a:t>
                </a:r>
                <a:r>
                  <a:rPr lang="en-US" dirty="0"/>
                  <a:t>, </a:t>
                </a:r>
                <a:r>
                  <a:rPr lang="en-US" dirty="0">
                    <a:ea typeface="Cambria Math" pitchFamily="18" charset="0"/>
                  </a:rPr>
                  <a:t>1</a:t>
                </a:r>
                <a:r>
                  <a:rPr lang="en-US" dirty="0"/>
                  <a:t>) </a:t>
                </a:r>
                <a:r>
                  <a:rPr lang="en-US" dirty="0">
                    <a:ea typeface="Cambria Math"/>
                  </a:rPr>
                  <a:t>−</a:t>
                </a:r>
                <a:r>
                  <a:rPr lang="en-US" dirty="0"/>
                  <a:t> </a:t>
                </a:r>
                <a:r>
                  <a:rPr lang="en-US" i="1" dirty="0"/>
                  <a:t>C</a:t>
                </a:r>
                <a:r>
                  <a:rPr lang="en-US" dirty="0"/>
                  <a:t>(</a:t>
                </a:r>
                <a:r>
                  <a:rPr lang="en-US" i="1" dirty="0"/>
                  <a:t>r</a:t>
                </a:r>
                <a:r>
                  <a:rPr lang="en-US" dirty="0"/>
                  <a:t>, </a:t>
                </a:r>
                <a:r>
                  <a:rPr lang="en-US" dirty="0">
                    <a:ea typeface="Cambria Math" pitchFamily="18" charset="0"/>
                  </a:rPr>
                  <a:t>2</a:t>
                </a:r>
                <a:r>
                  <a:rPr lang="en-US" dirty="0"/>
                  <a:t>) + </a:t>
                </a:r>
                <a:r>
                  <a:rPr lang="en-US" dirty="0">
                    <a:ea typeface="Cambria Math"/>
                  </a:rPr>
                  <a:t>⋯ </a:t>
                </a:r>
                <a:r>
                  <a:rPr lang="en-US" dirty="0"/>
                  <a:t>+ (</a:t>
                </a:r>
                <a:r>
                  <a:rPr lang="en-US" dirty="0">
                    <a:ea typeface="Cambria Math"/>
                  </a:rPr>
                  <a:t>−</a:t>
                </a:r>
                <a:r>
                  <a:rPr lang="en-US" dirty="0">
                    <a:ea typeface="Cambria Math" pitchFamily="18" charset="0"/>
                  </a:rPr>
                  <a:t>1</a:t>
                </a:r>
                <a:r>
                  <a:rPr lang="en-US" dirty="0"/>
                  <a:t>)</a:t>
                </a:r>
                <a:r>
                  <a:rPr lang="en-US" i="1" baseline="30000" dirty="0"/>
                  <a:t>r</a:t>
                </a:r>
                <a:r>
                  <a:rPr lang="en-US" baseline="30000" dirty="0"/>
                  <a:t>+</a:t>
                </a:r>
                <a:r>
                  <a:rPr lang="en-US" baseline="30000" dirty="0">
                    <a:ea typeface="Cambria Math" pitchFamily="18" charset="0"/>
                  </a:rPr>
                  <a:t>1</a:t>
                </a:r>
                <a:r>
                  <a:rPr lang="en-US" dirty="0"/>
                  <a:t> </a:t>
                </a:r>
                <a:r>
                  <a:rPr lang="en-US" i="1" dirty="0"/>
                  <a:t>C</a:t>
                </a:r>
                <a:r>
                  <a:rPr lang="en-US" dirty="0"/>
                  <a:t>(</a:t>
                </a:r>
                <a:r>
                  <a:rPr lang="en-US" i="1" dirty="0" err="1"/>
                  <a:t>r</a:t>
                </a:r>
                <a:r>
                  <a:rPr lang="en-US" dirty="0" err="1"/>
                  <a:t>, </a:t>
                </a:r>
                <a:r>
                  <a:rPr lang="en-US" i="1" dirty="0" err="1"/>
                  <a:t>r</a:t>
                </a:r>
                <a:r>
                  <a:rPr lang="en-US" dirty="0"/>
                  <a:t>)</a:t>
                </a:r>
                <a:r>
                  <a:rPr lang="en-US" dirty="0">
                    <a:ea typeface="Cambria Math" pitchFamily="18" charset="0"/>
                  </a:rPr>
                  <a:t>.</a:t>
                </a:r>
              </a:p>
              <a:p>
                <a:pPr lvl="1">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86" t="-3509" b="-2047"/>
                </a:stretch>
              </a:blipFill>
            </p:spPr>
            <p:txBody>
              <a:bodyPr/>
              <a:lstStyle/>
              <a:p>
                <a:r>
                  <a:rPr lang="en-US">
                    <a:noFill/>
                  </a:rPr>
                  <a:t> </a:t>
                </a:r>
              </a:p>
            </p:txBody>
          </p:sp>
        </mc:Fallback>
      </mc:AlternateContent>
    </p:spTree>
    <p:extLst>
      <p:ext uri="{BB962C8B-B14F-4D97-AF65-F5344CB8AC3E}">
        <p14:creationId xmlns:p14="http://schemas.microsoft.com/office/powerpoint/2010/main" val="22478909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EF578-F6C4-A943-90AB-2D7C11DE4C0F}"/>
              </a:ext>
            </a:extLst>
          </p:cNvPr>
          <p:cNvSpPr>
            <a:spLocks noGrp="1"/>
          </p:cNvSpPr>
          <p:nvPr>
            <p:ph type="title"/>
          </p:nvPr>
        </p:nvSpPr>
        <p:spPr/>
        <p:txBody>
          <a:bodyPr/>
          <a:lstStyle/>
          <a:p>
            <a:r>
              <a:rPr lang="en-US"/>
              <a:t>Summary</a:t>
            </a:r>
          </a:p>
        </p:txBody>
      </p:sp>
      <p:sp>
        <p:nvSpPr>
          <p:cNvPr id="3" name="Content Placeholder 2">
            <a:extLst>
              <a:ext uri="{FF2B5EF4-FFF2-40B4-BE49-F238E27FC236}">
                <a16:creationId xmlns:a16="http://schemas.microsoft.com/office/drawing/2014/main" id="{F189135A-648E-9943-B59C-B45A2E496EBA}"/>
              </a:ext>
            </a:extLst>
          </p:cNvPr>
          <p:cNvSpPr>
            <a:spLocks noGrp="1"/>
          </p:cNvSpPr>
          <p:nvPr>
            <p:ph idx="1"/>
          </p:nvPr>
        </p:nvSpPr>
        <p:spPr/>
        <p:txBody>
          <a:bodyPr/>
          <a:lstStyle/>
          <a:p>
            <a:r>
              <a:rPr lang="en-US" dirty="0"/>
              <a:t>Principle of Inclusion-Exclusion for 2 sets</a:t>
            </a:r>
          </a:p>
          <a:p>
            <a:r>
              <a:rPr lang="en-US" dirty="0"/>
              <a:t>Principle of Inclusion-Exclusion for 3 sets</a:t>
            </a:r>
          </a:p>
          <a:p>
            <a:r>
              <a:rPr lang="en-US" dirty="0"/>
              <a:t>Principle of Inclusion-Exclusion for n sets</a:t>
            </a:r>
          </a:p>
          <a:p>
            <a:endParaRPr lang="en-US"/>
          </a:p>
        </p:txBody>
      </p:sp>
    </p:spTree>
    <p:extLst>
      <p:ext uri="{BB962C8B-B14F-4D97-AF65-F5344CB8AC3E}">
        <p14:creationId xmlns:p14="http://schemas.microsoft.com/office/powerpoint/2010/main" val="15580374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Applications of Inclusion-Exclusion</a:t>
            </a:r>
          </a:p>
        </p:txBody>
      </p:sp>
      <p:sp>
        <p:nvSpPr>
          <p:cNvPr id="3" name="Subtitle 2"/>
          <p:cNvSpPr>
            <a:spLocks noGrp="1"/>
          </p:cNvSpPr>
          <p:nvPr>
            <p:ph type="subTitle" idx="1"/>
          </p:nvPr>
        </p:nvSpPr>
        <p:spPr/>
        <p:txBody>
          <a:bodyPr/>
          <a:lstStyle/>
          <a:p>
            <a:r>
              <a:rPr lang="en-US" dirty="0"/>
              <a:t>Section </a:t>
            </a:r>
            <a:r>
              <a:rPr lang="en-US" dirty="0">
                <a:latin typeface="Cambria Math" pitchFamily="18" charset="0"/>
                <a:ea typeface="Cambria Math" pitchFamily="18" charset="0"/>
              </a:rPr>
              <a:t>8.6</a:t>
            </a:r>
          </a:p>
        </p:txBody>
      </p:sp>
    </p:spTree>
    <p:extLst>
      <p:ext uri="{BB962C8B-B14F-4D97-AF65-F5344CB8AC3E}">
        <p14:creationId xmlns:p14="http://schemas.microsoft.com/office/powerpoint/2010/main" val="38395773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Video 72: Applications of Inclusion-Exclusion</a:t>
            </a:r>
          </a:p>
        </p:txBody>
      </p:sp>
      <p:sp>
        <p:nvSpPr>
          <p:cNvPr id="3" name="Content Placeholder 2"/>
          <p:cNvSpPr>
            <a:spLocks noGrp="1"/>
          </p:cNvSpPr>
          <p:nvPr>
            <p:ph idx="1"/>
          </p:nvPr>
        </p:nvSpPr>
        <p:spPr/>
        <p:txBody>
          <a:bodyPr>
            <a:normAutofit/>
          </a:bodyPr>
          <a:lstStyle/>
          <a:p>
            <a:r>
              <a:rPr lang="en-US" dirty="0"/>
              <a:t>Onto-Functions</a:t>
            </a:r>
          </a:p>
          <a:p>
            <a:r>
              <a:rPr lang="en-US" dirty="0"/>
              <a:t>Derangements</a:t>
            </a:r>
          </a:p>
        </p:txBody>
      </p:sp>
    </p:spTree>
    <p:extLst>
      <p:ext uri="{BB962C8B-B14F-4D97-AF65-F5344CB8AC3E}">
        <p14:creationId xmlns:p14="http://schemas.microsoft.com/office/powerpoint/2010/main" val="15160498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The Number of Onto Functions</a:t>
            </a:r>
          </a:p>
        </p:txBody>
      </p:sp>
      <p:sp>
        <p:nvSpPr>
          <p:cNvPr id="3" name="Content Placeholder 2"/>
          <p:cNvSpPr>
            <a:spLocks noGrp="1"/>
          </p:cNvSpPr>
          <p:nvPr>
            <p:ph idx="1"/>
          </p:nvPr>
        </p:nvSpPr>
        <p:spPr/>
        <p:txBody>
          <a:bodyPr>
            <a:normAutofit fontScale="92500" lnSpcReduction="10000"/>
          </a:bodyPr>
          <a:lstStyle/>
          <a:p>
            <a:pPr>
              <a:buNone/>
            </a:pPr>
            <a:r>
              <a:rPr lang="en-US" dirty="0"/>
              <a:t>How many onto (surjective) functions are there from a set with 6 elements to a set with 3 elements?</a:t>
            </a:r>
          </a:p>
          <a:p>
            <a:r>
              <a:rPr lang="en-US" dirty="0"/>
              <a:t>Suppose that the elements in the </a:t>
            </a:r>
            <a:r>
              <a:rPr lang="en-US" dirty="0" err="1"/>
              <a:t>codomain</a:t>
            </a:r>
            <a:r>
              <a:rPr lang="en-US" dirty="0"/>
              <a:t> are </a:t>
            </a:r>
            <a:r>
              <a:rPr lang="en-US" i="1" dirty="0"/>
              <a:t>b</a:t>
            </a:r>
            <a:r>
              <a:rPr lang="en-US" baseline="-25000" dirty="0"/>
              <a:t>1</a:t>
            </a:r>
            <a:r>
              <a:rPr lang="en-US" dirty="0"/>
              <a:t>, </a:t>
            </a:r>
            <a:r>
              <a:rPr lang="en-US" i="1" dirty="0"/>
              <a:t>b</a:t>
            </a:r>
            <a:r>
              <a:rPr lang="en-US" baseline="-25000" dirty="0"/>
              <a:t>2</a:t>
            </a:r>
            <a:r>
              <a:rPr lang="en-US" dirty="0"/>
              <a:t>, and </a:t>
            </a:r>
            <a:r>
              <a:rPr lang="en-US" i="1" dirty="0"/>
              <a:t>b</a:t>
            </a:r>
            <a:r>
              <a:rPr lang="en-US" baseline="-25000" dirty="0"/>
              <a:t>3</a:t>
            </a:r>
            <a:r>
              <a:rPr lang="en-US" dirty="0"/>
              <a:t>. </a:t>
            </a:r>
          </a:p>
          <a:p>
            <a:r>
              <a:rPr lang="en-US" dirty="0"/>
              <a:t>Let </a:t>
            </a:r>
            <a:r>
              <a:rPr lang="en-US" i="1" dirty="0"/>
              <a:t>P</a:t>
            </a:r>
            <a:r>
              <a:rPr lang="en-US" baseline="-25000" dirty="0"/>
              <a:t>1</a:t>
            </a:r>
            <a:r>
              <a:rPr lang="en-US" dirty="0"/>
              <a:t>, </a:t>
            </a:r>
            <a:r>
              <a:rPr lang="en-US" i="1" dirty="0"/>
              <a:t>P</a:t>
            </a:r>
            <a:r>
              <a:rPr lang="en-US" baseline="-25000" dirty="0"/>
              <a:t>2</a:t>
            </a:r>
            <a:r>
              <a:rPr lang="en-US" dirty="0"/>
              <a:t>, and </a:t>
            </a:r>
            <a:r>
              <a:rPr lang="en-US" i="1" dirty="0"/>
              <a:t>P</a:t>
            </a:r>
            <a:r>
              <a:rPr lang="en-US" baseline="-25000" dirty="0"/>
              <a:t>3 </a:t>
            </a:r>
            <a:r>
              <a:rPr lang="en-US" dirty="0"/>
              <a:t> be the properties that </a:t>
            </a:r>
            <a:r>
              <a:rPr lang="en-US" i="1" dirty="0"/>
              <a:t>b</a:t>
            </a:r>
            <a:r>
              <a:rPr lang="en-US" baseline="-25000" dirty="0"/>
              <a:t>1</a:t>
            </a:r>
            <a:r>
              <a:rPr lang="en-US" dirty="0"/>
              <a:t>, </a:t>
            </a:r>
            <a:r>
              <a:rPr lang="en-US" i="1" dirty="0"/>
              <a:t>b</a:t>
            </a:r>
            <a:r>
              <a:rPr lang="en-US" baseline="-25000" dirty="0"/>
              <a:t>2</a:t>
            </a:r>
            <a:r>
              <a:rPr lang="en-US" dirty="0"/>
              <a:t>, and </a:t>
            </a:r>
            <a:r>
              <a:rPr lang="en-US" i="1" dirty="0"/>
              <a:t>b</a:t>
            </a:r>
            <a:r>
              <a:rPr lang="en-US" baseline="-25000" dirty="0"/>
              <a:t>3</a:t>
            </a:r>
            <a:r>
              <a:rPr lang="en-US" dirty="0"/>
              <a:t> are not in the range of the function, respectively. </a:t>
            </a:r>
          </a:p>
          <a:p>
            <a:r>
              <a:rPr lang="en-US" dirty="0"/>
              <a:t>The function is onto if </a:t>
            </a:r>
            <a:r>
              <a:rPr lang="en-US" b="1" dirty="0"/>
              <a:t>none</a:t>
            </a:r>
            <a:r>
              <a:rPr lang="en-US" dirty="0"/>
              <a:t> of the properties </a:t>
            </a:r>
            <a:r>
              <a:rPr lang="en-US" i="1" dirty="0"/>
              <a:t>P</a:t>
            </a:r>
            <a:r>
              <a:rPr lang="en-US" baseline="-25000" dirty="0"/>
              <a:t>1</a:t>
            </a:r>
            <a:r>
              <a:rPr lang="en-US" dirty="0"/>
              <a:t>, </a:t>
            </a:r>
            <a:r>
              <a:rPr lang="en-US" i="1" dirty="0"/>
              <a:t>P</a:t>
            </a:r>
            <a:r>
              <a:rPr lang="en-US" baseline="-25000" dirty="0"/>
              <a:t>2</a:t>
            </a:r>
            <a:r>
              <a:rPr lang="en-US" dirty="0"/>
              <a:t>, and </a:t>
            </a:r>
            <a:r>
              <a:rPr lang="en-US" i="1" dirty="0"/>
              <a:t>P</a:t>
            </a:r>
            <a:r>
              <a:rPr lang="en-US" baseline="-25000" dirty="0"/>
              <a:t>3</a:t>
            </a:r>
            <a:r>
              <a:rPr lang="en-US" dirty="0"/>
              <a:t>  hold. </a:t>
            </a:r>
          </a:p>
          <a:p>
            <a:r>
              <a:rPr lang="en-US" dirty="0"/>
              <a:t>Let N be </a:t>
            </a:r>
            <a:r>
              <a:rPr lang="en-US" dirty="0">
                <a:ea typeface="Cambria Math"/>
              </a:rPr>
              <a:t>the total number of functions from a set with 6 elements to one with 3 elements.</a:t>
            </a:r>
            <a:endParaRPr lang="en-US" dirty="0"/>
          </a:p>
          <a:p>
            <a:r>
              <a:rPr lang="en-US" dirty="0"/>
              <a:t>By the inclusion-exclusion principle the number is</a:t>
            </a:r>
          </a:p>
          <a:p>
            <a:pPr>
              <a:buNone/>
            </a:pPr>
            <a:r>
              <a:rPr lang="en-US" dirty="0"/>
              <a:t>           N </a:t>
            </a:r>
            <a:r>
              <a:rPr lang="en-US" dirty="0">
                <a:ea typeface="Cambria Math"/>
              </a:rPr>
              <a:t>− [N(</a:t>
            </a:r>
            <a:r>
              <a:rPr lang="en-US" i="1" dirty="0"/>
              <a:t>P</a:t>
            </a:r>
            <a:r>
              <a:rPr lang="en-US" baseline="-25000" dirty="0"/>
              <a:t>1</a:t>
            </a:r>
            <a:r>
              <a:rPr lang="en-US" dirty="0">
                <a:ea typeface="Cambria Math"/>
              </a:rPr>
              <a:t>) + N(</a:t>
            </a:r>
            <a:r>
              <a:rPr lang="en-US" i="1" dirty="0"/>
              <a:t>P</a:t>
            </a:r>
            <a:r>
              <a:rPr lang="en-US" baseline="-25000" dirty="0"/>
              <a:t>2</a:t>
            </a:r>
            <a:r>
              <a:rPr lang="en-US" dirty="0">
                <a:ea typeface="Cambria Math"/>
              </a:rPr>
              <a:t>) + N(</a:t>
            </a:r>
            <a:r>
              <a:rPr lang="en-US" i="1" dirty="0"/>
              <a:t>P</a:t>
            </a:r>
            <a:r>
              <a:rPr lang="en-US" baseline="-25000" dirty="0"/>
              <a:t>3</a:t>
            </a:r>
            <a:r>
              <a:rPr lang="en-US" dirty="0">
                <a:ea typeface="Cambria Math"/>
              </a:rPr>
              <a:t>)]  +  [N(</a:t>
            </a:r>
            <a:r>
              <a:rPr lang="en-US" i="1" dirty="0"/>
              <a:t>P</a:t>
            </a:r>
            <a:r>
              <a:rPr lang="en-US" baseline="-25000" dirty="0"/>
              <a:t>1</a:t>
            </a:r>
            <a:r>
              <a:rPr lang="en-US" i="1" dirty="0"/>
              <a:t>P</a:t>
            </a:r>
            <a:r>
              <a:rPr lang="en-US" baseline="-25000" dirty="0"/>
              <a:t>2</a:t>
            </a:r>
            <a:r>
              <a:rPr lang="en-US" dirty="0">
                <a:ea typeface="Cambria Math"/>
              </a:rPr>
              <a:t>) + N(</a:t>
            </a:r>
            <a:r>
              <a:rPr lang="en-US" i="1" dirty="0"/>
              <a:t>P</a:t>
            </a:r>
            <a:r>
              <a:rPr lang="en-US" baseline="-25000" dirty="0"/>
              <a:t>1</a:t>
            </a:r>
            <a:r>
              <a:rPr lang="en-US" i="1" dirty="0"/>
              <a:t>P</a:t>
            </a:r>
            <a:r>
              <a:rPr lang="en-US" baseline="-25000" dirty="0"/>
              <a:t>3</a:t>
            </a:r>
            <a:r>
              <a:rPr lang="en-US" dirty="0">
                <a:ea typeface="Cambria Math"/>
              </a:rPr>
              <a:t>) + N(</a:t>
            </a:r>
            <a:r>
              <a:rPr lang="en-US" i="1" dirty="0"/>
              <a:t>P</a:t>
            </a:r>
            <a:r>
              <a:rPr lang="en-US" baseline="-25000" dirty="0"/>
              <a:t>2</a:t>
            </a:r>
            <a:r>
              <a:rPr lang="en-US" i="1" dirty="0"/>
              <a:t>P</a:t>
            </a:r>
            <a:r>
              <a:rPr lang="en-US" baseline="-25000" dirty="0"/>
              <a:t>3</a:t>
            </a:r>
            <a:r>
              <a:rPr lang="en-US" dirty="0">
                <a:ea typeface="Cambria Math"/>
              </a:rPr>
              <a:t>)] − N(</a:t>
            </a:r>
            <a:r>
              <a:rPr lang="en-US" i="1" dirty="0"/>
              <a:t>P</a:t>
            </a:r>
            <a:r>
              <a:rPr lang="en-US" baseline="-25000" dirty="0"/>
              <a:t>1</a:t>
            </a:r>
            <a:r>
              <a:rPr lang="en-US" i="1" dirty="0"/>
              <a:t>P</a:t>
            </a:r>
            <a:r>
              <a:rPr lang="en-US" baseline="-25000" dirty="0"/>
              <a:t>2</a:t>
            </a:r>
            <a:r>
              <a:rPr lang="en-US" i="1" dirty="0"/>
              <a:t>P</a:t>
            </a:r>
            <a:r>
              <a:rPr lang="en-US" baseline="-25000" dirty="0"/>
              <a:t>3</a:t>
            </a:r>
            <a:r>
              <a:rPr lang="en-US" dirty="0">
                <a:ea typeface="Cambria Math"/>
              </a:rPr>
              <a:t>)</a:t>
            </a:r>
          </a:p>
        </p:txBody>
      </p:sp>
    </p:spTree>
    <p:extLst>
      <p:ext uri="{BB962C8B-B14F-4D97-AF65-F5344CB8AC3E}">
        <p14:creationId xmlns:p14="http://schemas.microsoft.com/office/powerpoint/2010/main" val="38163911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89A55-0902-1F48-96F6-F6B5C886391F}"/>
              </a:ext>
            </a:extLst>
          </p:cNvPr>
          <p:cNvSpPr>
            <a:spLocks noGrp="1"/>
          </p:cNvSpPr>
          <p:nvPr>
            <p:ph type="title"/>
          </p:nvPr>
        </p:nvSpPr>
        <p:spPr/>
        <p:txBody>
          <a:bodyPr/>
          <a:lstStyle/>
          <a:p>
            <a:r>
              <a:rPr lang="en-US" dirty="0"/>
              <a:t>Example: The Number of Onto Functions</a:t>
            </a:r>
            <a:endParaRPr lang="en-US"/>
          </a:p>
        </p:txBody>
      </p:sp>
      <p:sp>
        <p:nvSpPr>
          <p:cNvPr id="3" name="Content Placeholder 2">
            <a:extLst>
              <a:ext uri="{FF2B5EF4-FFF2-40B4-BE49-F238E27FC236}">
                <a16:creationId xmlns:a16="http://schemas.microsoft.com/office/drawing/2014/main" id="{E787DEFD-E5B4-1F48-A78A-ABA02A730405}"/>
              </a:ext>
            </a:extLst>
          </p:cNvPr>
          <p:cNvSpPr>
            <a:spLocks noGrp="1"/>
          </p:cNvSpPr>
          <p:nvPr>
            <p:ph idx="1"/>
          </p:nvPr>
        </p:nvSpPr>
        <p:spPr/>
        <p:txBody>
          <a:bodyPr>
            <a:normAutofit fontScale="92500" lnSpcReduction="10000"/>
          </a:bodyPr>
          <a:lstStyle/>
          <a:p>
            <a:pPr>
              <a:buNone/>
            </a:pPr>
            <a:r>
              <a:rPr lang="en-US" dirty="0">
                <a:ea typeface="Cambria Math"/>
              </a:rPr>
              <a:t>N = 3</a:t>
            </a:r>
            <a:r>
              <a:rPr lang="en-US" baseline="30000" dirty="0">
                <a:ea typeface="Cambria Math"/>
              </a:rPr>
              <a:t>6</a:t>
            </a:r>
            <a:r>
              <a:rPr lang="en-US" dirty="0">
                <a:ea typeface="Cambria Math"/>
              </a:rPr>
              <a:t> </a:t>
            </a:r>
          </a:p>
          <a:p>
            <a:pPr lvl="1"/>
            <a:r>
              <a:rPr lang="en-US" dirty="0">
                <a:ea typeface="Cambria Math"/>
              </a:rPr>
              <a:t>total number of functions from a set with six elements to one with three elements</a:t>
            </a:r>
            <a:endParaRPr lang="en-US" baseline="30000" dirty="0">
              <a:ea typeface="Cambria Math"/>
            </a:endParaRPr>
          </a:p>
          <a:p>
            <a:pPr>
              <a:buNone/>
            </a:pPr>
            <a:r>
              <a:rPr lang="en-US" dirty="0">
                <a:ea typeface="Cambria Math"/>
              </a:rPr>
              <a:t>N(</a:t>
            </a:r>
            <a:r>
              <a:rPr lang="en-US" i="1" dirty="0"/>
              <a:t>P</a:t>
            </a:r>
            <a:r>
              <a:rPr lang="en-US" baseline="-25000" dirty="0"/>
              <a:t>1</a:t>
            </a:r>
            <a:r>
              <a:rPr lang="en-US" dirty="0">
                <a:ea typeface="Cambria Math"/>
              </a:rPr>
              <a:t>) = N(</a:t>
            </a:r>
            <a:r>
              <a:rPr lang="en-US" i="1" dirty="0"/>
              <a:t>P</a:t>
            </a:r>
            <a:r>
              <a:rPr lang="en-US" baseline="-25000" dirty="0"/>
              <a:t>2</a:t>
            </a:r>
            <a:r>
              <a:rPr lang="en-US" dirty="0">
                <a:ea typeface="Cambria Math"/>
              </a:rPr>
              <a:t>) =  N(</a:t>
            </a:r>
            <a:r>
              <a:rPr lang="en-US" i="1" dirty="0"/>
              <a:t>P</a:t>
            </a:r>
            <a:r>
              <a:rPr lang="en-US" baseline="-25000" dirty="0"/>
              <a:t>3</a:t>
            </a:r>
            <a:r>
              <a:rPr lang="en-US" dirty="0">
                <a:ea typeface="Cambria Math"/>
              </a:rPr>
              <a:t>) = 2</a:t>
            </a:r>
            <a:r>
              <a:rPr lang="en-US" baseline="30000" dirty="0">
                <a:ea typeface="Cambria Math"/>
              </a:rPr>
              <a:t>6</a:t>
            </a:r>
            <a:r>
              <a:rPr lang="en-US" dirty="0">
                <a:ea typeface="Cambria Math"/>
              </a:rPr>
              <a:t> </a:t>
            </a:r>
          </a:p>
          <a:p>
            <a:pPr lvl="1"/>
            <a:r>
              <a:rPr lang="en-US" dirty="0">
                <a:ea typeface="Cambria Math"/>
              </a:rPr>
              <a:t>total number of functions from a set with six elements to one with two elements</a:t>
            </a:r>
            <a:endParaRPr lang="en-US" baseline="30000" dirty="0">
              <a:ea typeface="Cambria Math"/>
            </a:endParaRPr>
          </a:p>
          <a:p>
            <a:pPr>
              <a:buNone/>
            </a:pPr>
            <a:r>
              <a:rPr lang="en-US" dirty="0">
                <a:ea typeface="Cambria Math"/>
              </a:rPr>
              <a:t>N(</a:t>
            </a:r>
            <a:r>
              <a:rPr lang="en-US" i="1" dirty="0"/>
              <a:t>P</a:t>
            </a:r>
            <a:r>
              <a:rPr lang="en-US" baseline="-25000" dirty="0"/>
              <a:t>1</a:t>
            </a:r>
            <a:r>
              <a:rPr lang="en-US" i="1" dirty="0"/>
              <a:t>P</a:t>
            </a:r>
            <a:r>
              <a:rPr lang="en-US" baseline="-25000" dirty="0"/>
              <a:t>2</a:t>
            </a:r>
            <a:r>
              <a:rPr lang="en-US" dirty="0">
                <a:ea typeface="Cambria Math"/>
              </a:rPr>
              <a:t>) = N(</a:t>
            </a:r>
            <a:r>
              <a:rPr lang="en-US" i="1" dirty="0"/>
              <a:t>P</a:t>
            </a:r>
            <a:r>
              <a:rPr lang="en-US" baseline="-25000" dirty="0"/>
              <a:t>1</a:t>
            </a:r>
            <a:r>
              <a:rPr lang="en-US" i="1" dirty="0"/>
              <a:t>P</a:t>
            </a:r>
            <a:r>
              <a:rPr lang="en-US" baseline="-25000" dirty="0"/>
              <a:t>3</a:t>
            </a:r>
            <a:r>
              <a:rPr lang="en-US" dirty="0">
                <a:ea typeface="Cambria Math"/>
              </a:rPr>
              <a:t>) = N(</a:t>
            </a:r>
            <a:r>
              <a:rPr lang="en-US" i="1" dirty="0"/>
              <a:t>P</a:t>
            </a:r>
            <a:r>
              <a:rPr lang="en-US" baseline="-25000" dirty="0"/>
              <a:t>2</a:t>
            </a:r>
            <a:r>
              <a:rPr lang="en-US" i="1" dirty="0"/>
              <a:t>P</a:t>
            </a:r>
            <a:r>
              <a:rPr lang="en-US" baseline="-25000" dirty="0"/>
              <a:t>3</a:t>
            </a:r>
            <a:r>
              <a:rPr lang="en-US" dirty="0">
                <a:ea typeface="Cambria Math"/>
              </a:rPr>
              <a:t>) = 1 </a:t>
            </a:r>
          </a:p>
          <a:p>
            <a:pPr lvl="1"/>
            <a:r>
              <a:rPr lang="en-US" dirty="0">
                <a:ea typeface="Cambria Math"/>
              </a:rPr>
              <a:t>total number of functions from a set with six elements to one with one element</a:t>
            </a:r>
          </a:p>
          <a:p>
            <a:pPr>
              <a:buNone/>
            </a:pPr>
            <a:r>
              <a:rPr lang="en-US" dirty="0">
                <a:ea typeface="Cambria Math"/>
              </a:rPr>
              <a:t>N(</a:t>
            </a:r>
            <a:r>
              <a:rPr lang="en-US" i="1" dirty="0"/>
              <a:t>P</a:t>
            </a:r>
            <a:r>
              <a:rPr lang="en-US" baseline="-25000" dirty="0"/>
              <a:t>1</a:t>
            </a:r>
            <a:r>
              <a:rPr lang="en-US" i="1" dirty="0"/>
              <a:t>P</a:t>
            </a:r>
            <a:r>
              <a:rPr lang="en-US" baseline="-25000" dirty="0"/>
              <a:t>2</a:t>
            </a:r>
            <a:r>
              <a:rPr lang="en-US" i="1" dirty="0"/>
              <a:t>P</a:t>
            </a:r>
            <a:r>
              <a:rPr lang="en-US" baseline="-25000" dirty="0"/>
              <a:t>3</a:t>
            </a:r>
            <a:r>
              <a:rPr lang="en-US" dirty="0">
                <a:ea typeface="Cambria Math"/>
              </a:rPr>
              <a:t>)= 0</a:t>
            </a:r>
          </a:p>
          <a:p>
            <a:pPr lvl="1"/>
            <a:r>
              <a:rPr lang="en-US" dirty="0">
                <a:ea typeface="Cambria Math"/>
              </a:rPr>
              <a:t>no functions if the co-domain is empty</a:t>
            </a:r>
          </a:p>
          <a:p>
            <a:pPr>
              <a:buNone/>
            </a:pPr>
            <a:r>
              <a:rPr lang="en-US" dirty="0">
                <a:ea typeface="Cambria Math"/>
              </a:rPr>
              <a:t>Hence, the number of onto functions from a set with 6 elements to a set with 3 elements is:</a:t>
            </a:r>
          </a:p>
          <a:p>
            <a:pPr>
              <a:buNone/>
            </a:pPr>
            <a:r>
              <a:rPr lang="en-US" dirty="0">
                <a:ea typeface="Cambria Math"/>
              </a:rPr>
              <a:t>			3</a:t>
            </a:r>
            <a:r>
              <a:rPr lang="en-US" baseline="30000" dirty="0">
                <a:ea typeface="Cambria Math"/>
              </a:rPr>
              <a:t>6</a:t>
            </a:r>
            <a:r>
              <a:rPr lang="en-US" dirty="0">
                <a:ea typeface="Cambria Math"/>
              </a:rPr>
              <a:t> − 3 ∙ 2</a:t>
            </a:r>
            <a:r>
              <a:rPr lang="en-US" baseline="30000" dirty="0">
                <a:ea typeface="Cambria Math"/>
              </a:rPr>
              <a:t>6  </a:t>
            </a:r>
            <a:r>
              <a:rPr lang="en-US" dirty="0">
                <a:ea typeface="Cambria Math"/>
              </a:rPr>
              <a:t>+ 3  = 729 − 192 + 3  = 540</a:t>
            </a:r>
            <a:endParaRPr lang="en-US" dirty="0"/>
          </a:p>
          <a:p>
            <a:endParaRPr lang="en-US"/>
          </a:p>
        </p:txBody>
      </p:sp>
    </p:spTree>
    <p:extLst>
      <p:ext uri="{BB962C8B-B14F-4D97-AF65-F5344CB8AC3E}">
        <p14:creationId xmlns:p14="http://schemas.microsoft.com/office/powerpoint/2010/main" val="16411599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Number of Onto Functions</a:t>
            </a:r>
          </a:p>
        </p:txBody>
      </p:sp>
      <p:sp>
        <p:nvSpPr>
          <p:cNvPr id="3" name="Content Placeholder 2"/>
          <p:cNvSpPr>
            <a:spLocks noGrp="1"/>
          </p:cNvSpPr>
          <p:nvPr>
            <p:ph idx="1"/>
          </p:nvPr>
        </p:nvSpPr>
        <p:spPr/>
        <p:txBody>
          <a:bodyPr>
            <a:normAutofit/>
          </a:bodyPr>
          <a:lstStyle/>
          <a:p>
            <a:pPr>
              <a:buNone/>
            </a:pPr>
            <a:r>
              <a:rPr lang="en-US" b="1" dirty="0"/>
              <a:t>Theorem</a:t>
            </a:r>
            <a:r>
              <a:rPr lang="en-US" dirty="0"/>
              <a:t>: Let m and n be positive integers with </a:t>
            </a:r>
            <a:r>
              <a:rPr lang="en-US" i="1" dirty="0"/>
              <a:t>m</a:t>
            </a:r>
            <a:r>
              <a:rPr lang="en-US" dirty="0"/>
              <a:t> </a:t>
            </a:r>
            <a:r>
              <a:rPr lang="en-US" dirty="0">
                <a:ea typeface="Cambria Math"/>
              </a:rPr>
              <a:t>≥ </a:t>
            </a:r>
            <a:r>
              <a:rPr lang="en-US" i="1" dirty="0">
                <a:ea typeface="Cambria Math"/>
              </a:rPr>
              <a:t>n</a:t>
            </a:r>
            <a:r>
              <a:rPr lang="en-US" dirty="0">
                <a:ea typeface="Cambria Math"/>
              </a:rPr>
              <a:t>. Then there are </a:t>
            </a:r>
          </a:p>
          <a:p>
            <a:pPr>
              <a:buNone/>
            </a:pPr>
            <a:endParaRPr lang="en-US" dirty="0">
              <a:ea typeface="Cambria Math"/>
            </a:endParaRPr>
          </a:p>
          <a:p>
            <a:pPr>
              <a:buNone/>
            </a:pPr>
            <a:endParaRPr lang="en-US" dirty="0">
              <a:ea typeface="Cambria Math"/>
            </a:endParaRPr>
          </a:p>
          <a:p>
            <a:pPr>
              <a:buNone/>
            </a:pPr>
            <a:endParaRPr lang="en-US" dirty="0">
              <a:ea typeface="Cambria Math"/>
            </a:endParaRPr>
          </a:p>
          <a:p>
            <a:pPr>
              <a:buNone/>
            </a:pPr>
            <a:r>
              <a:rPr lang="en-US" dirty="0">
                <a:ea typeface="Cambria Math"/>
              </a:rPr>
              <a:t>surjective functions from a set with </a:t>
            </a:r>
            <a:r>
              <a:rPr lang="en-US" i="1" dirty="0">
                <a:ea typeface="Cambria Math"/>
              </a:rPr>
              <a:t>m</a:t>
            </a:r>
            <a:r>
              <a:rPr lang="en-US" dirty="0">
                <a:ea typeface="Cambria Math"/>
              </a:rPr>
              <a:t> elements to a set with </a:t>
            </a:r>
            <a:r>
              <a:rPr lang="en-US" i="1" dirty="0">
                <a:ea typeface="Cambria Math"/>
              </a:rPr>
              <a:t>n</a:t>
            </a:r>
            <a:r>
              <a:rPr lang="en-US" dirty="0">
                <a:ea typeface="Cambria Math"/>
              </a:rPr>
              <a:t> elements. </a:t>
            </a:r>
          </a:p>
          <a:p>
            <a:pPr>
              <a:buNone/>
            </a:pPr>
            <a:endParaRPr lang="en-US" dirty="0">
              <a:latin typeface="Cambria Math"/>
              <a:ea typeface="Cambria Math"/>
            </a:endParaRPr>
          </a:p>
          <a:p>
            <a:pPr>
              <a:buNone/>
            </a:pPr>
            <a:r>
              <a:rPr lang="en-US" b="1" dirty="0"/>
              <a:t>      </a:t>
            </a:r>
            <a:endParaRPr lang="en-US" dirty="0"/>
          </a:p>
        </p:txBody>
      </p:sp>
      <p:pic>
        <p:nvPicPr>
          <p:cNvPr id="4" name="Picture 3" descr="addin_tmp.png"/>
          <p:cNvPicPr>
            <a:picLocks noChangeAspect="1"/>
          </p:cNvPicPr>
          <p:nvPr>
            <p:custDataLst>
              <p:tags r:id="rId1"/>
            </p:custDataLst>
          </p:nvPr>
        </p:nvPicPr>
        <p:blipFill>
          <a:blip r:embed="rId3" cstate="print"/>
          <a:stretch>
            <a:fillRect/>
          </a:stretch>
        </p:blipFill>
        <p:spPr>
          <a:xfrm>
            <a:off x="1274297" y="2897945"/>
            <a:ext cx="10289115" cy="365467"/>
          </a:xfrm>
          <a:prstGeom prst="rect">
            <a:avLst/>
          </a:prstGeom>
        </p:spPr>
      </p:pic>
    </p:spTree>
    <p:extLst>
      <p:ext uri="{BB962C8B-B14F-4D97-AF65-F5344CB8AC3E}">
        <p14:creationId xmlns:p14="http://schemas.microsoft.com/office/powerpoint/2010/main" val="16485286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DC80B-0798-FC46-A88D-7E01EFF96EB3}"/>
              </a:ext>
            </a:extLst>
          </p:cNvPr>
          <p:cNvSpPr>
            <a:spLocks noGrp="1"/>
          </p:cNvSpPr>
          <p:nvPr>
            <p:ph type="title"/>
          </p:nvPr>
        </p:nvSpPr>
        <p:spPr/>
        <p:txBody>
          <a:bodyPr/>
          <a:lstStyle/>
          <a:p>
            <a:r>
              <a:rPr lang="en-US"/>
              <a:t>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3C974BC-69A7-8048-B9AA-2C2BB4817A8A}"/>
                  </a:ext>
                </a:extLst>
              </p:cNvPr>
              <p:cNvSpPr>
                <a:spLocks noGrp="1"/>
              </p:cNvSpPr>
              <p:nvPr>
                <p:ph idx="1"/>
              </p:nvPr>
            </p:nvSpPr>
            <p:spPr/>
            <p:txBody>
              <a:bodyPr/>
              <a:lstStyle/>
              <a:p>
                <a:pPr marL="0" indent="0">
                  <a:buNone/>
                </a:pPr>
                <a:r>
                  <a:rPr lang="en-GB"/>
                  <a:t>How many ways are there to assign 5 different jobs to 4 different employees so that every employee is assigned at least one job?</a:t>
                </a:r>
              </a:p>
              <a:p>
                <a:pPr marL="0" indent="0">
                  <a:buNone/>
                </a:pPr>
                <a:endParaRPr lang="en-GB"/>
              </a:p>
              <a:p>
                <a:pPr marL="0" indent="0">
                  <a:buNone/>
                </a:pPr>
                <a:r>
                  <a:rPr lang="en-GB"/>
                  <a:t>An assignment is a surjective function from the employees to the jobs</a:t>
                </a:r>
              </a:p>
              <a:p>
                <a:pPr marL="0" indent="0">
                  <a:buNone/>
                </a:pPr>
                <a:endParaRPr lang="en-GB"/>
              </a:p>
              <a:p>
                <a:pPr marL="0" indent="0">
                  <a:buNone/>
                </a:pPr>
                <a14:m>
                  <m:oMathPara xmlns:m="http://schemas.openxmlformats.org/officeDocument/2006/math">
                    <m:oMathParaPr>
                      <m:jc m:val="centerGroup"/>
                    </m:oMathParaPr>
                    <m:oMath xmlns:m="http://schemas.openxmlformats.org/officeDocument/2006/math">
                      <m:sSup>
                        <m:sSupPr>
                          <m:ctrlPr>
                            <a:rPr lang="en-GB" i="1">
                              <a:latin typeface="Cambria Math" panose="02040503050406030204" pitchFamily="18" charset="0"/>
                            </a:rPr>
                          </m:ctrlPr>
                        </m:sSupPr>
                        <m:e>
                          <m:r>
                            <a:rPr lang="fr-CH" b="0" i="1">
                              <a:latin typeface="Cambria Math" panose="02040503050406030204" pitchFamily="18" charset="0"/>
                            </a:rPr>
                            <m:t>4</m:t>
                          </m:r>
                        </m:e>
                        <m:sup>
                          <m:r>
                            <a:rPr lang="fr-CH" b="0" i="1">
                              <a:latin typeface="Cambria Math" panose="02040503050406030204" pitchFamily="18" charset="0"/>
                            </a:rPr>
                            <m:t>5</m:t>
                          </m:r>
                        </m:sup>
                      </m:sSup>
                      <m:r>
                        <a:rPr lang="en-GB" i="1">
                          <a:latin typeface="Cambria Math" panose="02040503050406030204" pitchFamily="18" charset="0"/>
                        </a:rPr>
                        <m:t> −</m:t>
                      </m:r>
                      <m:r>
                        <a:rPr lang="en-GB" i="1">
                          <a:latin typeface="Cambria Math" panose="02040503050406030204" pitchFamily="18" charset="0"/>
                        </a:rPr>
                        <m:t>𝐶</m:t>
                      </m:r>
                      <m:d>
                        <m:dPr>
                          <m:ctrlPr>
                            <a:rPr lang="en-GB" i="1">
                              <a:latin typeface="Cambria Math" panose="02040503050406030204" pitchFamily="18" charset="0"/>
                            </a:rPr>
                          </m:ctrlPr>
                        </m:dPr>
                        <m:e>
                          <m:r>
                            <a:rPr lang="en-GB" i="1">
                              <a:latin typeface="Cambria Math" panose="02040503050406030204" pitchFamily="18" charset="0"/>
                            </a:rPr>
                            <m:t>4,1</m:t>
                          </m:r>
                        </m:e>
                      </m:d>
                      <m:sSup>
                        <m:sSupPr>
                          <m:ctrlPr>
                            <a:rPr lang="en-GB" i="1">
                              <a:latin typeface="Cambria Math" panose="02040503050406030204" pitchFamily="18" charset="0"/>
                            </a:rPr>
                          </m:ctrlPr>
                        </m:sSupPr>
                        <m:e>
                          <m:r>
                            <a:rPr lang="fr-CH" b="0" i="1">
                              <a:latin typeface="Cambria Math" panose="02040503050406030204" pitchFamily="18" charset="0"/>
                            </a:rPr>
                            <m:t>3</m:t>
                          </m:r>
                        </m:e>
                        <m:sup>
                          <m:r>
                            <a:rPr lang="fr-CH" b="0" i="1">
                              <a:latin typeface="Cambria Math" panose="02040503050406030204" pitchFamily="18" charset="0"/>
                            </a:rPr>
                            <m:t>5</m:t>
                          </m:r>
                        </m:sup>
                      </m:sSup>
                      <m:r>
                        <a:rPr lang="en-GB" i="1">
                          <a:latin typeface="Cambria Math" panose="02040503050406030204" pitchFamily="18" charset="0"/>
                        </a:rPr>
                        <m:t> +</m:t>
                      </m:r>
                      <m:r>
                        <a:rPr lang="en-GB" i="1">
                          <a:latin typeface="Cambria Math" panose="02040503050406030204" pitchFamily="18" charset="0"/>
                        </a:rPr>
                        <m:t>𝐶</m:t>
                      </m:r>
                      <m:d>
                        <m:dPr>
                          <m:ctrlPr>
                            <a:rPr lang="en-GB" i="1">
                              <a:latin typeface="Cambria Math" panose="02040503050406030204" pitchFamily="18" charset="0"/>
                            </a:rPr>
                          </m:ctrlPr>
                        </m:dPr>
                        <m:e>
                          <m:r>
                            <a:rPr lang="en-GB" i="1">
                              <a:latin typeface="Cambria Math" panose="02040503050406030204" pitchFamily="18" charset="0"/>
                            </a:rPr>
                            <m:t>4,2</m:t>
                          </m:r>
                        </m:e>
                      </m:d>
                      <m:sSup>
                        <m:sSupPr>
                          <m:ctrlPr>
                            <a:rPr lang="en-GB" i="1">
                              <a:latin typeface="Cambria Math" panose="02040503050406030204" pitchFamily="18" charset="0"/>
                            </a:rPr>
                          </m:ctrlPr>
                        </m:sSupPr>
                        <m:e>
                          <m:r>
                            <a:rPr lang="fr-CH" b="0" i="1">
                              <a:latin typeface="Cambria Math" panose="02040503050406030204" pitchFamily="18" charset="0"/>
                            </a:rPr>
                            <m:t>2</m:t>
                          </m:r>
                        </m:e>
                        <m:sup>
                          <m:r>
                            <a:rPr lang="fr-CH" b="0" i="1">
                              <a:latin typeface="Cambria Math" panose="02040503050406030204" pitchFamily="18" charset="0"/>
                            </a:rPr>
                            <m:t>5</m:t>
                          </m:r>
                        </m:sup>
                      </m:sSup>
                      <m:r>
                        <a:rPr lang="en-GB" i="1">
                          <a:latin typeface="Cambria Math" panose="02040503050406030204" pitchFamily="18" charset="0"/>
                        </a:rPr>
                        <m:t> −</m:t>
                      </m:r>
                      <m:r>
                        <a:rPr lang="en-GB" i="1">
                          <a:latin typeface="Cambria Math" panose="02040503050406030204" pitchFamily="18" charset="0"/>
                        </a:rPr>
                        <m:t>𝐶</m:t>
                      </m:r>
                      <m:d>
                        <m:dPr>
                          <m:ctrlPr>
                            <a:rPr lang="en-GB" i="1">
                              <a:latin typeface="Cambria Math" panose="02040503050406030204" pitchFamily="18" charset="0"/>
                            </a:rPr>
                          </m:ctrlPr>
                        </m:dPr>
                        <m:e>
                          <m:r>
                            <a:rPr lang="en-GB" i="1">
                              <a:latin typeface="Cambria Math" panose="02040503050406030204" pitchFamily="18" charset="0"/>
                            </a:rPr>
                            <m:t>4,3</m:t>
                          </m:r>
                        </m:e>
                      </m:d>
                      <m:sSup>
                        <m:sSupPr>
                          <m:ctrlPr>
                            <a:rPr lang="en-GB" i="1">
                              <a:latin typeface="Cambria Math" panose="02040503050406030204" pitchFamily="18" charset="0"/>
                            </a:rPr>
                          </m:ctrlPr>
                        </m:sSupPr>
                        <m:e>
                          <m:r>
                            <a:rPr lang="fr-CH" b="0" i="1">
                              <a:latin typeface="Cambria Math" panose="02040503050406030204" pitchFamily="18" charset="0"/>
                            </a:rPr>
                            <m:t>1</m:t>
                          </m:r>
                        </m:e>
                        <m:sup>
                          <m:r>
                            <a:rPr lang="fr-CH" b="0" i="1">
                              <a:latin typeface="Cambria Math" panose="02040503050406030204" pitchFamily="18" charset="0"/>
                            </a:rPr>
                            <m:t>5</m:t>
                          </m:r>
                        </m:sup>
                      </m:sSup>
                    </m:oMath>
                  </m:oMathPara>
                </a14:m>
                <a:endParaRPr lang="fr-CH" i="1">
                  <a:latin typeface="Cambria Math" panose="02040503050406030204" pitchFamily="18" charset="0"/>
                </a:endParaRPr>
              </a:p>
              <a:p>
                <a:pPr marL="0" indent="0">
                  <a:buNone/>
                </a:pPr>
                <a:br>
                  <a:rPr lang="en-GB" i="1">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 = 1024−972+192−4 = 240</m:t>
                      </m:r>
                    </m:oMath>
                  </m:oMathPara>
                </a14:m>
                <a:br>
                  <a:rPr lang="en-GB"/>
                </a:br>
                <a:endParaRPr lang="en-GB"/>
              </a:p>
              <a:p>
                <a:pPr marL="0" indent="0">
                  <a:buNone/>
                </a:pPr>
                <a:endParaRPr lang="en-GB"/>
              </a:p>
              <a:p>
                <a:pPr marL="0" indent="0">
                  <a:buNone/>
                </a:pPr>
                <a:endParaRPr lang="en-US"/>
              </a:p>
            </p:txBody>
          </p:sp>
        </mc:Choice>
        <mc:Fallback>
          <p:sp>
            <p:nvSpPr>
              <p:cNvPr id="3" name="Content Placeholder 2">
                <a:extLst>
                  <a:ext uri="{FF2B5EF4-FFF2-40B4-BE49-F238E27FC236}">
                    <a16:creationId xmlns:a16="http://schemas.microsoft.com/office/drawing/2014/main" id="{03C974BC-69A7-8048-B9AA-2C2BB4817A8A}"/>
                  </a:ext>
                </a:extLst>
              </p:cNvPr>
              <p:cNvSpPr>
                <a:spLocks noGrp="1" noRot="1" noChangeAspect="1" noMove="1" noResize="1" noEditPoints="1" noAdjustHandles="1" noChangeArrowheads="1" noChangeShapeType="1" noTextEdit="1"/>
              </p:cNvSpPr>
              <p:nvPr>
                <p:ph idx="1"/>
              </p:nvPr>
            </p:nvSpPr>
            <p:spPr>
              <a:blipFill>
                <a:blip r:embed="rId2"/>
                <a:stretch>
                  <a:fillRect l="-1086" t="-2632"/>
                </a:stretch>
              </a:blipFill>
            </p:spPr>
            <p:txBody>
              <a:bodyPr/>
              <a:lstStyle/>
              <a:p>
                <a:r>
                  <a:rPr lang="en-US">
                    <a:noFill/>
                  </a:rPr>
                  <a:t> </a:t>
                </a:r>
              </a:p>
            </p:txBody>
          </p:sp>
        </mc:Fallback>
      </mc:AlternateContent>
    </p:spTree>
    <p:extLst>
      <p:ext uri="{BB962C8B-B14F-4D97-AF65-F5344CB8AC3E}">
        <p14:creationId xmlns:p14="http://schemas.microsoft.com/office/powerpoint/2010/main" val="35158308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Derangements</a:t>
            </a:r>
          </a:p>
        </p:txBody>
      </p:sp>
      <p:sp>
        <p:nvSpPr>
          <p:cNvPr id="3" name="Content Placeholder 2"/>
          <p:cNvSpPr>
            <a:spLocks noGrp="1"/>
          </p:cNvSpPr>
          <p:nvPr>
            <p:ph idx="1"/>
          </p:nvPr>
        </p:nvSpPr>
        <p:spPr/>
        <p:txBody>
          <a:bodyPr/>
          <a:lstStyle/>
          <a:p>
            <a:pPr>
              <a:buNone/>
            </a:pPr>
            <a:r>
              <a:rPr lang="en-US" b="1" dirty="0"/>
              <a:t>Definition</a:t>
            </a:r>
            <a:r>
              <a:rPr lang="en-US" dirty="0"/>
              <a:t>: A </a:t>
            </a:r>
            <a:r>
              <a:rPr lang="en-US" b="1" dirty="0"/>
              <a:t>derangement</a:t>
            </a:r>
            <a:r>
              <a:rPr lang="en-US" dirty="0"/>
              <a:t> is a permutation of objects that leaves no object in the original position.</a:t>
            </a:r>
          </a:p>
          <a:p>
            <a:pPr>
              <a:buNone/>
            </a:pPr>
            <a:endParaRPr lang="en-US" dirty="0"/>
          </a:p>
          <a:p>
            <a:pPr>
              <a:buNone/>
            </a:pPr>
            <a:r>
              <a:rPr lang="en-US" b="1" dirty="0"/>
              <a:t>Example</a:t>
            </a:r>
            <a:r>
              <a:rPr lang="en-US" dirty="0"/>
              <a:t>: </a:t>
            </a:r>
          </a:p>
          <a:p>
            <a:pPr>
              <a:buNone/>
            </a:pPr>
            <a:r>
              <a:rPr lang="en-US" dirty="0"/>
              <a:t>The permutation of </a:t>
            </a:r>
            <a:r>
              <a:rPr lang="en-US" dirty="0">
                <a:ea typeface="Cambria Math" pitchFamily="18" charset="0"/>
              </a:rPr>
              <a:t>21453 </a:t>
            </a:r>
            <a:r>
              <a:rPr lang="en-US" dirty="0"/>
              <a:t>is a derangement of </a:t>
            </a:r>
            <a:r>
              <a:rPr lang="en-US" dirty="0">
                <a:ea typeface="Cambria Math" pitchFamily="18" charset="0"/>
              </a:rPr>
              <a:t>12345</a:t>
            </a:r>
            <a:r>
              <a:rPr lang="en-US" dirty="0"/>
              <a:t>. </a:t>
            </a:r>
          </a:p>
          <a:p>
            <a:pPr>
              <a:buNone/>
            </a:pPr>
            <a:r>
              <a:rPr lang="en-US" dirty="0"/>
              <a:t>But </a:t>
            </a:r>
            <a:r>
              <a:rPr lang="en-US" dirty="0">
                <a:ea typeface="Cambria Math" pitchFamily="18" charset="0"/>
              </a:rPr>
              <a:t>21543</a:t>
            </a:r>
            <a:r>
              <a:rPr lang="en-US" dirty="0"/>
              <a:t> is not a derangement of </a:t>
            </a:r>
            <a:r>
              <a:rPr lang="en-US" dirty="0">
                <a:ea typeface="Cambria Math" pitchFamily="18" charset="0"/>
              </a:rPr>
              <a:t>12345</a:t>
            </a:r>
            <a:r>
              <a:rPr lang="en-US" dirty="0"/>
              <a:t>, because </a:t>
            </a:r>
            <a:r>
              <a:rPr lang="en-US" dirty="0">
                <a:ea typeface="Cambria Math" pitchFamily="18" charset="0"/>
              </a:rPr>
              <a:t>4</a:t>
            </a:r>
            <a:r>
              <a:rPr lang="en-US" dirty="0"/>
              <a:t> is in its original position. </a:t>
            </a:r>
          </a:p>
        </p:txBody>
      </p:sp>
    </p:spTree>
    <p:extLst>
      <p:ext uri="{BB962C8B-B14F-4D97-AF65-F5344CB8AC3E}">
        <p14:creationId xmlns:p14="http://schemas.microsoft.com/office/powerpoint/2010/main" val="15323712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Derangements</a:t>
            </a:r>
          </a:p>
        </p:txBody>
      </p:sp>
      <p:sp>
        <p:nvSpPr>
          <p:cNvPr id="3" name="Content Placeholder 2"/>
          <p:cNvSpPr>
            <a:spLocks noGrp="1"/>
          </p:cNvSpPr>
          <p:nvPr>
            <p:ph idx="1"/>
          </p:nvPr>
        </p:nvSpPr>
        <p:spPr/>
        <p:txBody>
          <a:bodyPr/>
          <a:lstStyle/>
          <a:p>
            <a:pPr>
              <a:buNone/>
            </a:pPr>
            <a:r>
              <a:rPr lang="en-US" b="1" dirty="0"/>
              <a:t>Theorem</a:t>
            </a:r>
            <a:r>
              <a:rPr lang="en-US" dirty="0"/>
              <a:t>: The number of derangements of a set with </a:t>
            </a:r>
            <a:r>
              <a:rPr lang="en-US" i="1" dirty="0"/>
              <a:t>n</a:t>
            </a:r>
            <a:r>
              <a:rPr lang="en-US" dirty="0"/>
              <a:t> elements is </a:t>
            </a:r>
          </a:p>
        </p:txBody>
      </p:sp>
      <p:pic>
        <p:nvPicPr>
          <p:cNvPr id="4" name="Picture 3" descr="addin_tmp.png"/>
          <p:cNvPicPr>
            <a:picLocks noChangeAspect="1"/>
          </p:cNvPicPr>
          <p:nvPr>
            <p:custDataLst>
              <p:tags r:id="rId1"/>
            </p:custDataLst>
          </p:nvPr>
        </p:nvPicPr>
        <p:blipFill>
          <a:blip r:embed="rId3" cstate="print"/>
          <a:stretch>
            <a:fillRect/>
          </a:stretch>
        </p:blipFill>
        <p:spPr>
          <a:xfrm>
            <a:off x="2209800" y="2786557"/>
            <a:ext cx="6983782" cy="854612"/>
          </a:xfrm>
          <a:prstGeom prst="rect">
            <a:avLst/>
          </a:prstGeom>
        </p:spPr>
      </p:pic>
    </p:spTree>
    <p:extLst>
      <p:ext uri="{BB962C8B-B14F-4D97-AF65-F5344CB8AC3E}">
        <p14:creationId xmlns:p14="http://schemas.microsoft.com/office/powerpoint/2010/main" val="30063908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fontScale="85000" lnSpcReduction="20000"/>
          </a:bodyPr>
          <a:lstStyle/>
          <a:p>
            <a:pPr>
              <a:buNone/>
            </a:pPr>
            <a:r>
              <a:rPr lang="en-US" b="1" dirty="0"/>
              <a:t>The Hatcheck Problem</a:t>
            </a:r>
            <a:r>
              <a:rPr lang="en-US" dirty="0"/>
              <a:t>: A new employee checks the hats of </a:t>
            </a:r>
            <a:r>
              <a:rPr lang="en-US" i="1" dirty="0"/>
              <a:t>n</a:t>
            </a:r>
            <a:r>
              <a:rPr lang="en-US" dirty="0"/>
              <a:t> people at  restaurant, forgetting to put claim check numbers on the hats. </a:t>
            </a:r>
          </a:p>
          <a:p>
            <a:pPr>
              <a:buNone/>
            </a:pPr>
            <a:r>
              <a:rPr lang="en-US" dirty="0"/>
              <a:t>When customers return for their hats, the checker gives them back hats chosen at random from the remaining hats. </a:t>
            </a:r>
          </a:p>
          <a:p>
            <a:pPr>
              <a:buNone/>
            </a:pPr>
            <a:r>
              <a:rPr lang="en-US" dirty="0"/>
              <a:t>What is the chance that no one receives the correct hat?</a:t>
            </a:r>
          </a:p>
          <a:p>
            <a:pPr>
              <a:buNone/>
            </a:pPr>
            <a:endParaRPr lang="en-US" dirty="0"/>
          </a:p>
          <a:p>
            <a:pPr>
              <a:buNone/>
            </a:pPr>
            <a:r>
              <a:rPr lang="en-US" dirty="0"/>
              <a:t>The number of ways the hats can be arranged so that there is no hat in its original position divided by </a:t>
            </a:r>
            <a:r>
              <a:rPr lang="en-US" i="1" dirty="0"/>
              <a:t>n</a:t>
            </a:r>
            <a:r>
              <a:rPr lang="en-US" dirty="0"/>
              <a:t>!, the number of permutations of </a:t>
            </a:r>
            <a:r>
              <a:rPr lang="en-US" i="1" dirty="0"/>
              <a:t>n</a:t>
            </a:r>
            <a:r>
              <a:rPr lang="en-US" dirty="0"/>
              <a:t> hats. </a:t>
            </a:r>
          </a:p>
          <a:p>
            <a:pPr>
              <a:buNone/>
            </a:pPr>
            <a:endParaRPr lang="en-US" dirty="0"/>
          </a:p>
          <a:p>
            <a:pPr>
              <a:buNone/>
            </a:pPr>
            <a:endParaRPr lang="en-US" dirty="0"/>
          </a:p>
          <a:p>
            <a:pPr>
              <a:buNone/>
            </a:pPr>
            <a:endParaRPr lang="en-US" dirty="0"/>
          </a:p>
          <a:p>
            <a:pPr>
              <a:buNone/>
            </a:pPr>
            <a:r>
              <a:rPr lang="en-US" dirty="0"/>
              <a:t>    </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p:txBody>
      </p:sp>
      <p:pic>
        <p:nvPicPr>
          <p:cNvPr id="6" name="Picture 5" descr="addin_tmp.png"/>
          <p:cNvPicPr>
            <a:picLocks noChangeAspect="1"/>
          </p:cNvPicPr>
          <p:nvPr>
            <p:custDataLst>
              <p:tags r:id="rId1"/>
            </p:custDataLst>
          </p:nvPr>
        </p:nvPicPr>
        <p:blipFill>
          <a:blip r:embed="rId3" cstate="print"/>
          <a:stretch>
            <a:fillRect/>
          </a:stretch>
        </p:blipFill>
        <p:spPr>
          <a:xfrm>
            <a:off x="3181644" y="4801141"/>
            <a:ext cx="4600575" cy="609600"/>
          </a:xfrm>
          <a:prstGeom prst="rect">
            <a:avLst/>
          </a:prstGeom>
        </p:spPr>
      </p:pic>
      <p:pic>
        <p:nvPicPr>
          <p:cNvPr id="5" name="Picture 4" descr="table36.jpg"/>
          <p:cNvPicPr>
            <a:picLocks noChangeAspect="1"/>
          </p:cNvPicPr>
          <p:nvPr/>
        </p:nvPicPr>
        <p:blipFill>
          <a:blip r:embed="rId4" cstate="print"/>
          <a:stretch>
            <a:fillRect/>
          </a:stretch>
        </p:blipFill>
        <p:spPr>
          <a:xfrm>
            <a:off x="2520461" y="5664802"/>
            <a:ext cx="6124135" cy="1024322"/>
          </a:xfrm>
          <a:prstGeom prst="rect">
            <a:avLst/>
          </a:prstGeom>
        </p:spPr>
      </p:pic>
    </p:spTree>
    <p:extLst>
      <p:ext uri="{BB962C8B-B14F-4D97-AF65-F5344CB8AC3E}">
        <p14:creationId xmlns:p14="http://schemas.microsoft.com/office/powerpoint/2010/main" val="9300658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9B221-6AB2-984A-9620-9B9D6CF443BE}"/>
              </a:ext>
            </a:extLst>
          </p:cNvPr>
          <p:cNvSpPr>
            <a:spLocks noGrp="1"/>
          </p:cNvSpPr>
          <p:nvPr>
            <p:ph type="title"/>
          </p:nvPr>
        </p:nvSpPr>
        <p:spPr/>
        <p:txBody>
          <a:bodyPr/>
          <a:lstStyle/>
          <a:p>
            <a:r>
              <a:rPr lang="en-US"/>
              <a:t>Summary</a:t>
            </a:r>
          </a:p>
        </p:txBody>
      </p:sp>
      <p:sp>
        <p:nvSpPr>
          <p:cNvPr id="3" name="Content Placeholder 2">
            <a:extLst>
              <a:ext uri="{FF2B5EF4-FFF2-40B4-BE49-F238E27FC236}">
                <a16:creationId xmlns:a16="http://schemas.microsoft.com/office/drawing/2014/main" id="{82035276-988F-714F-85E6-8EC41CC30F11}"/>
              </a:ext>
            </a:extLst>
          </p:cNvPr>
          <p:cNvSpPr>
            <a:spLocks noGrp="1"/>
          </p:cNvSpPr>
          <p:nvPr>
            <p:ph idx="1"/>
          </p:nvPr>
        </p:nvSpPr>
        <p:spPr/>
        <p:txBody>
          <a:bodyPr/>
          <a:lstStyle/>
          <a:p>
            <a:r>
              <a:rPr lang="en-US" dirty="0"/>
              <a:t>Number of surjective functions</a:t>
            </a:r>
          </a:p>
          <a:p>
            <a:r>
              <a:rPr lang="en-US" dirty="0"/>
              <a:t>Number of Derangements</a:t>
            </a:r>
          </a:p>
          <a:p>
            <a:endParaRPr lang="en-US"/>
          </a:p>
        </p:txBody>
      </p:sp>
    </p:spTree>
    <p:extLst>
      <p:ext uri="{BB962C8B-B14F-4D97-AF65-F5344CB8AC3E}">
        <p14:creationId xmlns:p14="http://schemas.microsoft.com/office/powerpoint/2010/main" val="11146080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um_{j=0}^n ar^j\; =\;  \left\{\begin{array}{ll}\frac{ar^{n+1} -a}{r-1}&amp; r\not= 1\\&#10;(n + 1)a &amp; r = 1\end{array}\right.  $$&#10;\end{document}"/>
  <p:tag name="IGUANATEXSIZE" val="3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C_n = C_0C_{n -1} + C_1C_{n-2} + \cdots + C_{n-2}C_1 + C_{n-1}C_{0}$$&#10;&#10;&#10;\end{document}"/>
  <p:tag name="IGUANATEXSIZE" val="15"/>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 \sum_{k = 0}^{n-1} C_k C_{n-k -1}$$&#10;&#10;&#10;\end{document}"/>
  <p:tag name="IGUANATEXSIZE" val="15"/>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n = \alpha r_{1}^{n} + \alpha_2 r_{2}^{n}$&#10;&#10;\end{document}"/>
  <p:tag name="IGUANATEXSIZE" val="30"/>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r_1 = \frac{1 + \sqrt{5}}{2}$&#10;&#10;\end{document}"/>
  <p:tag name="IGUANATEXSIZE" val="30"/>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r_2 = \frac{1 - \sqrt{5}}{2}$&#10;&#10;\end{document}"/>
  <p:tag name="IGUANATEXSIZE" val="30"/>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_n = \alpha_1\left(\frac{1 + \sqrt{5}}{2}\right)^n + \alpha_2\left(\frac{1 - \sqrt{5}}{2}\right)^{n}$&#10;&#10;\end{document}"/>
  <p:tag name="IGUANATEXSIZE" val="20"/>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_0 = \alpha_1 + \alpha_2 = 0$&#10;&#10;\end{document}"/>
  <p:tag name="IGUANATEXSIZE" val="20"/>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_1 = \alpha_1\left(\frac{1 + \sqrt{5}}{2}\right) + \alpha_2\left(\frac{1 - \sqrt{5}}{2}\right) = 1$&#10;&#10;\end{document}"/>
  <p:tag name="IGUANATEXSIZE" val="20"/>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lpha_1 = \frac{1}{\sqrt{5}}$&#10;&#10;\end{document}"/>
  <p:tag name="IGUANATEXSIZE" val="20"/>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lpha_2 = -\frac{1}{\sqrt{5}}$&#10;&#10;\end{document}"/>
  <p:tag name="IGUANATEXSIZE" val="20"/>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_n = \frac{1}{\sqrt{5}}\left(\frac{1 + \sqrt{5}}{2}\right)^n -\frac{1}{\sqrt{5}}\left(\frac{1 - \sqrt{5}}{2}\right)^{n}$&#10;&#10;\end{document}"/>
  <p:tag name="IGUANATEXSIZE" val="20"/>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n = \alpha r_{0}^{n} + \alpha_2 n  r_{0}^{n}$&#10;&#10;\end{document}"/>
  <p:tag name="IGUANATEXSIZE" val="30"/>
</p:tagLst>
</file>

<file path=ppt/tags/tag1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n = \alpha_1 r_{1}^{n}+ \alpha_2 r_{2}^{m} + \cdots + \alpha_{k}r_{k}^{n}$&#10;&#10;\end{document}"/>
  <p:tag name="IGUANATEXSIZE" val="27"/>
</p:tagLst>
</file>

<file path=ppt/tags/tag1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n = (\alpha_{1,0}+ \alpha_{1,1}n + \cdots + \alpha_{1,m_{1}- 1}n^{m_{1}-1})r_{1}^{n}$&#10;&#10;\end{document}"/>
  <p:tag name="IGUANATEXSIZE" val="21"/>
</p:tagLst>
</file>

<file path=ppt/tags/tag1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 (\alpha_{2,0}+ \alpha_{2,1}n + \cdots + \alpha_{2,{m_{2}- 1}}n^{m_{2}-1})r_{2}^{n}$&#10;&#10;\end{document}"/>
  <p:tag name="IGUANATEXSIZE" val="21"/>
</p:tagLst>
</file>

<file path=ppt/tags/tag1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cdots +  (\alpha_{t,0}+ \alpha_{t,1}n + \cdots + \alpha_{t,m_{t}- 1}n^{m_{t}-1})r_{t}^{n}$&#10;&#10;\end{document}"/>
  <p:tag name="IGUANATEXSIZE" val="21"/>
</p:tagLst>
</file>

<file path=ppt/tags/tag1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G(x) = a_0 + a_1x + \cdots + a_{k}x^k + \cdots = \sum^{\infty}_{k = 0} a_kx^k .$$&#10;&#10;&#10;\end{document}"/>
  <p:tag name="IGUANATEXSIZE" val="20"/>
</p:tagLst>
</file>

<file path=ppt/tags/tag1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sum^{\infty}_{k = 0} 3x^k .$$&#10;&#10;&#10;\end{document}"/>
  <p:tag name="IGUANATEXSIZE" val="15"/>
</p:tagLst>
</file>

<file path=ppt/tags/tag2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sum^{\infty}_{k = 0} (k + 1)x^k .$$&#10;&#10;&#10;\end{document}"/>
  <p:tag name="IGUANATEXSIZE" val="15"/>
</p:tagLst>
</file>

<file path=ppt/tags/tag2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sum^{\infty}_{k = 0} 2^{k}x^k .$$&#10;&#10;&#10;\end{document}"/>
  <p:tag name="IGUANATEXSIZE" val="15"/>
</p:tagLst>
</file>

<file path=ppt/tags/tag2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cup B| = |A| + |B| - |A \cap B|$&#10;&#10;\end{document}"/>
  <p:tag name="IGUANATEXSIZE" val="30"/>
</p:tagLst>
</file>

<file path=ppt/tags/tag2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 |B| + |C|  - |A \cap B| - |A \cap C| - |B \cap C| + |A \cap B \cap C|$$&#10;&#10;\end{document}"/>
  <p:tag name="IGUANATEXSIZE" val="25"/>
</p:tagLst>
</file>

<file path=ppt/tags/tag2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A \cup B \cup C| =$$&#10;&#10;\end{document}"/>
  <p:tag name="IGUANATEXSIZE" val="30"/>
</p:tagLst>
</file>

<file path=ppt/tags/tag2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A_1 \cup A_2 \cup \dots \cup A_n| =$$&#10;&#10;\end{document}"/>
  <p:tag name="IGUANATEXSIZE" val="30"/>
</p:tagLst>
</file>

<file path=ppt/tags/tag2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um_{1 \leq i \leq n} |A_i| - \sum_{1 \leq i \leq j \leq n} |A_i \cap A_j| +$$&#10;&#10;\end{document}"/>
  <p:tag name="IGUANATEXSIZE" val="30"/>
</p:tagLst>
</file>

<file path=ppt/tags/tag2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um_{1 \leq i \leq j\leq k \leq n} |A_i \cap A_j \cap A_k| - ... + (-1)^{n+1}|A_1 \cap A_2 \cap \ldots \cap A_n|$$&#10;&#10;\end{document}"/>
  <p:tag name="IGUANATEXSIZE" val="27"/>
</p:tagLst>
</file>

<file path=ppt/tags/tag2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n^m - C(n,1)(n - 1)^m + C(n,2)(n - 2)^m - \cdots + (-1)^{n -1} C(n,n -1)\cdot 1^m$$&#10;&#10;\end{document}"/>
  <p:tag name="IGUANATEXSIZE" val="20"/>
</p:tagLst>
</file>

<file path=ppt/tags/tag2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D_n = n! \left[ 1 - \frac{1}{1!} + \frac{1}{2!} - \frac{1}{3!} + \cdots + (-1)^{n}\frac{1}{n!} \right].$$&#10;&#10;\end{document}"/>
  <p:tag name="IGUANATEXSIZE" val="20"/>
</p:tagLst>
</file>

<file path=ppt/tags/tag3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rac{D_n}{n!} =  \left[ 1 - \frac{1}{1!} + \frac{1}{2!} - \frac{1}{3!} + \cdots + (-1)^{n}\frac{1}{n!} \right]$$&#10;&#10;\end{document}"/>
  <p:tag name="IGUANATEXSIZE" val="2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4370</TotalTime>
  <Words>4352</Words>
  <Application>Microsoft Macintosh PowerPoint</Application>
  <PresentationFormat>Widescreen</PresentationFormat>
  <Paragraphs>419</Paragraphs>
  <Slides>71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71</vt:i4>
      </vt:variant>
    </vt:vector>
  </HeadingPairs>
  <TitlesOfParts>
    <vt:vector size="76" baseType="lpstr">
      <vt:lpstr>Arial</vt:lpstr>
      <vt:lpstr>Calibri</vt:lpstr>
      <vt:lpstr>Calibri Light</vt:lpstr>
      <vt:lpstr>Cambria Math</vt:lpstr>
      <vt:lpstr>Office Theme</vt:lpstr>
      <vt:lpstr>Advanced Counting Techniques </vt:lpstr>
      <vt:lpstr>Applications of Recurrence Relations</vt:lpstr>
      <vt:lpstr>Video 67: Counting with Recurrence Relations</vt:lpstr>
      <vt:lpstr>Recurrence Relations</vt:lpstr>
      <vt:lpstr>Fibonacci Sequence</vt:lpstr>
      <vt:lpstr>Counting Bit Strings</vt:lpstr>
      <vt:lpstr>Counting Bit Strings</vt:lpstr>
      <vt:lpstr>The Tower of Hanoi</vt:lpstr>
      <vt:lpstr>The Tower of Hanoi - Rules</vt:lpstr>
      <vt:lpstr>The Tower of Hanoi – Initial Move</vt:lpstr>
      <vt:lpstr>The Tower of Hanoi – Recursion</vt:lpstr>
      <vt:lpstr>The Tower of Hanoi – Solving the Recurrence</vt:lpstr>
      <vt:lpstr>The Tower of Hanoi - History</vt:lpstr>
      <vt:lpstr>Counting the Ways to Parenthesize a Product</vt:lpstr>
      <vt:lpstr>Counting the Ways to Parenthesize a Product</vt:lpstr>
      <vt:lpstr>Summary</vt:lpstr>
      <vt:lpstr>Solving Linear Recurrence Relations</vt:lpstr>
      <vt:lpstr>Video 68: Linear Recurrence Relations</vt:lpstr>
      <vt:lpstr>Linear Homogeneous Recurrence Relations</vt:lpstr>
      <vt:lpstr>Terminology explained</vt:lpstr>
      <vt:lpstr>Examples</vt:lpstr>
      <vt:lpstr>Characteristic Equation</vt:lpstr>
      <vt:lpstr>Solving Linear Homogeneous Recurrence Relations</vt:lpstr>
      <vt:lpstr>Solving Linear Homogeneous Recurrence Relations of Degree Two</vt:lpstr>
      <vt:lpstr>Example</vt:lpstr>
      <vt:lpstr>Example: Fibonacci Numbers</vt:lpstr>
      <vt:lpstr>Summary</vt:lpstr>
      <vt:lpstr>Video 69: General Linear Recurrence Relations </vt:lpstr>
      <vt:lpstr>Solving Linear Homogeneous Recurrence Relations with Repeated Root</vt:lpstr>
      <vt:lpstr>Example</vt:lpstr>
      <vt:lpstr>Solving Linear Homogeneous Recurrence Relations of Arbitrary Degree</vt:lpstr>
      <vt:lpstr>The General Case with Repeated Roots Allowed </vt:lpstr>
      <vt:lpstr>Example</vt:lpstr>
      <vt:lpstr>Summary</vt:lpstr>
      <vt:lpstr>Generating Functions</vt:lpstr>
      <vt:lpstr>Video 70: Generating Functions</vt:lpstr>
      <vt:lpstr>Generating Functions</vt:lpstr>
      <vt:lpstr>Useful Generating Functions</vt:lpstr>
      <vt:lpstr>Examples</vt:lpstr>
      <vt:lpstr>Solving Recurrence Relations with Generating Functions</vt:lpstr>
      <vt:lpstr>Solving Recurrence Relations with Generating Functions</vt:lpstr>
      <vt:lpstr>Solving Recurrence Relations with Generating Functions</vt:lpstr>
      <vt:lpstr>Solving Hanoi Tower</vt:lpstr>
      <vt:lpstr>Summary</vt:lpstr>
      <vt:lpstr>Video 71: Counting Problems</vt:lpstr>
      <vt:lpstr>Counting Problems and Generating Functions</vt:lpstr>
      <vt:lpstr>Combinations</vt:lpstr>
      <vt:lpstr>Extended Binomial Coefficients</vt:lpstr>
      <vt:lpstr>Extended Binomial Theorem</vt:lpstr>
      <vt:lpstr>Combinations with Repetition</vt:lpstr>
      <vt:lpstr>Combinations with Repetition</vt:lpstr>
      <vt:lpstr>Summary</vt:lpstr>
      <vt:lpstr>Inclusion-Exclusion</vt:lpstr>
      <vt:lpstr>Video 71: Inclusion-Exclusion</vt:lpstr>
      <vt:lpstr>Principle of Inclusion-Exclusion</vt:lpstr>
      <vt:lpstr>Three Finite Sets</vt:lpstr>
      <vt:lpstr>Example</vt:lpstr>
      <vt:lpstr>The Principle of Inclusion-Exclusion</vt:lpstr>
      <vt:lpstr>The Principle of Inclusion-Exclusion</vt:lpstr>
      <vt:lpstr>The Principle of Inclusion-Exclusion</vt:lpstr>
      <vt:lpstr>Summary</vt:lpstr>
      <vt:lpstr>Applications of Inclusion-Exclusion</vt:lpstr>
      <vt:lpstr>Video 72: Applications of Inclusion-Exclusion</vt:lpstr>
      <vt:lpstr>Example: The Number of Onto Functions</vt:lpstr>
      <vt:lpstr>Example: The Number of Onto Functions</vt:lpstr>
      <vt:lpstr>The Number of Onto Functions</vt:lpstr>
      <vt:lpstr>Example</vt:lpstr>
      <vt:lpstr>Derangements</vt:lpstr>
      <vt:lpstr>Derangements</vt:lpstr>
      <vt:lpstr>Example</vt:lpstr>
      <vt:lpstr>Summary</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Counting Techniques </dc:title>
  <dc:creator>Karl Aberer</dc:creator>
  <cp:lastModifiedBy>Karl Aberer</cp:lastModifiedBy>
  <cp:revision>42</cp:revision>
  <dcterms:created xsi:type="dcterms:W3CDTF">2020-07-31T11:37:04Z</dcterms:created>
  <dcterms:modified xsi:type="dcterms:W3CDTF">2020-10-16T11:46:55Z</dcterms:modified>
</cp:coreProperties>
</file>